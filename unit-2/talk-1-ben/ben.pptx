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03838834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3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9D9D83-A08D-46E8-A1D2-3E9B291E84B3}" type="datetimeFigureOut">
              <a:rPr lang="en-US" smtClean="0"/>
              <a:t>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234CB-2242-4A40-BE07-29CD5C7DE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845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91c5bd01cc_0_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6" name="Google Shape;1696;g91c5bd01cc_0_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72643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66250-25F9-4943-8617-B9627C08C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2A1DDB-21D8-4BF4-8B52-1783CC80C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EA8E3-53A7-45DD-A843-44537B960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E613-08C0-442B-87DA-108FD2AAD350}" type="datetimeFigureOut">
              <a:rPr lang="en-CA" smtClean="0"/>
              <a:t>2025-01-13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1FE5F-D769-4B79-AE19-2B73A7A05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98F0B-4047-4B15-93C8-CF87C021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7FA5-1D11-48D7-A785-7D8D6D0336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3692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CEFF-31B2-414B-97E2-88455935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4F739-3F6F-4B05-84D9-D070DD1E7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560BD-7139-4326-84CA-618895798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2E613-08C0-442B-87DA-108FD2AAD350}" type="datetimeFigureOut">
              <a:rPr lang="en-CA" smtClean="0"/>
              <a:t>2025-01-13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88E8D-1F45-4E5B-B734-212A88A06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CF34F-1603-42AB-8D6B-AB3E83CC1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B7FA5-1D11-48D7-A785-7D8D6D03365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35797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5B3E4-7303-4D26-B7B8-AA6446498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434CF0-B72B-451C-A300-F6AC6FAFD9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5C9F1-8D88-402D-BD1F-40C973F48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E5F93-6CFA-4FEF-BFA8-E0ABA2634264}" type="datetimeFigureOut">
              <a:rPr lang="en-CA" smtClean="0"/>
              <a:t>2025-01-13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9770B-41DA-415D-9243-1152E38D7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2FB29-F756-4351-93D4-44B3AEE87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169B0-DF86-4388-A5DC-3491AA2F95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6505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78B1D-C5C2-4BFA-8468-E8EF0FA4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C66BF-FCD2-4ACA-A2C0-77BDEBD6B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C428B-09E5-4EAC-92AF-21CC489F72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EF040-327F-467A-BB33-6DB604028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E5F93-6CFA-4FEF-BFA8-E0ABA2634264}" type="datetimeFigureOut">
              <a:rPr lang="en-CA" smtClean="0"/>
              <a:t>2025-01-13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C6FE6-4B9B-4261-AB1F-0A103061D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F3870-AFCB-4E62-A80F-79BDF90C2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169B0-DF86-4388-A5DC-3491AA2F95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27258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E420C-0CEB-4087-977D-4A264B6DC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5E40B-78D1-4E85-84A6-837C7E2B6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4795C-A663-401A-883B-E4A372B947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6E269-559F-4D39-96AD-F51D2D2A7C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0EA612-B298-4D52-B166-B676716997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B82B-C2AA-4B0F-87D6-C50D4BD00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E5F93-6CFA-4FEF-BFA8-E0ABA2634264}" type="datetimeFigureOut">
              <a:rPr lang="en-CA" smtClean="0"/>
              <a:t>2025-01-13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B93355-9C92-4A05-99D7-AB258E68F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51AF91-C7B7-40C1-9643-FCF5F8F71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169B0-DF86-4388-A5DC-3491AA2F95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4841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FF540-ED66-49B3-AC0B-5229AE30C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972940-6BBA-4AC9-97CE-16BCAF72D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E5F93-6CFA-4FEF-BFA8-E0ABA2634264}" type="datetimeFigureOut">
              <a:rPr lang="en-CA" smtClean="0"/>
              <a:t>2025-01-13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8993D6-0BFF-4317-822E-6722F209B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55DDFA-5985-4C08-AE51-485D76AF3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169B0-DF86-4388-A5DC-3491AA2F95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38091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7FB8A2-1121-4C91-993A-2D488BB09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BBAA72-079C-41E7-815E-CC4187AC3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08057-FDE5-441B-B8EE-8B440DBE2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518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CA20-120A-40FE-B381-77C7AD53F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86C30-D256-4795-95B7-237C1E840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A66A2-9893-4481-8A85-E6209DC148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34769-E448-4406-9982-7A28E13D1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E5F93-6CFA-4FEF-BFA8-E0ABA2634264}" type="datetimeFigureOut">
              <a:rPr lang="en-CA" smtClean="0"/>
              <a:t>2025-01-13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661D2-4204-4A61-B973-8EE3DF3F9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563527-54C8-4EEE-87C3-428983862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169B0-DF86-4388-A5DC-3491AA2F95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0525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90532-283D-4FE7-BBA1-D1A401A43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B36DA7-EAED-47BF-A95A-65FFE3A16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2E1A7-B782-4E17-83FE-DE975ECDD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90C7A-8A8D-4194-82A5-ADC65770A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E5F93-6CFA-4FEF-BFA8-E0ABA2634264}" type="datetimeFigureOut">
              <a:rPr lang="en-CA" smtClean="0"/>
              <a:t>2025-01-13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88690C-AC35-4B56-8BDD-3E3A73094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0AAF69-CCBA-414B-99EA-EFFE2B3D7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169B0-DF86-4388-A5DC-3491AA2F95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6561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C007B-27A7-4C15-92A7-9CF8A1AD0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EF58C3-C2F0-4BB5-8996-CACCAC42F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BF630-AFF4-45EA-90C6-A14D261FB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E5F93-6CFA-4FEF-BFA8-E0ABA2634264}" type="datetimeFigureOut">
              <a:rPr lang="en-CA" smtClean="0"/>
              <a:t>2025-01-13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BE32D-8060-4568-B8E7-FDE2D18CC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A1AF7-95C5-4FFB-B0B5-6CF99F537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169B0-DF86-4388-A5DC-3491AA2F95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2303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5ADF8-FF3A-4BE3-84A3-BC84F8425B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A0D3B2-3CD1-42CD-A22A-52F2A03E25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8C5DC2-D36F-4F3E-B277-9C9E75EAE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E5F93-6CFA-4FEF-BFA8-E0ABA2634264}" type="datetimeFigureOut">
              <a:rPr lang="en-CA" smtClean="0"/>
              <a:t>2025-01-13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0E8F4-2D37-4D2F-A491-EA2C13DC3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F18C3-2845-4249-905F-1F25C07BA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169B0-DF86-4388-A5DC-3491AA2F955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20010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003846"/>
                </a:solidFill>
                <a:latin typeface="Sun Life Sans Light"/>
                <a:cs typeface="Sun Life Sans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21818" y="1402133"/>
            <a:ext cx="3714327" cy="227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 u="sng">
                <a:solidFill>
                  <a:srgbClr val="003946"/>
                </a:solidFill>
                <a:latin typeface="Sun Life Sans Light"/>
                <a:cs typeface="Sun Life Sans Ligh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657592" y="2465832"/>
            <a:ext cx="2753360" cy="1477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67" b="0" i="0">
                <a:solidFill>
                  <a:srgbClr val="F9CC47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67" b="0" i="0">
                <a:solidFill>
                  <a:srgbClr val="F9CC47"/>
                </a:solidFill>
                <a:latin typeface="Calibri"/>
                <a:cs typeface="Calibri"/>
              </a:defRPr>
            </a:lvl1pPr>
          </a:lstStyle>
          <a:p>
            <a:pPr marL="16933">
              <a:lnSpc>
                <a:spcPts val="1147"/>
              </a:lnSpc>
            </a:pPr>
            <a:r>
              <a:rPr lang="en-CA" spc="-7"/>
              <a:t>For Internal Use</a:t>
            </a:r>
            <a:r>
              <a:rPr lang="en-CA" spc="-87"/>
              <a:t> </a:t>
            </a:r>
            <a:r>
              <a:rPr lang="en-CA" spc="-7"/>
              <a:t>Only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1/13/25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67" b="0" i="0">
                <a:solidFill>
                  <a:srgbClr val="004C6C"/>
                </a:solidFill>
                <a:latin typeface="Sun Life Sans"/>
                <a:cs typeface="Sun Life Sans"/>
              </a:defRPr>
            </a:lvl1pPr>
          </a:lstStyle>
          <a:p>
            <a:pPr marL="16933">
              <a:spcBef>
                <a:spcPts val="180"/>
              </a:spcBef>
            </a:pPr>
            <a:r>
              <a:rPr lang="en-CA" spc="-7"/>
              <a:t>PAGE</a:t>
            </a:r>
            <a:r>
              <a:rPr lang="en-CA" spc="-100"/>
              <a:t> </a:t>
            </a:r>
            <a:fld id="{81D60167-4931-47E6-BA6A-407CBD079E47}" type="slidenum">
              <a:rPr spc="-7" smtClean="0"/>
              <a:pPr marL="16933">
                <a:spcBef>
                  <a:spcPts val="180"/>
                </a:spcBef>
              </a:pPr>
              <a:t>‹#›</a:t>
            </a:fld>
            <a:endParaRPr spc="-7"/>
          </a:p>
        </p:txBody>
      </p:sp>
    </p:spTree>
    <p:extLst>
      <p:ext uri="{BB962C8B-B14F-4D97-AF65-F5344CB8AC3E}">
        <p14:creationId xmlns:p14="http://schemas.microsoft.com/office/powerpoint/2010/main" val="24969802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slide -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8085B22-04F0-9F45-A731-FA93376A3C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891" y="550335"/>
            <a:ext cx="9181063" cy="774699"/>
          </a:xfrm>
          <a:prstGeom prst="rect">
            <a:avLst/>
          </a:prstGeom>
        </p:spPr>
        <p:txBody>
          <a:bodyPr lIns="0">
            <a:noAutofit/>
          </a:bodyPr>
          <a:lstStyle>
            <a:lvl1pPr>
              <a:defRPr sz="3253">
                <a:latin typeface="Sun Life Sans" panose="02000503000000020004" pitchFamily="2" charset="77"/>
              </a:defRPr>
            </a:lvl1pPr>
          </a:lstStyle>
          <a:p>
            <a:r>
              <a:rPr lang="en-CA"/>
              <a:t>Headline goes here </a:t>
            </a:r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FEC3559-8DD9-D647-8C35-AD0E3F0C9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87740" y="6375393"/>
            <a:ext cx="990626" cy="278453"/>
          </a:xfrm>
          <a:prstGeom prst="rect">
            <a:avLst/>
          </a:prstGeom>
        </p:spPr>
        <p:txBody>
          <a:bodyPr vert="horz" lIns="91440" tIns="45720" rIns="90000" bIns="45720" rtlCol="0" anchor="ctr"/>
          <a:lstStyle>
            <a:lvl1pPr algn="r">
              <a:defRPr sz="977" b="1">
                <a:solidFill>
                  <a:srgbClr val="003946"/>
                </a:solidFill>
                <a:latin typeface="Sun Life Sans" panose="02000503000000020004" pitchFamily="2" charset="77"/>
                <a:cs typeface="Calibri"/>
              </a:defRPr>
            </a:lvl1pPr>
          </a:lstStyle>
          <a:p>
            <a:fld id="{CD0B62E8-4833-C84D-A86B-4CF3C4DE74F8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0388AD51-3BB8-A948-8524-9196EBC857E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5246" y="2074622"/>
            <a:ext cx="10981505" cy="413936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952" b="1">
                <a:solidFill>
                  <a:srgbClr val="EAAB00"/>
                </a:solidFill>
                <a:latin typeface="Sun Life Sans" panose="02000503000000020004" pitchFamily="2" charset="77"/>
              </a:defRPr>
            </a:lvl1pPr>
          </a:lstStyle>
          <a:p>
            <a:pPr lvl="0"/>
            <a:r>
              <a:rPr lang="en-CA"/>
              <a:t>SECTION TITLE GOES HERE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EFBFF57-8967-2C4D-9A71-F672C4EF27D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5246" y="2715054"/>
            <a:ext cx="10981505" cy="2763829"/>
          </a:xfrm>
          <a:prstGeom prst="rect">
            <a:avLst/>
          </a:prstGeom>
        </p:spPr>
        <p:txBody>
          <a:bodyPr/>
          <a:lstStyle>
            <a:lvl1pPr>
              <a:defRPr sz="1562">
                <a:solidFill>
                  <a:srgbClr val="555555"/>
                </a:solidFill>
                <a:latin typeface="Sun Life Sans" panose="02000503000000020004" pitchFamily="2" charset="77"/>
              </a:defRPr>
            </a:lvl1pPr>
            <a:lvl2pPr marL="112438" indent="-159287">
              <a:buClr>
                <a:srgbClr val="EAAB00"/>
              </a:buClr>
              <a:defRPr sz="1562">
                <a:solidFill>
                  <a:srgbClr val="555555"/>
                </a:solidFill>
                <a:latin typeface="Sun Life Sans" panose="02000503000000020004" pitchFamily="2" charset="77"/>
              </a:defRPr>
            </a:lvl2pPr>
            <a:lvl3pPr marL="309205" indent="-159287">
              <a:buClr>
                <a:srgbClr val="EAAB00"/>
              </a:buClr>
              <a:defRPr sz="1562">
                <a:solidFill>
                  <a:srgbClr val="555555"/>
                </a:solidFill>
                <a:latin typeface="Sun Life Sans" panose="02000503000000020004" pitchFamily="2" charset="77"/>
              </a:defRPr>
            </a:lvl3pPr>
            <a:lvl4pPr marL="463807" indent="-159287">
              <a:buClr>
                <a:srgbClr val="EAAB00"/>
              </a:buClr>
              <a:defRPr sz="1562">
                <a:solidFill>
                  <a:srgbClr val="555555"/>
                </a:solidFill>
                <a:latin typeface="Sun Life Sans" panose="02000503000000020004" pitchFamily="2" charset="77"/>
              </a:defRPr>
            </a:lvl4pPr>
            <a:lvl5pPr marL="623096" indent="-159287">
              <a:buClr>
                <a:srgbClr val="EAAB00"/>
              </a:buClr>
              <a:defRPr sz="1562">
                <a:solidFill>
                  <a:srgbClr val="555555"/>
                </a:solidFill>
                <a:latin typeface="Sun Life Sans" panose="02000503000000020004" pitchFamily="2" charset="77"/>
              </a:defRPr>
            </a:lvl5pPr>
          </a:lstStyle>
          <a:p>
            <a:pPr lvl="0"/>
            <a:r>
              <a:rPr lang="en-CA"/>
              <a:t>Add text here</a:t>
            </a:r>
          </a:p>
          <a:p>
            <a:pPr lvl="1"/>
            <a:r>
              <a:rPr lang="en-CA"/>
              <a:t>bullet level 1</a:t>
            </a:r>
          </a:p>
          <a:p>
            <a:pPr lvl="2"/>
            <a:r>
              <a:rPr lang="en-CA"/>
              <a:t>bullet level 2</a:t>
            </a:r>
          </a:p>
          <a:p>
            <a:pPr lvl="3"/>
            <a:r>
              <a:rPr lang="en-CA"/>
              <a:t>bullet level 3</a:t>
            </a:r>
          </a:p>
          <a:p>
            <a:pPr lvl="4"/>
            <a:r>
              <a:rPr lang="en-CA"/>
              <a:t>bullet level 4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E19A0024-2432-0840-BC35-37171B6DB3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5246" y="1434185"/>
            <a:ext cx="10981505" cy="531284"/>
          </a:xfrm>
          <a:prstGeom prst="rect">
            <a:avLst/>
          </a:prstGeom>
        </p:spPr>
        <p:txBody>
          <a:bodyPr anchor="ctr"/>
          <a:lstStyle>
            <a:lvl1pPr>
              <a:spcBef>
                <a:spcPts val="0"/>
              </a:spcBef>
              <a:defRPr sz="2213" baseline="0">
                <a:latin typeface="Sun Life Sans" panose="02000503000000020004" pitchFamily="2" charset="77"/>
              </a:defRPr>
            </a:lvl1pPr>
          </a:lstStyle>
          <a:p>
            <a:pPr lvl="0"/>
            <a:r>
              <a:rPr lang="en-CA"/>
              <a:t>Subhead goes here</a:t>
            </a:r>
          </a:p>
        </p:txBody>
      </p:sp>
    </p:spTree>
    <p:extLst>
      <p:ext uri="{BB962C8B-B14F-4D97-AF65-F5344CB8AC3E}">
        <p14:creationId xmlns:p14="http://schemas.microsoft.com/office/powerpoint/2010/main" val="1271571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head &amp; Breadcrum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1" y="694945"/>
            <a:ext cx="10363200" cy="594360"/>
          </a:xfrm>
        </p:spPr>
        <p:txBody>
          <a:bodyPr vert="horz" lIns="0" tIns="45720" rIns="0" bIns="0" rtlCol="0" anchor="b" anchorCtr="0">
            <a:noAutofit/>
          </a:bodyPr>
          <a:lstStyle>
            <a:lvl1pPr>
              <a:defRPr lang="en-US" sz="3514" spc="-73" dirty="0">
                <a:latin typeface="+mj-lt"/>
              </a:defRPr>
            </a:lvl1pPr>
          </a:lstStyle>
          <a:p>
            <a:pPr lvl="0" defTabSz="669376">
              <a:lnSpc>
                <a:spcPct val="85000"/>
              </a:lnSpc>
            </a:pPr>
            <a:r>
              <a:rPr lang="en-US"/>
              <a:t>Click to edit Master title style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914722" y="1353312"/>
            <a:ext cx="10362880" cy="475488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1171"/>
            </a:lvl1pPr>
          </a:lstStyle>
          <a:p>
            <a:pPr marL="223125" lvl="0" indent="-223125">
              <a:lnSpc>
                <a:spcPct val="130000"/>
              </a:lnSpc>
            </a:pPr>
            <a:r>
              <a:rPr lang="en-US"/>
              <a:t>Edit Master text styles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914971" y="466345"/>
            <a:ext cx="3355848" cy="20320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878" b="1" kern="0" cap="all" spc="244" baseline="0" dirty="0">
                <a:solidFill>
                  <a:schemeClr val="accent5">
                    <a:lumMod val="60000"/>
                    <a:lumOff val="40000"/>
                  </a:schemeClr>
                </a:solidFill>
                <a:ea typeface="Nexa Black" charset="0"/>
                <a:cs typeface="Nexa Black" charset="0"/>
              </a:defRPr>
            </a:lvl1pPr>
          </a:lstStyle>
          <a:p>
            <a:pPr marL="223125" lvl="0" indent="-223125"/>
            <a:r>
              <a:rPr lang="en-US"/>
              <a:t>BREADCRUMBS</a:t>
            </a:r>
          </a:p>
        </p:txBody>
      </p:sp>
    </p:spTree>
    <p:extLst>
      <p:ext uri="{BB962C8B-B14F-4D97-AF65-F5344CB8AC3E}">
        <p14:creationId xmlns:p14="http://schemas.microsoft.com/office/powerpoint/2010/main" val="1783487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A46A75D-C608-FA4B-9480-B61B90A009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257" y="463793"/>
            <a:ext cx="11233377" cy="70884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  <a:defRPr sz="2667" b="0" i="0" baseline="0">
                <a:solidFill>
                  <a:schemeClr val="tx2"/>
                </a:solidFill>
                <a:latin typeface="Sun Life Sans" panose="02000503000000020004" pitchFamily="2" charset="77"/>
              </a:defRPr>
            </a:lvl1pPr>
            <a:lvl2pPr marL="609585" indent="0">
              <a:buFontTx/>
              <a:buNone/>
              <a:defRPr sz="2933" b="0" i="0">
                <a:solidFill>
                  <a:schemeClr val="tx1"/>
                </a:solidFill>
                <a:latin typeface="Sun Life Sans" panose="02000503000000020004" pitchFamily="2" charset="77"/>
              </a:defRPr>
            </a:lvl2pPr>
            <a:lvl3pPr marL="1219170" indent="0">
              <a:buFontTx/>
              <a:buNone/>
              <a:defRPr sz="2933" b="0" i="0">
                <a:solidFill>
                  <a:schemeClr val="tx1"/>
                </a:solidFill>
                <a:latin typeface="Sun Life Sans" panose="02000503000000020004" pitchFamily="2" charset="77"/>
              </a:defRPr>
            </a:lvl3pPr>
            <a:lvl4pPr marL="1828754" indent="0">
              <a:buFontTx/>
              <a:buNone/>
              <a:defRPr sz="2933" b="0" i="0">
                <a:solidFill>
                  <a:schemeClr val="tx1"/>
                </a:solidFill>
                <a:latin typeface="Sun Life Sans" panose="02000503000000020004" pitchFamily="2" charset="77"/>
              </a:defRPr>
            </a:lvl4pPr>
            <a:lvl5pPr marL="2438339" indent="0">
              <a:buFontTx/>
              <a:buNone/>
              <a:defRPr sz="2933" b="0" i="0">
                <a:solidFill>
                  <a:schemeClr val="tx1"/>
                </a:solidFill>
                <a:latin typeface="Sun Life Sans" panose="02000503000000020004" pitchFamily="2" charset="77"/>
              </a:defRPr>
            </a:lvl5pPr>
          </a:lstStyle>
          <a:p>
            <a:pPr lvl="0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480256" y="1426778"/>
            <a:ext cx="5356800" cy="5403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 b="1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6356833" y="1426778"/>
            <a:ext cx="5356800" cy="54039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 b="1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FB8A834-D9D0-B440-BFEF-0F829BD7F2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256" y="2079374"/>
            <a:ext cx="5356800" cy="4133044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CA" sz="1467" b="0" i="0" baseline="0" smtClean="0">
                <a:solidFill>
                  <a:schemeClr val="tx1"/>
                </a:solidFill>
                <a:effectLst/>
                <a:latin typeface="Sun Life Sans Light" panose="02000503000000020004" pitchFamily="2" charset="77"/>
              </a:defRPr>
            </a:lvl1pPr>
            <a:lvl2pPr marL="479988" indent="-228594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67" b="0" i="0">
                <a:solidFill>
                  <a:schemeClr val="tx1"/>
                </a:solidFill>
                <a:latin typeface="Sun Life Sans Light" panose="02000503000000020004" pitchFamily="2" charset="77"/>
              </a:defRPr>
            </a:lvl2pPr>
            <a:lvl3pPr marL="719982" indent="-228594">
              <a:lnSpc>
                <a:spcPct val="100000"/>
              </a:lnSpc>
              <a:spcBef>
                <a:spcPts val="400"/>
              </a:spcBef>
              <a:buFont typeface="Sun Life Sans Light" panose="020B0304030304030303" pitchFamily="34" charset="0"/>
              <a:buChar char="-"/>
              <a:defRPr sz="1467" b="0" i="0">
                <a:solidFill>
                  <a:schemeClr val="tx1"/>
                </a:solidFill>
                <a:latin typeface="Sun Life Sans Light" panose="02000503000000020004" pitchFamily="2" charset="77"/>
              </a:defRPr>
            </a:lvl3pPr>
            <a:lvl4pPr marL="1828754" indent="0">
              <a:buFontTx/>
              <a:buNone/>
              <a:defRPr sz="1467" b="0" i="0">
                <a:latin typeface="Sun Life Sans Light" panose="02000503000000020004" pitchFamily="2" charset="77"/>
              </a:defRPr>
            </a:lvl4pPr>
            <a:lvl5pPr marL="2438339" indent="0">
              <a:buFontTx/>
              <a:buNone/>
              <a:defRPr sz="1467" b="0" i="0">
                <a:latin typeface="Sun Life Sans Light" panose="02000503000000020004" pitchFamily="2" charset="77"/>
              </a:defRPr>
            </a:lvl5pPr>
          </a:lstStyle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FB8A834-D9D0-B440-BFEF-0F829BD7F2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6833" y="2079374"/>
            <a:ext cx="5356800" cy="4133044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CA" sz="1467" b="0" i="0" baseline="0" smtClean="0">
                <a:solidFill>
                  <a:schemeClr val="tx1"/>
                </a:solidFill>
                <a:effectLst/>
                <a:latin typeface="Sun Life Sans Light" panose="02000503000000020004" pitchFamily="2" charset="77"/>
              </a:defRPr>
            </a:lvl1pPr>
            <a:lvl2pPr marL="479988" indent="-228594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67" b="0" i="0">
                <a:solidFill>
                  <a:schemeClr val="tx1"/>
                </a:solidFill>
                <a:latin typeface="Sun Life Sans Light" panose="02000503000000020004" pitchFamily="2" charset="77"/>
              </a:defRPr>
            </a:lvl2pPr>
            <a:lvl3pPr marL="719982" indent="-228594">
              <a:lnSpc>
                <a:spcPct val="100000"/>
              </a:lnSpc>
              <a:spcBef>
                <a:spcPts val="400"/>
              </a:spcBef>
              <a:buFont typeface="Sun Life Sans Light" panose="020B0304030304030303" pitchFamily="34" charset="0"/>
              <a:buChar char="-"/>
              <a:defRPr sz="1467" b="0" i="0">
                <a:solidFill>
                  <a:schemeClr val="tx1"/>
                </a:solidFill>
                <a:latin typeface="Sun Life Sans Light" panose="02000503000000020004" pitchFamily="2" charset="77"/>
              </a:defRPr>
            </a:lvl3pPr>
            <a:lvl4pPr marL="1828754" indent="0">
              <a:buFontTx/>
              <a:buNone/>
              <a:defRPr sz="1467" b="0" i="0">
                <a:latin typeface="Sun Life Sans Light" panose="02000503000000020004" pitchFamily="2" charset="77"/>
              </a:defRPr>
            </a:lvl4pPr>
            <a:lvl5pPr marL="2438339" indent="0">
              <a:buFontTx/>
              <a:buNone/>
              <a:defRPr sz="1467" b="0" i="0">
                <a:latin typeface="Sun Life Sans Light" panose="02000503000000020004" pitchFamily="2" charset="77"/>
              </a:defRPr>
            </a:lvl5pPr>
          </a:lstStyle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</p:spTree>
    <p:extLst>
      <p:ext uri="{BB962C8B-B14F-4D97-AF65-F5344CB8AC3E}">
        <p14:creationId xmlns:p14="http://schemas.microsoft.com/office/powerpoint/2010/main" val="13242043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- 1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B8A834-D9D0-B440-BFEF-0F829BD7F2A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257" y="1419299"/>
            <a:ext cx="11233377" cy="4800600"/>
          </a:xfrm>
          <a:prstGeom prst="rect">
            <a:avLst/>
          </a:prstGeom>
        </p:spPr>
        <p:txBody>
          <a:bodyPr lIns="0" tIns="0" rIns="0" bIns="0"/>
          <a:lstStyle>
            <a:lvl1pPr marL="228594" indent="-228594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en-CA" sz="1467" b="0" i="0" baseline="0" smtClean="0">
                <a:solidFill>
                  <a:schemeClr val="tx1"/>
                </a:solidFill>
                <a:effectLst/>
                <a:latin typeface="Sun Life Sans Light" panose="02000503000000020004" pitchFamily="2" charset="77"/>
              </a:defRPr>
            </a:lvl1pPr>
            <a:lvl2pPr marL="479988" indent="-228594">
              <a:lnSpc>
                <a:spcPct val="100000"/>
              </a:lnSpc>
              <a:spcBef>
                <a:spcPts val="400"/>
              </a:spcBef>
              <a:buFont typeface="Arial" panose="020B0604020202020204" pitchFamily="34" charset="0"/>
              <a:buChar char="–"/>
              <a:defRPr sz="1467" b="0" i="0">
                <a:solidFill>
                  <a:schemeClr val="tx1"/>
                </a:solidFill>
                <a:latin typeface="Sun Life Sans Light" panose="02000503000000020004" pitchFamily="2" charset="77"/>
              </a:defRPr>
            </a:lvl2pPr>
            <a:lvl3pPr marL="719982" indent="-228594">
              <a:lnSpc>
                <a:spcPct val="100000"/>
              </a:lnSpc>
              <a:spcBef>
                <a:spcPts val="400"/>
              </a:spcBef>
              <a:buFont typeface="Sun Life Sans Light" panose="020B0304030304030303" pitchFamily="34" charset="0"/>
              <a:buChar char="-"/>
              <a:defRPr sz="1467" b="0" i="0">
                <a:solidFill>
                  <a:schemeClr val="tx1"/>
                </a:solidFill>
                <a:latin typeface="Sun Life Sans Light" panose="02000503000000020004" pitchFamily="2" charset="77"/>
              </a:defRPr>
            </a:lvl3pPr>
            <a:lvl4pPr marL="1828754" indent="0">
              <a:buFontTx/>
              <a:buNone/>
              <a:defRPr sz="1467" b="0" i="0">
                <a:latin typeface="Sun Life Sans Light" panose="02000503000000020004" pitchFamily="2" charset="77"/>
              </a:defRPr>
            </a:lvl4pPr>
            <a:lvl5pPr marL="2438339" indent="0">
              <a:buFontTx/>
              <a:buNone/>
              <a:defRPr sz="1467" b="0" i="0">
                <a:latin typeface="Sun Life Sans Light" panose="02000503000000020004" pitchFamily="2" charset="77"/>
              </a:defRPr>
            </a:lvl5pPr>
          </a:lstStyle>
          <a:p>
            <a:pPr lvl="0"/>
            <a:r>
              <a:rPr lang="en-US"/>
              <a:t>Level 1</a:t>
            </a:r>
          </a:p>
          <a:p>
            <a:pPr lvl="1"/>
            <a:r>
              <a:rPr lang="en-US"/>
              <a:t>Level 2</a:t>
            </a:r>
          </a:p>
          <a:p>
            <a:pPr lvl="2"/>
            <a:r>
              <a:rPr lang="en-US"/>
              <a:t>Level 3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46A75D-C608-FA4B-9480-B61B90A009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0257" y="463793"/>
            <a:ext cx="11233377" cy="70884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>
              <a:lnSpc>
                <a:spcPct val="88000"/>
              </a:lnSpc>
              <a:spcBef>
                <a:spcPts val="0"/>
              </a:spcBef>
              <a:buFont typeface="Arial" panose="020B0604020202020204" pitchFamily="34" charset="0"/>
              <a:buNone/>
              <a:defRPr sz="2667" b="0" i="0" baseline="0">
                <a:solidFill>
                  <a:schemeClr val="tx2"/>
                </a:solidFill>
                <a:latin typeface="Sun Life Sans" panose="02000503000000020004" pitchFamily="2" charset="77"/>
              </a:defRPr>
            </a:lvl1pPr>
            <a:lvl2pPr marL="609585" indent="0">
              <a:buFontTx/>
              <a:buNone/>
              <a:defRPr sz="2933" b="0" i="0">
                <a:solidFill>
                  <a:schemeClr val="tx1"/>
                </a:solidFill>
                <a:latin typeface="Sun Life Sans" panose="02000503000000020004" pitchFamily="2" charset="77"/>
              </a:defRPr>
            </a:lvl2pPr>
            <a:lvl3pPr marL="1219170" indent="0">
              <a:buFontTx/>
              <a:buNone/>
              <a:defRPr sz="2933" b="0" i="0">
                <a:solidFill>
                  <a:schemeClr val="tx1"/>
                </a:solidFill>
                <a:latin typeface="Sun Life Sans" panose="02000503000000020004" pitchFamily="2" charset="77"/>
              </a:defRPr>
            </a:lvl3pPr>
            <a:lvl4pPr marL="1828754" indent="0">
              <a:buFontTx/>
              <a:buNone/>
              <a:defRPr sz="2933" b="0" i="0">
                <a:solidFill>
                  <a:schemeClr val="tx1"/>
                </a:solidFill>
                <a:latin typeface="Sun Life Sans" panose="02000503000000020004" pitchFamily="2" charset="77"/>
              </a:defRPr>
            </a:lvl4pPr>
            <a:lvl5pPr marL="2438339" indent="0">
              <a:buFontTx/>
              <a:buNone/>
              <a:defRPr sz="2933" b="0" i="0">
                <a:solidFill>
                  <a:schemeClr val="tx1"/>
                </a:solidFill>
                <a:latin typeface="Sun Life Sans" panose="02000503000000020004" pitchFamily="2" charset="77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548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34CC9704-DD34-E447-A3F3-B4322C4D6B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074"/>
            <a:ext cx="12192000" cy="6853851"/>
          </a:xfrm>
          <a:prstGeom prst="rect">
            <a:avLst/>
          </a:prstGeom>
        </p:spPr>
      </p:pic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6DF4219D-859E-4049-A19C-C031437D5BF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074"/>
            <a:ext cx="12192000" cy="685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47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74901"/>
            <a:ext cx="7777571" cy="711081"/>
          </a:xfrm>
        </p:spPr>
        <p:txBody>
          <a:bodyPr>
            <a:noAutofit/>
          </a:bodyPr>
          <a:lstStyle>
            <a:lvl1pPr>
              <a:defRPr sz="3200" b="1">
                <a:latin typeface="+mj-lt"/>
                <a:ea typeface="Century Gothic" charset="0"/>
                <a:cs typeface="Century Gothic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t>1/13/25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609760" y="1085671"/>
            <a:ext cx="3958793" cy="510870"/>
          </a:xfrm>
        </p:spPr>
        <p:txBody>
          <a:bodyPr>
            <a:normAutofit/>
          </a:bodyPr>
          <a:lstStyle>
            <a:lvl1pPr marL="457120" marR="0" indent="-45712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 sz="2000" baseline="0">
                <a:solidFill>
                  <a:schemeClr val="bg1">
                    <a:lumMod val="50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457120" marR="0" lvl="0" indent="-457120" algn="l" defTabSz="121898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Edit this 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50025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oleObject" Target="../embeddings/oleObject1.bin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37FAC3-7653-4C86-97E9-858A76DF9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87B20-64F5-4B29-BE99-331DC9090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E8CB6-883E-4DB6-94F0-7CDD74DA5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E5F93-6CFA-4FEF-BFA8-E0ABA2634264}" type="datetimeFigureOut">
              <a:rPr lang="en-CA" smtClean="0"/>
              <a:t>2025-01-13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39409-C31A-4086-A378-6F79BF4447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92A0E-6FA3-4C6E-A1F0-02CFFE9E29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169B0-DF86-4388-A5DC-3491AA2F9557}" type="slidenum">
              <a:rPr lang="en-CA" smtClean="0"/>
              <a:t>‹#›</a:t>
            </a:fld>
            <a:endParaRPr lang="en-CA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7B56A10C-B91B-4A68-9D5B-5041E562CF2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1" imgW="592" imgH="595" progId="TCLayout.ActiveDocument.1">
                  <p:embed/>
                </p:oleObj>
              </mc:Choice>
              <mc:Fallback>
                <p:oleObj name="think-cell Slide" r:id="rId21" imgW="592" imgH="59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7B56A10C-B91B-4A68-9D5B-5041E562CF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0889C6F-9513-4A19-9A12-1F46D5D807F1}"/>
              </a:ext>
            </a:extLst>
          </p:cNvPr>
          <p:cNvSpPr txBox="1"/>
          <p:nvPr userDrawn="1"/>
        </p:nvSpPr>
        <p:spPr>
          <a:xfrm>
            <a:off x="11184932" y="6282130"/>
            <a:ext cx="6599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A1D27415-AFA0-D047-A4DF-4ABF58D58E5E}" type="slidenum">
              <a:rPr lang="en-US" sz="1200" smtClean="0">
                <a:solidFill>
                  <a:schemeClr val="tx2"/>
                </a:solidFill>
                <a:latin typeface="Sun Life Sans" panose="02000503000000020004" pitchFamily="2" charset="77"/>
              </a:rPr>
              <a:pPr algn="r"/>
              <a:t>‹#›</a:t>
            </a:fld>
            <a:endParaRPr lang="en-US" sz="1200">
              <a:solidFill>
                <a:schemeClr val="tx2"/>
              </a:solidFill>
              <a:latin typeface="Sun Life Sans" panose="0200050300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83100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0CEA8C64-8AC6-4D3F-B0F9-0C4CDF07E595}"/>
              </a:ext>
            </a:extLst>
          </p:cNvPr>
          <p:cNvSpPr/>
          <p:nvPr/>
        </p:nvSpPr>
        <p:spPr>
          <a:xfrm>
            <a:off x="219986" y="257513"/>
            <a:ext cx="11752028" cy="5542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+mn-ea"/>
                <a:cs typeface="+mn-cs"/>
              </a:rPr>
              <a:t>Find your Own Pathway</a:t>
            </a:r>
            <a:endParaRPr kumimoji="0" lang="en-CA" sz="2400" b="1" i="0" u="none" strike="noStrike" kern="1200" cap="none" spc="0" normalizeH="0" baseline="0" noProof="0">
              <a:ln>
                <a:noFill/>
              </a:ln>
              <a:solidFill>
                <a:srgbClr val="373545"/>
              </a:solidFill>
              <a:effectLst/>
              <a:uLnTx/>
              <a:uFillTx/>
              <a:latin typeface="Sun Life Sans Light" panose="020B0304030304030303" pitchFamily="34" charset="0"/>
              <a:ea typeface="+mn-ea"/>
              <a:cs typeface="+mn-cs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6E843F0-9ED9-4956-BD49-635D12E74695}"/>
              </a:ext>
            </a:extLst>
          </p:cNvPr>
          <p:cNvGrpSpPr/>
          <p:nvPr/>
        </p:nvGrpSpPr>
        <p:grpSpPr>
          <a:xfrm>
            <a:off x="-269465" y="-279914"/>
            <a:ext cx="12188825" cy="5146605"/>
            <a:chOff x="0" y="1138810"/>
            <a:chExt cx="12188825" cy="5146605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FA06EDD-0CA8-43C6-A9E6-ACEB90ABBE1F}"/>
                </a:ext>
              </a:extLst>
            </p:cNvPr>
            <p:cNvCxnSpPr/>
            <p:nvPr/>
          </p:nvCxnSpPr>
          <p:spPr>
            <a:xfrm>
              <a:off x="0" y="1138810"/>
              <a:ext cx="12188825" cy="0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bg1">
                      <a:lumMod val="85000"/>
                      <a:alpha val="10000"/>
                    </a:schemeClr>
                  </a:gs>
                  <a:gs pos="48000">
                    <a:schemeClr val="bg1">
                      <a:lumMod val="85000"/>
                      <a:alpha val="30000"/>
                    </a:schemeClr>
                  </a:gs>
                  <a:gs pos="100000">
                    <a:schemeClr val="bg1">
                      <a:lumMod val="85000"/>
                      <a:alpha val="1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602DD056-83EF-4BAA-8EF1-DFFA1AE9F7B6}"/>
                </a:ext>
              </a:extLst>
            </p:cNvPr>
            <p:cNvCxnSpPr/>
            <p:nvPr/>
          </p:nvCxnSpPr>
          <p:spPr>
            <a:xfrm>
              <a:off x="0" y="1710655"/>
              <a:ext cx="12188825" cy="0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bg1">
                      <a:lumMod val="85000"/>
                      <a:alpha val="10000"/>
                    </a:schemeClr>
                  </a:gs>
                  <a:gs pos="48000">
                    <a:schemeClr val="bg1">
                      <a:lumMod val="85000"/>
                      <a:alpha val="30000"/>
                    </a:schemeClr>
                  </a:gs>
                  <a:gs pos="100000">
                    <a:schemeClr val="bg1">
                      <a:lumMod val="85000"/>
                      <a:alpha val="1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713A0746-3F97-4009-915D-92E6516845B1}"/>
                </a:ext>
              </a:extLst>
            </p:cNvPr>
            <p:cNvCxnSpPr/>
            <p:nvPr/>
          </p:nvCxnSpPr>
          <p:spPr>
            <a:xfrm>
              <a:off x="0" y="2282500"/>
              <a:ext cx="12188825" cy="0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bg1">
                      <a:lumMod val="85000"/>
                      <a:alpha val="10000"/>
                    </a:schemeClr>
                  </a:gs>
                  <a:gs pos="48000">
                    <a:schemeClr val="bg1">
                      <a:lumMod val="85000"/>
                      <a:alpha val="30000"/>
                    </a:schemeClr>
                  </a:gs>
                  <a:gs pos="100000">
                    <a:schemeClr val="bg1">
                      <a:lumMod val="85000"/>
                      <a:alpha val="1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D05D2DAF-729A-42B8-8DBB-7CADDCA4F4C2}"/>
                </a:ext>
              </a:extLst>
            </p:cNvPr>
            <p:cNvCxnSpPr/>
            <p:nvPr/>
          </p:nvCxnSpPr>
          <p:spPr>
            <a:xfrm>
              <a:off x="0" y="2854345"/>
              <a:ext cx="12188825" cy="0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bg1">
                      <a:lumMod val="85000"/>
                      <a:alpha val="10000"/>
                    </a:schemeClr>
                  </a:gs>
                  <a:gs pos="48000">
                    <a:schemeClr val="bg1">
                      <a:lumMod val="85000"/>
                      <a:alpha val="30000"/>
                    </a:schemeClr>
                  </a:gs>
                  <a:gs pos="100000">
                    <a:schemeClr val="bg1">
                      <a:lumMod val="85000"/>
                      <a:alpha val="1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0B38B42-C29A-4F24-9FAA-BE5FA228E22F}"/>
                </a:ext>
              </a:extLst>
            </p:cNvPr>
            <p:cNvCxnSpPr/>
            <p:nvPr/>
          </p:nvCxnSpPr>
          <p:spPr>
            <a:xfrm>
              <a:off x="0" y="3426190"/>
              <a:ext cx="12188825" cy="0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bg1">
                      <a:lumMod val="85000"/>
                      <a:alpha val="10000"/>
                    </a:schemeClr>
                  </a:gs>
                  <a:gs pos="48000">
                    <a:schemeClr val="bg1">
                      <a:lumMod val="85000"/>
                      <a:alpha val="30000"/>
                    </a:schemeClr>
                  </a:gs>
                  <a:gs pos="100000">
                    <a:schemeClr val="bg1">
                      <a:lumMod val="85000"/>
                      <a:alpha val="1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8A1D8FF-00F2-494D-BDAA-CF7BC80787F2}"/>
                </a:ext>
              </a:extLst>
            </p:cNvPr>
            <p:cNvCxnSpPr/>
            <p:nvPr/>
          </p:nvCxnSpPr>
          <p:spPr>
            <a:xfrm>
              <a:off x="0" y="3998035"/>
              <a:ext cx="12188825" cy="0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bg1">
                      <a:lumMod val="85000"/>
                      <a:alpha val="10000"/>
                    </a:schemeClr>
                  </a:gs>
                  <a:gs pos="48000">
                    <a:schemeClr val="bg1">
                      <a:lumMod val="85000"/>
                      <a:alpha val="30000"/>
                    </a:schemeClr>
                  </a:gs>
                  <a:gs pos="100000">
                    <a:schemeClr val="bg1">
                      <a:lumMod val="85000"/>
                      <a:alpha val="1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DF249953-6BA7-45EB-A82F-DAAD31E7DD8C}"/>
                </a:ext>
              </a:extLst>
            </p:cNvPr>
            <p:cNvCxnSpPr/>
            <p:nvPr/>
          </p:nvCxnSpPr>
          <p:spPr>
            <a:xfrm>
              <a:off x="0" y="4569880"/>
              <a:ext cx="12188825" cy="0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bg1">
                      <a:lumMod val="85000"/>
                      <a:alpha val="10000"/>
                    </a:schemeClr>
                  </a:gs>
                  <a:gs pos="48000">
                    <a:schemeClr val="bg1">
                      <a:lumMod val="85000"/>
                      <a:alpha val="30000"/>
                    </a:schemeClr>
                  </a:gs>
                  <a:gs pos="100000">
                    <a:schemeClr val="bg1">
                      <a:lumMod val="85000"/>
                      <a:alpha val="1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8636253A-8E81-4F11-8FEC-91306B957414}"/>
                </a:ext>
              </a:extLst>
            </p:cNvPr>
            <p:cNvCxnSpPr/>
            <p:nvPr/>
          </p:nvCxnSpPr>
          <p:spPr>
            <a:xfrm>
              <a:off x="0" y="5141725"/>
              <a:ext cx="12188825" cy="0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bg1">
                      <a:lumMod val="85000"/>
                      <a:alpha val="10000"/>
                    </a:schemeClr>
                  </a:gs>
                  <a:gs pos="48000">
                    <a:schemeClr val="bg1">
                      <a:lumMod val="85000"/>
                      <a:alpha val="30000"/>
                    </a:schemeClr>
                  </a:gs>
                  <a:gs pos="100000">
                    <a:schemeClr val="bg1">
                      <a:lumMod val="85000"/>
                      <a:alpha val="1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EFE43AE0-FC11-478A-B2E0-CE54B69D8A28}"/>
                </a:ext>
              </a:extLst>
            </p:cNvPr>
            <p:cNvCxnSpPr/>
            <p:nvPr/>
          </p:nvCxnSpPr>
          <p:spPr>
            <a:xfrm>
              <a:off x="0" y="5713570"/>
              <a:ext cx="12188825" cy="0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bg1">
                      <a:lumMod val="85000"/>
                      <a:alpha val="10000"/>
                    </a:schemeClr>
                  </a:gs>
                  <a:gs pos="48000">
                    <a:schemeClr val="bg1">
                      <a:lumMod val="85000"/>
                      <a:alpha val="30000"/>
                    </a:schemeClr>
                  </a:gs>
                  <a:gs pos="100000">
                    <a:schemeClr val="bg1">
                      <a:lumMod val="85000"/>
                      <a:alpha val="1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599E5E10-A146-46BD-82C4-3E5E57933A0D}"/>
                </a:ext>
              </a:extLst>
            </p:cNvPr>
            <p:cNvCxnSpPr/>
            <p:nvPr/>
          </p:nvCxnSpPr>
          <p:spPr>
            <a:xfrm>
              <a:off x="0" y="6285415"/>
              <a:ext cx="12188825" cy="0"/>
            </a:xfrm>
            <a:prstGeom prst="line">
              <a:avLst/>
            </a:prstGeom>
            <a:ln w="12700">
              <a:gradFill flip="none" rotWithShape="1">
                <a:gsLst>
                  <a:gs pos="0">
                    <a:schemeClr val="bg1">
                      <a:lumMod val="85000"/>
                      <a:alpha val="10000"/>
                    </a:schemeClr>
                  </a:gs>
                  <a:gs pos="48000">
                    <a:schemeClr val="bg1">
                      <a:lumMod val="85000"/>
                      <a:alpha val="30000"/>
                    </a:schemeClr>
                  </a:gs>
                  <a:gs pos="100000">
                    <a:schemeClr val="bg1">
                      <a:lumMod val="85000"/>
                      <a:alpha val="10000"/>
                    </a:schemeClr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Oval 83">
            <a:extLst>
              <a:ext uri="{FF2B5EF4-FFF2-40B4-BE49-F238E27FC236}">
                <a16:creationId xmlns:a16="http://schemas.microsoft.com/office/drawing/2014/main" id="{BC20E34A-5E53-4950-AF83-924F98753888}"/>
              </a:ext>
            </a:extLst>
          </p:cNvPr>
          <p:cNvSpPr/>
          <p:nvPr/>
        </p:nvSpPr>
        <p:spPr>
          <a:xfrm>
            <a:off x="765229" y="3788917"/>
            <a:ext cx="674938" cy="674938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0D421523-CA45-410D-A692-15F286BA29DA}"/>
              </a:ext>
            </a:extLst>
          </p:cNvPr>
          <p:cNvSpPr/>
          <p:nvPr/>
        </p:nvSpPr>
        <p:spPr>
          <a:xfrm>
            <a:off x="11000810" y="3413251"/>
            <a:ext cx="674938" cy="67493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016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D5311110-EDE3-44C7-A780-8294DC532589}"/>
              </a:ext>
            </a:extLst>
          </p:cNvPr>
          <p:cNvCxnSpPr/>
          <p:nvPr/>
        </p:nvCxnSpPr>
        <p:spPr>
          <a:xfrm>
            <a:off x="1589" y="566965"/>
            <a:ext cx="12188825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bg1">
                    <a:lumMod val="85000"/>
                    <a:alpha val="0"/>
                  </a:schemeClr>
                </a:gs>
                <a:gs pos="48000">
                  <a:schemeClr val="bg1">
                    <a:lumMod val="85000"/>
                    <a:alpha val="31000"/>
                  </a:schemeClr>
                </a:gs>
                <a:gs pos="100000">
                  <a:schemeClr val="bg1">
                    <a:lumMod val="85000"/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Freeform 13">
            <a:extLst>
              <a:ext uri="{FF2B5EF4-FFF2-40B4-BE49-F238E27FC236}">
                <a16:creationId xmlns:a16="http://schemas.microsoft.com/office/drawing/2014/main" id="{4E6E266C-EF0A-4886-B342-5FDEC916C70F}"/>
              </a:ext>
            </a:extLst>
          </p:cNvPr>
          <p:cNvSpPr>
            <a:spLocks/>
          </p:cNvSpPr>
          <p:nvPr/>
        </p:nvSpPr>
        <p:spPr bwMode="auto">
          <a:xfrm>
            <a:off x="1090906" y="1973289"/>
            <a:ext cx="1497080" cy="2036854"/>
          </a:xfrm>
          <a:custGeom>
            <a:avLst/>
            <a:gdLst>
              <a:gd name="T0" fmla="*/ 288 w 288"/>
              <a:gd name="T1" fmla="*/ 0 h 500"/>
              <a:gd name="T2" fmla="*/ 120 w 288"/>
              <a:gd name="T3" fmla="*/ 0 h 500"/>
              <a:gd name="T4" fmla="*/ 0 w 288"/>
              <a:gd name="T5" fmla="*/ 120 h 500"/>
              <a:gd name="T6" fmla="*/ 0 w 288"/>
              <a:gd name="T7" fmla="*/ 500 h 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8" h="500">
                <a:moveTo>
                  <a:pt x="288" y="0"/>
                </a:moveTo>
                <a:cubicBezTo>
                  <a:pt x="120" y="0"/>
                  <a:pt x="120" y="0"/>
                  <a:pt x="120" y="0"/>
                </a:cubicBezTo>
                <a:cubicBezTo>
                  <a:pt x="54" y="0"/>
                  <a:pt x="0" y="54"/>
                  <a:pt x="0" y="120"/>
                </a:cubicBezTo>
                <a:cubicBezTo>
                  <a:pt x="0" y="500"/>
                  <a:pt x="0" y="500"/>
                  <a:pt x="0" y="500"/>
                </a:cubicBezTo>
              </a:path>
            </a:pathLst>
          </a:custGeom>
          <a:noFill/>
          <a:ln w="150813" cap="flat">
            <a:gradFill>
              <a:gsLst>
                <a:gs pos="1000">
                  <a:schemeClr val="accent1"/>
                </a:gs>
                <a:gs pos="100000">
                  <a:schemeClr val="accent2"/>
                </a:gs>
              </a:gsLst>
              <a:lin ang="5400000" scaled="1"/>
            </a:gradFill>
            <a:prstDash val="solid"/>
            <a:miter lim="800000"/>
            <a:headEnd/>
            <a:tailEnd/>
          </a:ln>
          <a:effectLst>
            <a:outerShdw blurRad="101600" dist="342900" dir="5400000" algn="t" rotWithShape="0">
              <a:prstClr val="black">
                <a:alpha val="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0" name="Freeform 14">
            <a:extLst>
              <a:ext uri="{FF2B5EF4-FFF2-40B4-BE49-F238E27FC236}">
                <a16:creationId xmlns:a16="http://schemas.microsoft.com/office/drawing/2014/main" id="{75CF465E-82D9-427B-AE32-3F5176970207}"/>
              </a:ext>
            </a:extLst>
          </p:cNvPr>
          <p:cNvSpPr>
            <a:spLocks/>
          </p:cNvSpPr>
          <p:nvPr/>
        </p:nvSpPr>
        <p:spPr bwMode="auto">
          <a:xfrm>
            <a:off x="4926341" y="1961298"/>
            <a:ext cx="2341783" cy="3984626"/>
          </a:xfrm>
          <a:custGeom>
            <a:avLst/>
            <a:gdLst>
              <a:gd name="T0" fmla="*/ 576 w 576"/>
              <a:gd name="T1" fmla="*/ 0 h 978"/>
              <a:gd name="T2" fmla="*/ 408 w 576"/>
              <a:gd name="T3" fmla="*/ 0 h 978"/>
              <a:gd name="T4" fmla="*/ 288 w 576"/>
              <a:gd name="T5" fmla="*/ 120 h 978"/>
              <a:gd name="T6" fmla="*/ 288 w 576"/>
              <a:gd name="T7" fmla="*/ 858 h 978"/>
              <a:gd name="T8" fmla="*/ 168 w 576"/>
              <a:gd name="T9" fmla="*/ 978 h 978"/>
              <a:gd name="T10" fmla="*/ 0 w 576"/>
              <a:gd name="T11" fmla="*/ 978 h 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" h="978">
                <a:moveTo>
                  <a:pt x="576" y="0"/>
                </a:moveTo>
                <a:cubicBezTo>
                  <a:pt x="408" y="0"/>
                  <a:pt x="408" y="0"/>
                  <a:pt x="408" y="0"/>
                </a:cubicBezTo>
                <a:cubicBezTo>
                  <a:pt x="342" y="0"/>
                  <a:pt x="288" y="54"/>
                  <a:pt x="288" y="120"/>
                </a:cubicBezTo>
                <a:cubicBezTo>
                  <a:pt x="288" y="858"/>
                  <a:pt x="288" y="858"/>
                  <a:pt x="288" y="858"/>
                </a:cubicBezTo>
                <a:cubicBezTo>
                  <a:pt x="288" y="924"/>
                  <a:pt x="234" y="978"/>
                  <a:pt x="168" y="978"/>
                </a:cubicBezTo>
                <a:cubicBezTo>
                  <a:pt x="0" y="978"/>
                  <a:pt x="0" y="978"/>
                  <a:pt x="0" y="978"/>
                </a:cubicBezTo>
              </a:path>
            </a:pathLst>
          </a:custGeom>
          <a:noFill/>
          <a:ln w="150813" cap="flat">
            <a:gradFill>
              <a:gsLst>
                <a:gs pos="0">
                  <a:schemeClr val="accent3"/>
                </a:gs>
                <a:gs pos="100000">
                  <a:schemeClr val="accent1"/>
                </a:gs>
              </a:gsLst>
              <a:lin ang="5400000" scaled="1"/>
            </a:gradFill>
            <a:prstDash val="solid"/>
            <a:miter lim="800000"/>
            <a:headEnd/>
            <a:tailEnd/>
          </a:ln>
          <a:effectLst>
            <a:outerShdw blurRad="101600" dist="342900" dir="5400000" algn="t" rotWithShape="0">
              <a:prstClr val="black">
                <a:alpha val="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Freeform 16">
            <a:extLst>
              <a:ext uri="{FF2B5EF4-FFF2-40B4-BE49-F238E27FC236}">
                <a16:creationId xmlns:a16="http://schemas.microsoft.com/office/drawing/2014/main" id="{B852B80A-9502-47EA-B91D-8A4AE198FF31}"/>
              </a:ext>
            </a:extLst>
          </p:cNvPr>
          <p:cNvSpPr>
            <a:spLocks/>
          </p:cNvSpPr>
          <p:nvPr/>
        </p:nvSpPr>
        <p:spPr bwMode="auto">
          <a:xfrm>
            <a:off x="2587985" y="1973290"/>
            <a:ext cx="2338357" cy="3972635"/>
          </a:xfrm>
          <a:custGeom>
            <a:avLst/>
            <a:gdLst>
              <a:gd name="T0" fmla="*/ 575 w 575"/>
              <a:gd name="T1" fmla="*/ 975 h 975"/>
              <a:gd name="T2" fmla="*/ 408 w 575"/>
              <a:gd name="T3" fmla="*/ 975 h 975"/>
              <a:gd name="T4" fmla="*/ 288 w 575"/>
              <a:gd name="T5" fmla="*/ 855 h 975"/>
              <a:gd name="T6" fmla="*/ 288 w 575"/>
              <a:gd name="T7" fmla="*/ 120 h 975"/>
              <a:gd name="T8" fmla="*/ 168 w 575"/>
              <a:gd name="T9" fmla="*/ 0 h 975"/>
              <a:gd name="T10" fmla="*/ 0 w 575"/>
              <a:gd name="T11" fmla="*/ 0 h 9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5" h="975">
                <a:moveTo>
                  <a:pt x="575" y="975"/>
                </a:moveTo>
                <a:cubicBezTo>
                  <a:pt x="408" y="975"/>
                  <a:pt x="408" y="975"/>
                  <a:pt x="408" y="975"/>
                </a:cubicBezTo>
                <a:cubicBezTo>
                  <a:pt x="341" y="975"/>
                  <a:pt x="288" y="921"/>
                  <a:pt x="288" y="855"/>
                </a:cubicBezTo>
                <a:cubicBezTo>
                  <a:pt x="288" y="120"/>
                  <a:pt x="288" y="120"/>
                  <a:pt x="288" y="120"/>
                </a:cubicBezTo>
                <a:cubicBezTo>
                  <a:pt x="288" y="54"/>
                  <a:pt x="234" y="0"/>
                  <a:pt x="168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50813" cap="flat">
            <a:gradFill>
              <a:gsLst>
                <a:gs pos="0">
                  <a:schemeClr val="accent5"/>
                </a:gs>
                <a:gs pos="100000">
                  <a:schemeClr val="accent3"/>
                </a:gs>
              </a:gsLst>
              <a:lin ang="5400000" scaled="1"/>
            </a:gradFill>
            <a:prstDash val="solid"/>
            <a:miter lim="800000"/>
            <a:headEnd/>
            <a:tailEnd/>
          </a:ln>
          <a:effectLst>
            <a:outerShdw blurRad="101600" dist="342900" dir="5400000" algn="t" rotWithShape="0">
              <a:prstClr val="black">
                <a:alpha val="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Freeform 17">
            <a:extLst>
              <a:ext uri="{FF2B5EF4-FFF2-40B4-BE49-F238E27FC236}">
                <a16:creationId xmlns:a16="http://schemas.microsoft.com/office/drawing/2014/main" id="{3B254320-C8EF-438C-A725-3DFD9EBE2060}"/>
              </a:ext>
            </a:extLst>
          </p:cNvPr>
          <p:cNvSpPr>
            <a:spLocks/>
          </p:cNvSpPr>
          <p:nvPr/>
        </p:nvSpPr>
        <p:spPr bwMode="auto">
          <a:xfrm>
            <a:off x="7268123" y="1961299"/>
            <a:ext cx="2341783" cy="3970921"/>
          </a:xfrm>
          <a:custGeom>
            <a:avLst/>
            <a:gdLst>
              <a:gd name="T0" fmla="*/ 576 w 576"/>
              <a:gd name="T1" fmla="*/ 975 h 975"/>
              <a:gd name="T2" fmla="*/ 408 w 576"/>
              <a:gd name="T3" fmla="*/ 975 h 975"/>
              <a:gd name="T4" fmla="*/ 288 w 576"/>
              <a:gd name="T5" fmla="*/ 855 h 975"/>
              <a:gd name="T6" fmla="*/ 288 w 576"/>
              <a:gd name="T7" fmla="*/ 120 h 975"/>
              <a:gd name="T8" fmla="*/ 168 w 576"/>
              <a:gd name="T9" fmla="*/ 0 h 975"/>
              <a:gd name="T10" fmla="*/ 0 w 576"/>
              <a:gd name="T11" fmla="*/ 0 h 97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6" h="975">
                <a:moveTo>
                  <a:pt x="576" y="975"/>
                </a:moveTo>
                <a:cubicBezTo>
                  <a:pt x="408" y="975"/>
                  <a:pt x="408" y="975"/>
                  <a:pt x="408" y="975"/>
                </a:cubicBezTo>
                <a:cubicBezTo>
                  <a:pt x="342" y="975"/>
                  <a:pt x="288" y="921"/>
                  <a:pt x="288" y="855"/>
                </a:cubicBezTo>
                <a:cubicBezTo>
                  <a:pt x="288" y="120"/>
                  <a:pt x="288" y="120"/>
                  <a:pt x="288" y="120"/>
                </a:cubicBezTo>
                <a:cubicBezTo>
                  <a:pt x="288" y="54"/>
                  <a:pt x="234" y="0"/>
                  <a:pt x="168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noFill/>
          <a:ln w="150813" cap="flat"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5400000" scaled="1"/>
            </a:gradFill>
            <a:prstDash val="solid"/>
            <a:miter lim="800000"/>
            <a:headEnd/>
            <a:tailEnd/>
          </a:ln>
          <a:effectLst>
            <a:outerShdw blurRad="101600" dist="342900" dir="5400000" algn="t" rotWithShape="0">
              <a:prstClr val="black">
                <a:alpha val="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FCAAAA06-DBFE-44CD-92FB-A534BEBA0719}"/>
              </a:ext>
            </a:extLst>
          </p:cNvPr>
          <p:cNvSpPr/>
          <p:nvPr/>
        </p:nvSpPr>
        <p:spPr>
          <a:xfrm>
            <a:off x="932869" y="3956557"/>
            <a:ext cx="339658" cy="3396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016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39F7EF21-85DD-47C2-8B30-2FD66EEBE02F}"/>
              </a:ext>
            </a:extLst>
          </p:cNvPr>
          <p:cNvSpPr/>
          <p:nvPr/>
        </p:nvSpPr>
        <p:spPr>
          <a:xfrm>
            <a:off x="2456810" y="1797327"/>
            <a:ext cx="339658" cy="33965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1016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5D985DF-3BEB-4EB1-BA5E-0AF68A6E47B1}"/>
              </a:ext>
            </a:extLst>
          </p:cNvPr>
          <p:cNvSpPr/>
          <p:nvPr/>
        </p:nvSpPr>
        <p:spPr>
          <a:xfrm>
            <a:off x="4757549" y="5774405"/>
            <a:ext cx="339658" cy="33965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1016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61887597-3938-446A-AAAF-0B89219BF34B}"/>
              </a:ext>
            </a:extLst>
          </p:cNvPr>
          <p:cNvSpPr/>
          <p:nvPr/>
        </p:nvSpPr>
        <p:spPr>
          <a:xfrm>
            <a:off x="7094692" y="1790234"/>
            <a:ext cx="339658" cy="33965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016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Freeform 13">
            <a:extLst>
              <a:ext uri="{FF2B5EF4-FFF2-40B4-BE49-F238E27FC236}">
                <a16:creationId xmlns:a16="http://schemas.microsoft.com/office/drawing/2014/main" id="{8FED6036-8916-4EC1-AFD7-E31ABA238236}"/>
              </a:ext>
            </a:extLst>
          </p:cNvPr>
          <p:cNvSpPr>
            <a:spLocks/>
          </p:cNvSpPr>
          <p:nvPr/>
        </p:nvSpPr>
        <p:spPr bwMode="auto">
          <a:xfrm rot="10800000">
            <a:off x="9608190" y="3893742"/>
            <a:ext cx="1713709" cy="2036854"/>
          </a:xfrm>
          <a:custGeom>
            <a:avLst/>
            <a:gdLst>
              <a:gd name="T0" fmla="*/ 288 w 288"/>
              <a:gd name="T1" fmla="*/ 0 h 500"/>
              <a:gd name="T2" fmla="*/ 120 w 288"/>
              <a:gd name="T3" fmla="*/ 0 h 500"/>
              <a:gd name="T4" fmla="*/ 0 w 288"/>
              <a:gd name="T5" fmla="*/ 120 h 500"/>
              <a:gd name="T6" fmla="*/ 0 w 288"/>
              <a:gd name="T7" fmla="*/ 500 h 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88" h="500">
                <a:moveTo>
                  <a:pt x="288" y="0"/>
                </a:moveTo>
                <a:cubicBezTo>
                  <a:pt x="120" y="0"/>
                  <a:pt x="120" y="0"/>
                  <a:pt x="120" y="0"/>
                </a:cubicBezTo>
                <a:cubicBezTo>
                  <a:pt x="54" y="0"/>
                  <a:pt x="0" y="54"/>
                  <a:pt x="0" y="120"/>
                </a:cubicBezTo>
                <a:cubicBezTo>
                  <a:pt x="0" y="500"/>
                  <a:pt x="0" y="500"/>
                  <a:pt x="0" y="500"/>
                </a:cubicBezTo>
              </a:path>
            </a:pathLst>
          </a:custGeom>
          <a:noFill/>
          <a:ln w="150813" cap="flat">
            <a:solidFill>
              <a:schemeClr val="accent3"/>
            </a:solidFill>
            <a:prstDash val="solid"/>
            <a:miter lim="800000"/>
            <a:headEnd/>
            <a:tailEnd/>
          </a:ln>
          <a:effectLst>
            <a:outerShdw blurRad="101600" dist="342900" dir="5400000" algn="t" rotWithShape="0">
              <a:prstClr val="black">
                <a:alpha val="8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5E516BF0-B0F5-411E-828A-8EDA09B980FD}"/>
              </a:ext>
            </a:extLst>
          </p:cNvPr>
          <p:cNvSpPr/>
          <p:nvPr/>
        </p:nvSpPr>
        <p:spPr>
          <a:xfrm>
            <a:off x="9439539" y="5762390"/>
            <a:ext cx="339658" cy="33965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1016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4BE19D08-146B-4926-B454-4D31C6BDA394}"/>
              </a:ext>
            </a:extLst>
          </p:cNvPr>
          <p:cNvSpPr/>
          <p:nvPr/>
        </p:nvSpPr>
        <p:spPr>
          <a:xfrm>
            <a:off x="11168450" y="3573052"/>
            <a:ext cx="339658" cy="33965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69C8638-AA15-4050-864C-53454FFBF11A}"/>
              </a:ext>
            </a:extLst>
          </p:cNvPr>
          <p:cNvGrpSpPr/>
          <p:nvPr/>
        </p:nvGrpSpPr>
        <p:grpSpPr>
          <a:xfrm>
            <a:off x="1812660" y="2175555"/>
            <a:ext cx="1703802" cy="1185087"/>
            <a:chOff x="768362" y="3261937"/>
            <a:chExt cx="1715194" cy="1185087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32237B50-7586-4A5E-9843-F97A21854F26}"/>
                </a:ext>
              </a:extLst>
            </p:cNvPr>
            <p:cNvSpPr txBox="1"/>
            <p:nvPr/>
          </p:nvSpPr>
          <p:spPr>
            <a:xfrm>
              <a:off x="779388" y="3261937"/>
              <a:ext cx="1704168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+mn-ea"/>
                  <a:cs typeface="+mn-cs"/>
                </a:rPr>
                <a:t>Role 2</a:t>
              </a:r>
              <a:endPara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+mn-ea"/>
                <a:cs typeface="+mn-cs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D5B49C42-BB80-4AF4-9AB3-A63B93B81255}"/>
                </a:ext>
              </a:extLst>
            </p:cNvPr>
            <p:cNvSpPr txBox="1"/>
            <p:nvPr/>
          </p:nvSpPr>
          <p:spPr>
            <a:xfrm>
              <a:off x="768362" y="3584546"/>
              <a:ext cx="1704168" cy="8624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Warehouse Operations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 Maintained Stock Control and developed Technical Skills using SAP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endParaRP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en-US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SAP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1000" i="1" kern="0" dirty="0">
                  <a:solidFill>
                    <a:srgbClr val="373545"/>
                  </a:solidFill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Microsoft 365</a:t>
              </a:r>
              <a:endPara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3E05E17-4A40-4EF5-97F6-6619AC579634}"/>
              </a:ext>
            </a:extLst>
          </p:cNvPr>
          <p:cNvGrpSpPr/>
          <p:nvPr/>
        </p:nvGrpSpPr>
        <p:grpSpPr>
          <a:xfrm>
            <a:off x="3868983" y="3302164"/>
            <a:ext cx="2042336" cy="1217849"/>
            <a:chOff x="761941" y="5053624"/>
            <a:chExt cx="1721615" cy="1217849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7C0B7B0E-7A97-4314-B368-E7C94E7BCD37}"/>
                </a:ext>
              </a:extLst>
            </p:cNvPr>
            <p:cNvSpPr txBox="1"/>
            <p:nvPr/>
          </p:nvSpPr>
          <p:spPr>
            <a:xfrm>
              <a:off x="761941" y="5053624"/>
              <a:ext cx="1704168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+mn-ea"/>
                  <a:cs typeface="+mn-cs"/>
                </a:rPr>
                <a:t>Role 3</a:t>
              </a:r>
              <a:endPara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+mn-ea"/>
                <a:cs typeface="+mn-cs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DD14F36-7DE8-4811-846C-25851F56A8C3}"/>
                </a:ext>
              </a:extLst>
            </p:cNvPr>
            <p:cNvSpPr txBox="1"/>
            <p:nvPr/>
          </p:nvSpPr>
          <p:spPr>
            <a:xfrm>
              <a:off x="779388" y="5408995"/>
              <a:ext cx="1704168" cy="8624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Personal Trainer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 </a:t>
              </a:r>
              <a:r>
                <a:rPr lang="en-GB" sz="1200" kern="0" dirty="0">
                  <a:solidFill>
                    <a:srgbClr val="373545"/>
                  </a:solidFill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Developed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 personalized fitness programs, educated clients on nutrition and lifestyle habits, acquired new clients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endParaRPr lang="en-US" sz="1000" i="1" kern="0" dirty="0">
                <a:solidFill>
                  <a:srgbClr val="373545"/>
                </a:solidFill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endParaRP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1000" i="1" kern="0" dirty="0">
                  <a:solidFill>
                    <a:srgbClr val="373545"/>
                  </a:solidFill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Client Centricity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en-US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Communication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1000" i="1" kern="0" dirty="0">
                  <a:solidFill>
                    <a:srgbClr val="373545"/>
                  </a:solidFill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Sales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en-US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Marketing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4" name="TextBox 123">
            <a:extLst>
              <a:ext uri="{FF2B5EF4-FFF2-40B4-BE49-F238E27FC236}">
                <a16:creationId xmlns:a16="http://schemas.microsoft.com/office/drawing/2014/main" id="{825BEE08-DF6D-405A-B1BA-0C942099A08A}"/>
              </a:ext>
            </a:extLst>
          </p:cNvPr>
          <p:cNvSpPr txBox="1"/>
          <p:nvPr/>
        </p:nvSpPr>
        <p:spPr>
          <a:xfrm>
            <a:off x="64232" y="4574587"/>
            <a:ext cx="2000550" cy="8624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rPr>
              <a:t>Role 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rPr>
              <a:t>Stud Farm Manager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373545"/>
              </a:solidFill>
              <a:effectLst/>
              <a:uLnTx/>
              <a:uFillTx/>
              <a:latin typeface="Sun Life Sans Light" panose="020B0304030304030303" pitchFamily="34" charset="0"/>
              <a:ea typeface="Calibri Light" charset="0"/>
              <a:cs typeface="Segoe UI" panose="020B0502040204020203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rPr>
              <a:t> Managed </a:t>
            </a:r>
            <a:r>
              <a:rPr lang="en-US" sz="1200" kern="0" dirty="0">
                <a:solidFill>
                  <a:srgbClr val="373545"/>
                </a:solidFill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rPr>
              <a:t>the operations of </a:t>
            </a:r>
            <a:r>
              <a:rPr lang="en-US" sz="1200" kern="0" dirty="0" err="1">
                <a:solidFill>
                  <a:srgbClr val="373545"/>
                </a:solidFill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rPr>
              <a:t>Knockenduff</a:t>
            </a:r>
            <a:r>
              <a:rPr lang="en-US" sz="1200" kern="0" dirty="0">
                <a:solidFill>
                  <a:srgbClr val="373545"/>
                </a:solidFill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rPr>
              <a:t> Stud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rPr>
              <a:t>and assisted in Angus Cattle Farm management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1" u="none" strike="noStrike" kern="0" cap="none" spc="0" normalizeH="0" baseline="0" noProof="0" dirty="0">
              <a:ln>
                <a:noFill/>
              </a:ln>
              <a:solidFill>
                <a:srgbClr val="373545"/>
              </a:solidFill>
              <a:effectLst/>
              <a:uLnTx/>
              <a:uFillTx/>
              <a:latin typeface="Sun Life Sans Light" panose="020B0304030304030303" pitchFamily="34" charset="0"/>
              <a:ea typeface="Calibri Light" charset="0"/>
              <a:cs typeface="Segoe UI" panose="020B0502040204020203" pitchFamily="34" charset="0"/>
            </a:endParaRP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sz="1000" i="1" kern="0" dirty="0">
                <a:solidFill>
                  <a:srgbClr val="373545"/>
                </a:solidFill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rPr>
              <a:t>Developed an unbreakable work ethic</a:t>
            </a:r>
          </a:p>
          <a:p>
            <a:pPr marL="171450" indent="-171450" algn="ctr">
              <a:buFontTx/>
              <a:buChar char="-"/>
              <a:defRPr/>
            </a:pPr>
            <a:r>
              <a: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rPr>
              <a:t>Developed People Leadership Skills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000" i="1" kern="0" dirty="0">
              <a:solidFill>
                <a:srgbClr val="373545"/>
              </a:solidFill>
              <a:latin typeface="Sun Life Sans Light" panose="020B0304030304030303" pitchFamily="34" charset="0"/>
              <a:ea typeface="Calibri Light" charset="0"/>
              <a:cs typeface="Segoe UI" panose="020B0502040204020203" pitchFamily="34" charset="0"/>
            </a:endParaRPr>
          </a:p>
          <a:p>
            <a:pPr marL="171450" marR="0" lvl="0" indent="-1714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kumimoji="0" lang="en-US" sz="1000" b="0" i="1" u="none" strike="noStrike" kern="1200" cap="none" spc="0" normalizeH="0" baseline="0" noProof="0" dirty="0">
              <a:ln>
                <a:noFill/>
              </a:ln>
              <a:solidFill>
                <a:srgbClr val="373545"/>
              </a:solidFill>
              <a:effectLst/>
              <a:uLnTx/>
              <a:uFillTx/>
              <a:latin typeface="Sun Life Sans Light" panose="020B03040303040303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750F7E0-4F30-4945-BDEF-E31FC6E05D8D}"/>
              </a:ext>
            </a:extLst>
          </p:cNvPr>
          <p:cNvSpPr txBox="1"/>
          <p:nvPr/>
        </p:nvSpPr>
        <p:spPr>
          <a:xfrm>
            <a:off x="229927" y="870887"/>
            <a:ext cx="117520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+mn-ea"/>
                <a:cs typeface="+mn-cs"/>
              </a:rPr>
              <a:t>Ben Breslin – Career Pathway of how I became a Product Manager with Sun Life </a:t>
            </a:r>
            <a:endParaRPr kumimoji="0" lang="en-CA" sz="1400" b="0" i="1" u="none" strike="noStrike" kern="1200" cap="none" spc="0" normalizeH="0" baseline="0" noProof="0" dirty="0">
              <a:ln>
                <a:noFill/>
              </a:ln>
              <a:solidFill>
                <a:srgbClr val="373545"/>
              </a:solidFill>
              <a:effectLst/>
              <a:uLnTx/>
              <a:uFillTx/>
              <a:latin typeface="Sun Life Sans Light" panose="020B0304030304030303" pitchFamily="34" charset="0"/>
              <a:ea typeface="+mn-ea"/>
              <a:cs typeface="+mn-cs"/>
            </a:endParaRPr>
          </a:p>
        </p:txBody>
      </p:sp>
      <p:pic>
        <p:nvPicPr>
          <p:cNvPr id="51" name="Graphic 50" descr="Star with solid fill">
            <a:extLst>
              <a:ext uri="{FF2B5EF4-FFF2-40B4-BE49-F238E27FC236}">
                <a16:creationId xmlns:a16="http://schemas.microsoft.com/office/drawing/2014/main" id="{DF35AB76-6AB7-4BDA-8627-72B2F2B566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316826">
            <a:off x="3460926" y="-7952"/>
            <a:ext cx="908854" cy="908854"/>
          </a:xfrm>
          <a:prstGeom prst="rect">
            <a:avLst/>
          </a:prstGeom>
        </p:spPr>
      </p:pic>
      <p:grpSp>
        <p:nvGrpSpPr>
          <p:cNvPr id="52" name="Group 51">
            <a:extLst>
              <a:ext uri="{FF2B5EF4-FFF2-40B4-BE49-F238E27FC236}">
                <a16:creationId xmlns:a16="http://schemas.microsoft.com/office/drawing/2014/main" id="{73837391-73ED-4958-A320-C42DAE0D5E5D}"/>
              </a:ext>
            </a:extLst>
          </p:cNvPr>
          <p:cNvGrpSpPr/>
          <p:nvPr/>
        </p:nvGrpSpPr>
        <p:grpSpPr>
          <a:xfrm>
            <a:off x="6222070" y="2181613"/>
            <a:ext cx="2042336" cy="1217849"/>
            <a:chOff x="761941" y="5053624"/>
            <a:chExt cx="1721615" cy="1217849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8942DB51-E5D5-4262-A29A-8B270DCB489C}"/>
                </a:ext>
              </a:extLst>
            </p:cNvPr>
            <p:cNvSpPr txBox="1"/>
            <p:nvPr/>
          </p:nvSpPr>
          <p:spPr>
            <a:xfrm>
              <a:off x="761941" y="5053624"/>
              <a:ext cx="1704168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+mn-ea"/>
                  <a:cs typeface="+mn-cs"/>
                </a:rPr>
                <a:t>Role 4</a:t>
              </a:r>
              <a:endPara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+mn-ea"/>
                <a:cs typeface="+mn-cs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5645AB6-2D8B-48CD-A92B-C141F78A6968}"/>
                </a:ext>
              </a:extLst>
            </p:cNvPr>
            <p:cNvSpPr txBox="1"/>
            <p:nvPr/>
          </p:nvSpPr>
          <p:spPr>
            <a:xfrm>
              <a:off x="779388" y="5408995"/>
              <a:ext cx="1704168" cy="8624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Service Desk Analyst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 </a:t>
              </a:r>
              <a:r>
                <a:rPr lang="en-GB" sz="1200" kern="0" dirty="0">
                  <a:solidFill>
                    <a:srgbClr val="373545"/>
                  </a:solidFill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M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ain responsibilities included providing great customer service, solving technical issues, 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endParaRP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endPara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endParaRP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en-US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Troubleshooting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1000" i="1" kern="0" dirty="0">
                  <a:solidFill>
                    <a:srgbClr val="373545"/>
                  </a:solidFill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Customer Support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en-US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Technical Support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1DF9DE0-3FB2-47CE-AE70-FBD08ECAE0E0}"/>
              </a:ext>
            </a:extLst>
          </p:cNvPr>
          <p:cNvGrpSpPr/>
          <p:nvPr/>
        </p:nvGrpSpPr>
        <p:grpSpPr>
          <a:xfrm>
            <a:off x="10079926" y="1130802"/>
            <a:ext cx="2042336" cy="1217849"/>
            <a:chOff x="761941" y="5053624"/>
            <a:chExt cx="1721615" cy="1217849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F6F622C-124E-478A-955E-F0E04696B549}"/>
                </a:ext>
              </a:extLst>
            </p:cNvPr>
            <p:cNvSpPr txBox="1"/>
            <p:nvPr/>
          </p:nvSpPr>
          <p:spPr>
            <a:xfrm>
              <a:off x="761941" y="5053624"/>
              <a:ext cx="1704168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+mn-ea"/>
                  <a:cs typeface="+mn-cs"/>
                </a:rPr>
                <a:t>Role 6</a:t>
              </a:r>
              <a:endPara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+mn-ea"/>
                <a:cs typeface="+mn-cs"/>
              </a:endParaRP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B1374F3-6A90-4C70-9FB7-C8161ED3C59A}"/>
                </a:ext>
              </a:extLst>
            </p:cNvPr>
            <p:cNvSpPr txBox="1"/>
            <p:nvPr/>
          </p:nvSpPr>
          <p:spPr>
            <a:xfrm>
              <a:off x="779388" y="5408995"/>
              <a:ext cx="1704168" cy="8624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Associate | Product Manager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GB" sz="1200" kern="0" dirty="0">
                  <a:solidFill>
                    <a:srgbClr val="373545"/>
                  </a:solidFill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Optimize</a:t>
              </a:r>
              <a:r>
                <a:rPr kumimoji="0" lang="en-GB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 CRM systems to improve client experiences and enhance operational efficiency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1000" i="1" kern="0" dirty="0">
                  <a:solidFill>
                    <a:srgbClr val="373545"/>
                  </a:solidFill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Workload Prioritization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1000" i="1" kern="0" dirty="0">
                  <a:solidFill>
                    <a:srgbClr val="373545"/>
                  </a:solidFill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Backlog Management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en-US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User S</a:t>
              </a:r>
              <a:r>
                <a:rPr lang="en-US" sz="1000" i="1" kern="0" dirty="0">
                  <a:solidFill>
                    <a:srgbClr val="373545"/>
                  </a:solidFill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tory Creation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en-US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Problem Solving</a:t>
              </a: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F07A707-D7E6-4BF6-AA64-4E17B761B6C9}"/>
              </a:ext>
            </a:extLst>
          </p:cNvPr>
          <p:cNvGrpSpPr/>
          <p:nvPr/>
        </p:nvGrpSpPr>
        <p:grpSpPr>
          <a:xfrm>
            <a:off x="8582847" y="3449073"/>
            <a:ext cx="2042336" cy="1217849"/>
            <a:chOff x="761941" y="5053624"/>
            <a:chExt cx="1721615" cy="1217849"/>
          </a:xfrm>
        </p:grpSpPr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7765B0E-144F-49CC-B918-9CF10FB3D864}"/>
                </a:ext>
              </a:extLst>
            </p:cNvPr>
            <p:cNvSpPr txBox="1"/>
            <p:nvPr/>
          </p:nvSpPr>
          <p:spPr>
            <a:xfrm>
              <a:off x="761941" y="5053624"/>
              <a:ext cx="1704168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+mn-ea"/>
                  <a:cs typeface="+mn-cs"/>
                </a:rPr>
                <a:t>Role 5</a:t>
              </a:r>
              <a:endParaRPr kumimoji="0" lang="en-IN" sz="1600" b="1" i="0" u="none" strike="noStrike" kern="1200" cap="none" spc="0" normalizeH="0" baseline="0" noProof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+mn-ea"/>
                <a:cs typeface="+mn-cs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4FB138A-342F-48C5-AE4D-599437B04DD1}"/>
                </a:ext>
              </a:extLst>
            </p:cNvPr>
            <p:cNvSpPr txBox="1"/>
            <p:nvPr/>
          </p:nvSpPr>
          <p:spPr>
            <a:xfrm>
              <a:off x="779388" y="5408995"/>
              <a:ext cx="1704168" cy="86247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Intern | Product Management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 Exposed to a wide variety of initiatives being delivered by Sun Life, specifically in the CRM space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en-US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Agile Delivery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1000" i="1" kern="0" dirty="0">
                  <a:solidFill>
                    <a:srgbClr val="373545"/>
                  </a:solidFill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Requirement Gathering</a:t>
              </a:r>
              <a:endParaRPr kumimoji="0" lang="en-US" sz="1000" b="0" i="1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endParaRP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1000" i="1" kern="0" dirty="0">
                  <a:solidFill>
                    <a:srgbClr val="373545"/>
                  </a:solidFill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JIRA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kumimoji="0" lang="en-US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373545"/>
                  </a:solidFill>
                  <a:effectLst/>
                  <a:uLnTx/>
                  <a:uFillTx/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Salesforce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r>
                <a:rPr lang="en-US" sz="1000" i="1" kern="0" dirty="0">
                  <a:solidFill>
                    <a:srgbClr val="373545"/>
                  </a:solidFill>
                  <a:latin typeface="Sun Life Sans Light" panose="020B0304030304030303" pitchFamily="34" charset="0"/>
                  <a:ea typeface="Calibri Light" charset="0"/>
                  <a:cs typeface="Segoe UI" panose="020B0502040204020203" pitchFamily="34" charset="0"/>
                </a:rPr>
                <a:t>AWS</a:t>
              </a:r>
            </a:p>
            <a:p>
              <a:pPr marL="171450" marR="0" lvl="0" indent="-17145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Char char="-"/>
                <a:tabLst/>
                <a:defRPr/>
              </a:pPr>
              <a:endPara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373545"/>
                </a:solidFill>
                <a:effectLst/>
                <a:uLnTx/>
                <a:uFillTx/>
                <a:latin typeface="Sun Life Sans Light" panose="020B03040303040303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60960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C94BDB4FCA884FAF88725F216961CD" ma:contentTypeVersion="11" ma:contentTypeDescription="Create a new document." ma:contentTypeScope="" ma:versionID="22d95e8bb6a5fbe044b683c5ea11b970">
  <xsd:schema xmlns:xsd="http://www.w3.org/2001/XMLSchema" xmlns:xs="http://www.w3.org/2001/XMLSchema" xmlns:p="http://schemas.microsoft.com/office/2006/metadata/properties" xmlns:ns2="32e39845-3e44-465a-874b-92ada9c37983" xmlns:ns3="633f10e0-6617-4bc2-9520-063627b97f4a" targetNamespace="http://schemas.microsoft.com/office/2006/metadata/properties" ma:root="true" ma:fieldsID="fd0d09f468b5a4cbabb639805749ccca" ns2:_="" ns3:_="">
    <xsd:import namespace="32e39845-3e44-465a-874b-92ada9c37983"/>
    <xsd:import namespace="633f10e0-6617-4bc2-9520-063627b97f4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e39845-3e44-465a-874b-92ada9c379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9af281f3-005c-4590-8509-9f2f2da8ad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3f10e0-6617-4bc2-9520-063627b97f4a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97583c9e-bfc0-443e-b829-b004f38ccb5b}" ma:internalName="TaxCatchAll" ma:showField="CatchAllData" ma:web="633f10e0-6617-4bc2-9520-063627b97f4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2e39845-3e44-465a-874b-92ada9c37983">
      <Terms xmlns="http://schemas.microsoft.com/office/infopath/2007/PartnerControls"/>
    </lcf76f155ced4ddcb4097134ff3c332f>
    <TaxCatchAll xmlns="633f10e0-6617-4bc2-9520-063627b97f4a" xsi:nil="true"/>
  </documentManagement>
</p:properties>
</file>

<file path=customXml/itemProps1.xml><?xml version="1.0" encoding="utf-8"?>
<ds:datastoreItem xmlns:ds="http://schemas.openxmlformats.org/officeDocument/2006/customXml" ds:itemID="{7293A9FB-84D8-4EB2-A42F-5D1089C820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e39845-3e44-465a-874b-92ada9c37983"/>
    <ds:schemaRef ds:uri="633f10e0-6617-4bc2-9520-063627b97f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D68519C-F1F0-456A-A8D0-0CE6DA20F78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A24D46-74E9-4CF6-B147-500D9B25CDE3}">
  <ds:schemaRefs>
    <ds:schemaRef ds:uri="http://purl.org/dc/terms/"/>
    <ds:schemaRef ds:uri="633f10e0-6617-4bc2-9520-063627b97f4a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32e39845-3e44-465a-874b-92ada9c37983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171</Words>
  <Application>Microsoft Macintosh PowerPoint</Application>
  <PresentationFormat>Widescreen</PresentationFormat>
  <Paragraphs>50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Open Sans</vt:lpstr>
      <vt:lpstr>Sun Life Sans</vt:lpstr>
      <vt:lpstr>Sun Life Sans Light</vt:lpstr>
      <vt:lpstr>2_Office Theme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Erik Calder</dc:creator>
  <cp:lastModifiedBy>Microsoft Office User</cp:lastModifiedBy>
  <cp:revision>2</cp:revision>
  <dcterms:created xsi:type="dcterms:W3CDTF">2022-09-14T00:28:00Z</dcterms:created>
  <dcterms:modified xsi:type="dcterms:W3CDTF">2025-01-13T15:41:28Z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0x01010028C94BDB4FCA884FAF88725F216961CD</vt:lpwstr>
  </property>
</Properties>
</file>