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sldIdLst>
    <p:sldId id="256" r:id="rId5"/>
    <p:sldId id="281" r:id="rId6"/>
    <p:sldId id="271" r:id="rId7"/>
    <p:sldId id="279" r:id="rId8"/>
    <p:sldId id="282" r:id="rId9"/>
    <p:sldId id="283" r:id="rId10"/>
    <p:sldId id="28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CA3A"/>
    <a:srgbClr val="4354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695" autoAdjust="0"/>
    <p:restoredTop sz="94722"/>
  </p:normalViewPr>
  <p:slideViewPr>
    <p:cSldViewPr snapToGrid="0" snapToObjects="1">
      <p:cViewPr varScale="1">
        <p:scale>
          <a:sx n="94" d="100"/>
          <a:sy n="94" d="100"/>
        </p:scale>
        <p:origin x="80" y="3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3BCE77-B54E-3A42-B83D-E47948276DF4}" type="datetimeFigureOut">
              <a:rPr lang="en-IE" smtClean="0"/>
              <a:t>27/01/2026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FAF12F-5E31-5D40-A1F6-5310737259C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763510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FAF12F-5E31-5D40-A1F6-5310737259C7}" type="slidenum">
              <a:rPr lang="en-IE" smtClean="0"/>
              <a:t>3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43422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0CC24-EB80-800B-0291-A78F10E22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80B834-2835-7CF9-6AE2-CECE204476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4BFA70-E49B-8E36-C26F-825397A065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1B23D5-CC95-8F59-FAE7-44BD94739C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FAF12F-5E31-5D40-A1F6-5310737259C7}" type="slidenum">
              <a:rPr lang="en-IE" smtClean="0"/>
              <a:t>4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366022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_Soli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D581C-CAB0-510C-82E0-00B56B5001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8000" y="1404000"/>
            <a:ext cx="4795777" cy="1894785"/>
          </a:xfrm>
        </p:spPr>
        <p:txBody>
          <a:bodyPr anchor="t">
            <a:normAutofit/>
          </a:bodyPr>
          <a:lstStyle>
            <a:lvl1pPr algn="l">
              <a:defRPr sz="42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I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7603E4-3719-5019-A637-4BDBAFE6D8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8000" y="3298785"/>
            <a:ext cx="4795777" cy="993681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E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B9ED394B-2456-048A-F0B1-2FFF136732AE}"/>
              </a:ext>
            </a:extLst>
          </p:cNvPr>
          <p:cNvSpPr>
            <a:spLocks noChangeAspect="1"/>
          </p:cNvSpPr>
          <p:nvPr userDrawn="1"/>
        </p:nvSpPr>
        <p:spPr>
          <a:xfrm>
            <a:off x="6804000" y="1"/>
            <a:ext cx="4644000" cy="5153487"/>
          </a:xfrm>
          <a:custGeom>
            <a:avLst/>
            <a:gdLst>
              <a:gd name="connsiteX0" fmla="*/ 0 w 5562600"/>
              <a:gd name="connsiteY0" fmla="*/ 0 h 6172200"/>
              <a:gd name="connsiteX1" fmla="*/ 5562600 w 5562600"/>
              <a:gd name="connsiteY1" fmla="*/ 0 h 6172200"/>
              <a:gd name="connsiteX2" fmla="*/ 5562600 w 5562600"/>
              <a:gd name="connsiteY2" fmla="*/ 3818433 h 6172200"/>
              <a:gd name="connsiteX3" fmla="*/ 5562600 w 5562600"/>
              <a:gd name="connsiteY3" fmla="*/ 3979266 h 6172200"/>
              <a:gd name="connsiteX4" fmla="*/ 5553004 w 5562600"/>
              <a:gd name="connsiteY4" fmla="*/ 3979266 h 6172200"/>
              <a:gd name="connsiteX5" fmla="*/ 5548240 w 5562600"/>
              <a:gd name="connsiteY5" fmla="*/ 4059092 h 6172200"/>
              <a:gd name="connsiteX6" fmla="*/ 2781300 w 5562600"/>
              <a:gd name="connsiteY6" fmla="*/ 6172200 h 6172200"/>
              <a:gd name="connsiteX7" fmla="*/ 14360 w 5562600"/>
              <a:gd name="connsiteY7" fmla="*/ 4059092 h 6172200"/>
              <a:gd name="connsiteX8" fmla="*/ 9597 w 5562600"/>
              <a:gd name="connsiteY8" fmla="*/ 3979266 h 6172200"/>
              <a:gd name="connsiteX9" fmla="*/ 0 w 5562600"/>
              <a:gd name="connsiteY9" fmla="*/ 3979266 h 6172200"/>
              <a:gd name="connsiteX10" fmla="*/ 0 w 5562600"/>
              <a:gd name="connsiteY10" fmla="*/ 3818433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562600" h="6172200">
                <a:moveTo>
                  <a:pt x="0" y="0"/>
                </a:moveTo>
                <a:lnTo>
                  <a:pt x="5562600" y="0"/>
                </a:lnTo>
                <a:lnTo>
                  <a:pt x="5562600" y="3818433"/>
                </a:lnTo>
                <a:lnTo>
                  <a:pt x="5562600" y="3979266"/>
                </a:lnTo>
                <a:lnTo>
                  <a:pt x="5553004" y="3979266"/>
                </a:lnTo>
                <a:lnTo>
                  <a:pt x="5548240" y="4059092"/>
                </a:lnTo>
                <a:cubicBezTo>
                  <a:pt x="5405810" y="5245994"/>
                  <a:pt x="4221366" y="6172200"/>
                  <a:pt x="2781300" y="6172200"/>
                </a:cubicBezTo>
                <a:cubicBezTo>
                  <a:pt x="1341235" y="6172200"/>
                  <a:pt x="156790" y="5245994"/>
                  <a:pt x="14360" y="4059092"/>
                </a:cubicBezTo>
                <a:lnTo>
                  <a:pt x="9597" y="3979266"/>
                </a:lnTo>
                <a:lnTo>
                  <a:pt x="0" y="3979266"/>
                </a:lnTo>
                <a:lnTo>
                  <a:pt x="0" y="381843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E">
              <a:solidFill>
                <a:schemeClr val="bg1"/>
              </a:solidFill>
            </a:endParaRPr>
          </a:p>
        </p:txBody>
      </p:sp>
      <p:pic>
        <p:nvPicPr>
          <p:cNvPr id="14" name="Picture 13" descr="Logo&#10;&#10;Description automatically generated">
            <a:extLst>
              <a:ext uri="{FF2B5EF4-FFF2-40B4-BE49-F238E27FC236}">
                <a16:creationId xmlns:a16="http://schemas.microsoft.com/office/drawing/2014/main" id="{4F1B8DA2-9CF4-95BB-C088-07152AE89F5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600000" y="5724000"/>
            <a:ext cx="14986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545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Pic opt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B71B9E8-787C-BFC6-50C9-FF536DFE599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11113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I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A915BD-96FB-EDF9-2DB5-2FFB3D57D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000" y="2232001"/>
            <a:ext cx="4440000" cy="1719514"/>
          </a:xfrm>
        </p:spPr>
        <p:txBody>
          <a:bodyPr anchor="t">
            <a:normAutofit/>
          </a:bodyPr>
          <a:lstStyle>
            <a:lvl1pPr>
              <a:defRPr sz="3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I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FECB8F-268E-894D-75CC-E746A8937F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56000" y="3951515"/>
            <a:ext cx="4440000" cy="1090146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3232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Pic opt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B71B9E8-787C-BFC6-50C9-FF536DFE599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11113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I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A915BD-96FB-EDF9-2DB5-2FFB3D57D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000" y="2232001"/>
            <a:ext cx="4440000" cy="1719514"/>
          </a:xfrm>
        </p:spPr>
        <p:txBody>
          <a:bodyPr anchor="t">
            <a:normAutofit/>
          </a:bodyPr>
          <a:lstStyle>
            <a:lvl1pPr>
              <a:defRPr sz="3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I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FECB8F-268E-894D-75CC-E746A8937F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56000" y="3951515"/>
            <a:ext cx="4440000" cy="1090146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88872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Pi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C0DC37C2-C5F4-2F46-E244-F459EA590B5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11113" indent="0" algn="ctr">
              <a:buNone/>
              <a:defRPr>
                <a:solidFill>
                  <a:srgbClr val="435465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I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AD581C-CAB0-510C-82E0-00B56B5001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64000" y="1404000"/>
            <a:ext cx="4795777" cy="1894785"/>
          </a:xfrm>
        </p:spPr>
        <p:txBody>
          <a:bodyPr anchor="t">
            <a:normAutofit/>
          </a:bodyPr>
          <a:lstStyle>
            <a:lvl1pPr algn="l">
              <a:defRPr sz="4200">
                <a:solidFill>
                  <a:srgbClr val="435465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I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7603E4-3719-5019-A637-4BDBAFE6D8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64000" y="3298785"/>
            <a:ext cx="4795777" cy="993681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35465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501728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4AAEB-1F04-C6C3-D097-5035F4463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0000" y="720000"/>
            <a:ext cx="5022000" cy="3348000"/>
          </a:xfrm>
        </p:spPr>
        <p:txBody>
          <a:bodyPr>
            <a:normAutofit/>
          </a:bodyPr>
          <a:lstStyle>
            <a:lvl1pPr>
              <a:defRPr sz="4400">
                <a:solidFill>
                  <a:srgbClr val="435465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I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A2248C-0CB2-C53C-7A89-AB886BB62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IE"/>
              <a:t>setu.ie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475853-1759-118B-503B-CC1045EB5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5850013-0FED-DB4F-A95E-FFF4A5127B9C}" type="slidenum">
              <a:rPr lang="en-IE" smtClean="0"/>
              <a:pPr/>
              <a:t>‹#›</a:t>
            </a:fld>
            <a:endParaRPr lang="en-IE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0924288-5A6F-2E71-1819-16487FBDA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0000" y="2395544"/>
            <a:ext cx="5022000" cy="3348000"/>
          </a:xfrm>
        </p:spPr>
        <p:txBody>
          <a:bodyPr/>
          <a:lstStyle>
            <a:lvl1pPr>
              <a:defRPr>
                <a:solidFill>
                  <a:srgbClr val="435465"/>
                </a:solidFill>
              </a:defRPr>
            </a:lvl1pPr>
            <a:lvl2pPr>
              <a:defRPr>
                <a:solidFill>
                  <a:srgbClr val="435465"/>
                </a:solidFill>
              </a:defRPr>
            </a:lvl2pPr>
            <a:lvl3pPr>
              <a:defRPr>
                <a:solidFill>
                  <a:srgbClr val="435465"/>
                </a:solidFill>
              </a:defRPr>
            </a:lvl3pPr>
            <a:lvl4pPr>
              <a:defRPr>
                <a:solidFill>
                  <a:srgbClr val="435465"/>
                </a:solidFill>
              </a:defRPr>
            </a:lvl4pPr>
            <a:lvl5pPr>
              <a:defRPr>
                <a:solidFill>
                  <a:srgbClr val="435465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958DFC2-2D2A-A288-E682-B00B02DDB0AA}"/>
              </a:ext>
            </a:extLst>
          </p:cNvPr>
          <p:cNvCxnSpPr>
            <a:cxnSpLocks/>
          </p:cNvCxnSpPr>
          <p:nvPr userDrawn="1"/>
        </p:nvCxnSpPr>
        <p:spPr>
          <a:xfrm>
            <a:off x="11352674" y="6135438"/>
            <a:ext cx="0" cy="180000"/>
          </a:xfrm>
          <a:prstGeom prst="line">
            <a:avLst/>
          </a:prstGeom>
          <a:ln w="28575">
            <a:solidFill>
              <a:srgbClr val="FCCA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0255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1835E2D1-7D18-3674-9511-2450B7CAA4F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11113" indent="0" algn="ctr">
              <a:buNone/>
              <a:defRPr>
                <a:solidFill>
                  <a:srgbClr val="435465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I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24AAEB-1F04-C6C3-D097-5035F4463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0000" y="720000"/>
            <a:ext cx="5022000" cy="3348000"/>
          </a:xfrm>
        </p:spPr>
        <p:txBody>
          <a:bodyPr>
            <a:normAutofit/>
          </a:bodyPr>
          <a:lstStyle>
            <a:lvl1pPr>
              <a:defRPr sz="4400">
                <a:solidFill>
                  <a:srgbClr val="435465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I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A2248C-0CB2-C53C-7A89-AB886BB62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IE"/>
              <a:t>setu.ie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475853-1759-118B-503B-CC1045EB5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5850013-0FED-DB4F-A95E-FFF4A5127B9C}" type="slidenum">
              <a:rPr lang="en-IE" smtClean="0"/>
              <a:pPr/>
              <a:t>‹#›</a:t>
            </a:fld>
            <a:endParaRPr lang="en-IE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0924288-5A6F-2E71-1819-16487FBDA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0000" y="2395544"/>
            <a:ext cx="5022000" cy="3348000"/>
          </a:xfrm>
        </p:spPr>
        <p:txBody>
          <a:bodyPr/>
          <a:lstStyle>
            <a:lvl1pPr>
              <a:defRPr>
                <a:solidFill>
                  <a:srgbClr val="435465"/>
                </a:solidFill>
              </a:defRPr>
            </a:lvl1pPr>
            <a:lvl2pPr>
              <a:defRPr>
                <a:solidFill>
                  <a:srgbClr val="435465"/>
                </a:solidFill>
              </a:defRPr>
            </a:lvl2pPr>
            <a:lvl3pPr>
              <a:defRPr>
                <a:solidFill>
                  <a:srgbClr val="435465"/>
                </a:solidFill>
              </a:defRPr>
            </a:lvl3pPr>
            <a:lvl4pPr>
              <a:defRPr>
                <a:solidFill>
                  <a:srgbClr val="435465"/>
                </a:solidFill>
              </a:defRPr>
            </a:lvl4pPr>
            <a:lvl5pPr>
              <a:defRPr>
                <a:solidFill>
                  <a:srgbClr val="435465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B69B910-7084-2A45-53F6-92544F0F233C}"/>
              </a:ext>
            </a:extLst>
          </p:cNvPr>
          <p:cNvCxnSpPr>
            <a:cxnSpLocks/>
          </p:cNvCxnSpPr>
          <p:nvPr userDrawn="1"/>
        </p:nvCxnSpPr>
        <p:spPr>
          <a:xfrm>
            <a:off x="11352674" y="6135438"/>
            <a:ext cx="0" cy="180000"/>
          </a:xfrm>
          <a:prstGeom prst="line">
            <a:avLst/>
          </a:prstGeom>
          <a:ln w="28575">
            <a:solidFill>
              <a:srgbClr val="FCCA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9447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4AAEB-1F04-C6C3-D097-5035F4463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720000"/>
            <a:ext cx="3248229" cy="3348000"/>
          </a:xfrm>
        </p:spPr>
        <p:txBody>
          <a:bodyPr>
            <a:norm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I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A2248C-0CB2-C53C-7A89-AB886BB62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IE"/>
              <a:t>setu.ie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475853-1759-118B-503B-CC1045EB5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5850013-0FED-DB4F-A95E-FFF4A5127B9C}" type="slidenum">
              <a:rPr lang="en-IE" smtClean="0"/>
              <a:pPr/>
              <a:t>‹#›</a:t>
            </a:fld>
            <a:endParaRPr lang="en-IE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4D6AE94F-8A91-54B3-3103-4CD6705B48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28000" y="720000"/>
            <a:ext cx="5328000" cy="3348000"/>
          </a:xfrm>
        </p:spPr>
        <p:txBody>
          <a:bodyPr>
            <a:noAutofit/>
          </a:bodyPr>
          <a:lstStyle>
            <a:lvl1pPr marL="0" indent="0" algn="l">
              <a:buNone/>
              <a:defRPr sz="4400" b="1">
                <a:solidFill>
                  <a:schemeClr val="bg1"/>
                </a:solidFill>
                <a:latin typeface="DM Sa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E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5EC2DDB-9DB4-9001-A328-07219DC6A27A}"/>
              </a:ext>
            </a:extLst>
          </p:cNvPr>
          <p:cNvCxnSpPr>
            <a:cxnSpLocks/>
          </p:cNvCxnSpPr>
          <p:nvPr userDrawn="1"/>
        </p:nvCxnSpPr>
        <p:spPr>
          <a:xfrm>
            <a:off x="11352674" y="6135438"/>
            <a:ext cx="0" cy="180000"/>
          </a:xfrm>
          <a:prstGeom prst="line">
            <a:avLst/>
          </a:prstGeom>
          <a:ln w="28575">
            <a:solidFill>
              <a:srgbClr val="FCCA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3231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7814A-94C2-DE5A-0245-1BFDD4F58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B39AC-F949-294E-F4B1-934CB4F129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49BB27-67B0-04CE-0234-3D6301DFE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setu.ie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E95C37-86FC-8938-CBD5-FE8614B2D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50013-0FED-DB4F-A95E-FFF4A5127B9C}" type="slidenum">
              <a:rPr lang="en-IE" smtClean="0"/>
              <a:t>‹#›</a:t>
            </a:fld>
            <a:endParaRPr lang="en-IE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58F21E6-B6C2-EEAF-F707-B44661A7198B}"/>
              </a:ext>
            </a:extLst>
          </p:cNvPr>
          <p:cNvCxnSpPr>
            <a:cxnSpLocks/>
          </p:cNvCxnSpPr>
          <p:nvPr userDrawn="1"/>
        </p:nvCxnSpPr>
        <p:spPr>
          <a:xfrm>
            <a:off x="11352674" y="6135438"/>
            <a:ext cx="0" cy="180000"/>
          </a:xfrm>
          <a:prstGeom prst="line">
            <a:avLst/>
          </a:prstGeom>
          <a:ln w="28575">
            <a:solidFill>
              <a:srgbClr val="FCCA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220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994AE-2E6A-0641-FF5B-8990792FC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719999"/>
            <a:ext cx="3348000" cy="334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I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04D31E-D59D-E6B3-541A-C5068CC4E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setu.ie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1FFBEC-147F-7540-A974-B68CBC0D7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50013-0FED-DB4F-A95E-FFF4A5127B9C}" type="slidenum">
              <a:rPr lang="en-IE" smtClean="0"/>
              <a:t>‹#›</a:t>
            </a:fld>
            <a:endParaRPr lang="en-IE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6B7F97B-2ADA-0420-312C-421B2ABEBAA9}"/>
              </a:ext>
            </a:extLst>
          </p:cNvPr>
          <p:cNvCxnSpPr>
            <a:cxnSpLocks/>
          </p:cNvCxnSpPr>
          <p:nvPr userDrawn="1"/>
        </p:nvCxnSpPr>
        <p:spPr>
          <a:xfrm>
            <a:off x="11352674" y="6135438"/>
            <a:ext cx="0" cy="180000"/>
          </a:xfrm>
          <a:prstGeom prst="line">
            <a:avLst/>
          </a:prstGeom>
          <a:ln w="28575">
            <a:solidFill>
              <a:srgbClr val="FCCA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ubtitle 2">
            <a:extLst>
              <a:ext uri="{FF2B5EF4-FFF2-40B4-BE49-F238E27FC236}">
                <a16:creationId xmlns:a16="http://schemas.microsoft.com/office/drawing/2014/main" id="{EBCE07BB-A77C-E6C1-170F-F31B22AD8A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28000" y="720000"/>
            <a:ext cx="5328000" cy="3348000"/>
          </a:xfrm>
        </p:spPr>
        <p:txBody>
          <a:bodyPr>
            <a:noAutofit/>
          </a:bodyPr>
          <a:lstStyle>
            <a:lvl1pPr marL="0" indent="0" algn="l">
              <a:buNone/>
              <a:defRPr sz="4400" b="1">
                <a:solidFill>
                  <a:srgbClr val="435465"/>
                </a:solidFill>
                <a:latin typeface="DM Sa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365906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7814A-94C2-DE5A-0245-1BFDD4F58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B39AC-F949-294E-F4B1-934CB4F129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2000" y="2254147"/>
            <a:ext cx="5652000" cy="334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49BB27-67B0-04CE-0234-3D6301DFE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setu.ie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E95C37-86FC-8938-CBD5-FE8614B2D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50013-0FED-DB4F-A95E-FFF4A5127B9C}" type="slidenum">
              <a:rPr lang="en-IE" smtClean="0"/>
              <a:t>‹#›</a:t>
            </a:fld>
            <a:endParaRPr lang="en-IE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58F21E6-B6C2-EEAF-F707-B44661A7198B}"/>
              </a:ext>
            </a:extLst>
          </p:cNvPr>
          <p:cNvCxnSpPr>
            <a:cxnSpLocks/>
          </p:cNvCxnSpPr>
          <p:nvPr userDrawn="1"/>
        </p:nvCxnSpPr>
        <p:spPr>
          <a:xfrm>
            <a:off x="11352674" y="6135438"/>
            <a:ext cx="0" cy="180000"/>
          </a:xfrm>
          <a:prstGeom prst="line">
            <a:avLst/>
          </a:prstGeom>
          <a:ln w="28575">
            <a:solidFill>
              <a:srgbClr val="FCCA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ubtitle 2">
            <a:extLst>
              <a:ext uri="{FF2B5EF4-FFF2-40B4-BE49-F238E27FC236}">
                <a16:creationId xmlns:a16="http://schemas.microsoft.com/office/drawing/2014/main" id="{AD5FA3AB-99EB-58AE-1302-73F7EA825391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5112000" y="719999"/>
            <a:ext cx="5652000" cy="1531586"/>
          </a:xfrm>
        </p:spPr>
        <p:txBody>
          <a:bodyPr>
            <a:noAutofit/>
          </a:bodyPr>
          <a:lstStyle>
            <a:lvl1pPr marL="0" indent="0" algn="l">
              <a:buNone/>
              <a:defRPr sz="2500" b="1">
                <a:solidFill>
                  <a:srgbClr val="435465"/>
                </a:solidFill>
                <a:latin typeface="DM Sa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103990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7814A-94C2-DE5A-0245-1BFDD4F58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719999"/>
            <a:ext cx="3348000" cy="3348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B39AC-F949-294E-F4B1-934CB4F129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2000" y="2254147"/>
            <a:ext cx="5652000" cy="334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49BB27-67B0-04CE-0234-3D6301DFE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IE"/>
              <a:t>setu.ie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E95C37-86FC-8938-CBD5-FE8614B2D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5850013-0FED-DB4F-A95E-FFF4A5127B9C}" type="slidenum">
              <a:rPr lang="en-IE" smtClean="0"/>
              <a:pPr/>
              <a:t>‹#›</a:t>
            </a:fld>
            <a:endParaRPr lang="en-IE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58F21E6-B6C2-EEAF-F707-B44661A7198B}"/>
              </a:ext>
            </a:extLst>
          </p:cNvPr>
          <p:cNvCxnSpPr>
            <a:cxnSpLocks/>
          </p:cNvCxnSpPr>
          <p:nvPr userDrawn="1"/>
        </p:nvCxnSpPr>
        <p:spPr>
          <a:xfrm>
            <a:off x="11352674" y="6135438"/>
            <a:ext cx="0" cy="180000"/>
          </a:xfrm>
          <a:prstGeom prst="line">
            <a:avLst/>
          </a:prstGeom>
          <a:ln w="28575">
            <a:solidFill>
              <a:srgbClr val="FCCA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ubtitle 2">
            <a:extLst>
              <a:ext uri="{FF2B5EF4-FFF2-40B4-BE49-F238E27FC236}">
                <a16:creationId xmlns:a16="http://schemas.microsoft.com/office/drawing/2014/main" id="{AD5FA3AB-99EB-58AE-1302-73F7EA825391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5112000" y="719999"/>
            <a:ext cx="5652000" cy="1531586"/>
          </a:xfrm>
        </p:spPr>
        <p:txBody>
          <a:bodyPr>
            <a:noAutofit/>
          </a:bodyPr>
          <a:lstStyle>
            <a:lvl1pPr marL="0" indent="0" algn="l">
              <a:buNone/>
              <a:defRPr sz="2500" b="1">
                <a:solidFill>
                  <a:schemeClr val="bg1"/>
                </a:solidFill>
                <a:latin typeface="DM Sa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8249593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994AE-2E6A-0641-FF5B-8990792FC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719999"/>
            <a:ext cx="3348000" cy="334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I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04D31E-D59D-E6B3-541A-C5068CC4E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setu.ie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1FFBEC-147F-7540-A974-B68CBC0D7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50013-0FED-DB4F-A95E-FFF4A5127B9C}" type="slidenum">
              <a:rPr lang="en-IE" smtClean="0"/>
              <a:t>‹#›</a:t>
            </a:fld>
            <a:endParaRPr lang="en-IE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6B7F97B-2ADA-0420-312C-421B2ABEBAA9}"/>
              </a:ext>
            </a:extLst>
          </p:cNvPr>
          <p:cNvCxnSpPr>
            <a:cxnSpLocks/>
          </p:cNvCxnSpPr>
          <p:nvPr userDrawn="1"/>
        </p:nvCxnSpPr>
        <p:spPr>
          <a:xfrm>
            <a:off x="11352674" y="6135438"/>
            <a:ext cx="0" cy="180000"/>
          </a:xfrm>
          <a:prstGeom prst="line">
            <a:avLst/>
          </a:prstGeom>
          <a:ln w="28575">
            <a:solidFill>
              <a:srgbClr val="FCCA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ubtitle 2">
            <a:extLst>
              <a:ext uri="{FF2B5EF4-FFF2-40B4-BE49-F238E27FC236}">
                <a16:creationId xmlns:a16="http://schemas.microsoft.com/office/drawing/2014/main" id="{EBCE07BB-A77C-E6C1-170F-F31B22AD8A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28000" y="720000"/>
            <a:ext cx="5328000" cy="3348000"/>
          </a:xfrm>
        </p:spPr>
        <p:txBody>
          <a:bodyPr>
            <a:noAutofit/>
          </a:bodyPr>
          <a:lstStyle>
            <a:lvl1pPr marL="0" indent="0" algn="l">
              <a:buNone/>
              <a:defRPr sz="4400" b="1">
                <a:solidFill>
                  <a:srgbClr val="435465"/>
                </a:solidFill>
                <a:latin typeface="DM Sa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8370672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04D31E-D59D-E6B3-541A-C5068CC4E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IE"/>
              <a:t>setu.ie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1FFBEC-147F-7540-A974-B68CBC0D7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5850013-0FED-DB4F-A95E-FFF4A5127B9C}" type="slidenum">
              <a:rPr lang="en-IE" smtClean="0"/>
              <a:pPr/>
              <a:t>‹#›</a:t>
            </a:fld>
            <a:endParaRPr lang="en-IE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6B7F97B-2ADA-0420-312C-421B2ABEBAA9}"/>
              </a:ext>
            </a:extLst>
          </p:cNvPr>
          <p:cNvCxnSpPr>
            <a:cxnSpLocks/>
          </p:cNvCxnSpPr>
          <p:nvPr userDrawn="1"/>
        </p:nvCxnSpPr>
        <p:spPr>
          <a:xfrm>
            <a:off x="11352674" y="6135438"/>
            <a:ext cx="0" cy="180000"/>
          </a:xfrm>
          <a:prstGeom prst="line">
            <a:avLst/>
          </a:prstGeom>
          <a:ln w="28575">
            <a:solidFill>
              <a:srgbClr val="FCCA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ubtitle 2">
            <a:extLst>
              <a:ext uri="{FF2B5EF4-FFF2-40B4-BE49-F238E27FC236}">
                <a16:creationId xmlns:a16="http://schemas.microsoft.com/office/drawing/2014/main" id="{EBCE07BB-A77C-E6C1-170F-F31B22AD8A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28000" y="720000"/>
            <a:ext cx="5328000" cy="3348000"/>
          </a:xfrm>
        </p:spPr>
        <p:txBody>
          <a:bodyPr>
            <a:noAutofit/>
          </a:bodyPr>
          <a:lstStyle>
            <a:lvl1pPr marL="0" indent="0" algn="l">
              <a:buNone/>
              <a:defRPr sz="4400" b="1">
                <a:solidFill>
                  <a:schemeClr val="bg1"/>
                </a:solidFill>
                <a:latin typeface="DM Sa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2432282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04D31E-D59D-E6B3-541A-C5068CC4E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IE"/>
              <a:t>setu.ie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1FFBEC-147F-7540-A974-B68CBC0D7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5850013-0FED-DB4F-A95E-FFF4A5127B9C}" type="slidenum">
              <a:rPr lang="en-IE" smtClean="0"/>
              <a:pPr/>
              <a:t>‹#›</a:t>
            </a:fld>
            <a:endParaRPr lang="en-IE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6B7F97B-2ADA-0420-312C-421B2ABEBAA9}"/>
              </a:ext>
            </a:extLst>
          </p:cNvPr>
          <p:cNvCxnSpPr>
            <a:cxnSpLocks/>
          </p:cNvCxnSpPr>
          <p:nvPr userDrawn="1"/>
        </p:nvCxnSpPr>
        <p:spPr>
          <a:xfrm>
            <a:off x="11352674" y="6135438"/>
            <a:ext cx="0" cy="180000"/>
          </a:xfrm>
          <a:prstGeom prst="line">
            <a:avLst/>
          </a:prstGeom>
          <a:ln w="28575">
            <a:solidFill>
              <a:srgbClr val="FCCA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ubtitle 2">
            <a:extLst>
              <a:ext uri="{FF2B5EF4-FFF2-40B4-BE49-F238E27FC236}">
                <a16:creationId xmlns:a16="http://schemas.microsoft.com/office/drawing/2014/main" id="{EBCE07BB-A77C-E6C1-170F-F31B22AD8A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28000" y="720000"/>
            <a:ext cx="5328000" cy="3348000"/>
          </a:xfrm>
        </p:spPr>
        <p:txBody>
          <a:bodyPr>
            <a:noAutofit/>
          </a:bodyPr>
          <a:lstStyle>
            <a:lvl1pPr marL="0" indent="0" algn="l">
              <a:buNone/>
              <a:defRPr sz="4400" b="1">
                <a:solidFill>
                  <a:schemeClr val="bg1"/>
                </a:solidFill>
                <a:latin typeface="DM Sa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8709220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4AAEB-1F04-C6C3-D097-5035F4463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720000"/>
            <a:ext cx="3248229" cy="3348000"/>
          </a:xfrm>
        </p:spPr>
        <p:txBody>
          <a:bodyPr>
            <a:norm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I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A2248C-0CB2-C53C-7A89-AB886BB62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IE"/>
              <a:t>setu.ie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475853-1759-118B-503B-CC1045EB5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5850013-0FED-DB4F-A95E-FFF4A5127B9C}" type="slidenum">
              <a:rPr lang="en-IE" smtClean="0"/>
              <a:pPr/>
              <a:t>‹#›</a:t>
            </a:fld>
            <a:endParaRPr lang="en-IE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5EC2DDB-9DB4-9001-A328-07219DC6A27A}"/>
              </a:ext>
            </a:extLst>
          </p:cNvPr>
          <p:cNvCxnSpPr>
            <a:cxnSpLocks/>
          </p:cNvCxnSpPr>
          <p:nvPr userDrawn="1"/>
        </p:nvCxnSpPr>
        <p:spPr>
          <a:xfrm>
            <a:off x="11352674" y="6135438"/>
            <a:ext cx="0" cy="180000"/>
          </a:xfrm>
          <a:prstGeom prst="line">
            <a:avLst/>
          </a:prstGeom>
          <a:ln w="28575">
            <a:solidFill>
              <a:srgbClr val="FCCA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08555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04D31E-D59D-E6B3-541A-C5068CC4E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435465"/>
                </a:solidFill>
              </a:defRPr>
            </a:lvl1pPr>
          </a:lstStyle>
          <a:p>
            <a:r>
              <a:rPr lang="en-IE"/>
              <a:t>setu.ie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1FFBEC-147F-7540-A974-B68CBC0D7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435465"/>
                </a:solidFill>
              </a:defRPr>
            </a:lvl1pPr>
          </a:lstStyle>
          <a:p>
            <a:fld id="{95850013-0FED-DB4F-A95E-FFF4A5127B9C}" type="slidenum">
              <a:rPr lang="en-IE" smtClean="0"/>
              <a:pPr/>
              <a:t>‹#›</a:t>
            </a:fld>
            <a:endParaRPr lang="en-IE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6B7F97B-2ADA-0420-312C-421B2ABEBAA9}"/>
              </a:ext>
            </a:extLst>
          </p:cNvPr>
          <p:cNvCxnSpPr>
            <a:cxnSpLocks/>
          </p:cNvCxnSpPr>
          <p:nvPr userDrawn="1"/>
        </p:nvCxnSpPr>
        <p:spPr>
          <a:xfrm>
            <a:off x="11352674" y="6135438"/>
            <a:ext cx="0" cy="180000"/>
          </a:xfrm>
          <a:prstGeom prst="line">
            <a:avLst/>
          </a:prstGeom>
          <a:ln w="28575">
            <a:solidFill>
              <a:srgbClr val="FCCA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B545C8AD-259F-BA8D-C0DE-AE5048E26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720000"/>
            <a:ext cx="3248229" cy="3348000"/>
          </a:xfrm>
        </p:spPr>
        <p:txBody>
          <a:bodyPr>
            <a:norm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1133649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01E26-6996-89FF-60AB-7C4DC388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2001" y="720000"/>
            <a:ext cx="3213500" cy="1600200"/>
          </a:xfrm>
        </p:spPr>
        <p:txBody>
          <a:bodyPr anchor="t">
            <a:normAutofit/>
          </a:bodyPr>
          <a:lstStyle>
            <a:lvl1pPr>
              <a:defRPr sz="21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I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C49609-D089-C079-F4B5-57924D0807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22001" y="2320200"/>
            <a:ext cx="3213500" cy="2217601"/>
          </a:xfrm>
        </p:spPr>
        <p:txBody>
          <a:bodyPr>
            <a:normAutofit/>
          </a:bodyPr>
          <a:lstStyle>
            <a:lvl1pPr marL="0" indent="0">
              <a:buNone/>
              <a:defRPr sz="21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878865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CA9681-BE8D-F619-D023-E77CB9F13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setu.ie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D3CB05-A16F-35DA-765C-EBF5216FD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50013-0FED-DB4F-A95E-FFF4A5127B9C}" type="slidenum">
              <a:rPr lang="en-IE" smtClean="0"/>
              <a:t>‹#›</a:t>
            </a:fld>
            <a:endParaRPr lang="en-IE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F16FAD2-001C-07FB-417E-94C3DC37AA5C}"/>
              </a:ext>
            </a:extLst>
          </p:cNvPr>
          <p:cNvCxnSpPr>
            <a:cxnSpLocks/>
          </p:cNvCxnSpPr>
          <p:nvPr userDrawn="1"/>
        </p:nvCxnSpPr>
        <p:spPr>
          <a:xfrm>
            <a:off x="11352674" y="6135438"/>
            <a:ext cx="0" cy="180000"/>
          </a:xfrm>
          <a:prstGeom prst="line">
            <a:avLst/>
          </a:prstGeom>
          <a:ln w="28575">
            <a:solidFill>
              <a:srgbClr val="FCCA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9170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5E687A-4D6B-8296-F847-C44453722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719999"/>
            <a:ext cx="3348000" cy="3348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I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C4A6E7-BBAA-FDE9-8605-4FCACA0D3A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12000" y="720000"/>
            <a:ext cx="5652000" cy="48821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E21B2E-3CD1-2CFE-F6F5-3AB8B3D8EE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65802" y="6135438"/>
            <a:ext cx="1387997" cy="18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rgbClr val="435465"/>
                </a:solidFill>
                <a:latin typeface="DM Sans" pitchFamily="2" charset="77"/>
              </a:defRPr>
            </a:lvl1pPr>
          </a:lstStyle>
          <a:p>
            <a:r>
              <a:rPr lang="en-IE"/>
              <a:t>setu.ie</a:t>
            </a:r>
            <a:endParaRPr lang="en-I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53B787-9E01-7A5B-ABFB-82364CA381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1550" y="6138000"/>
            <a:ext cx="456449" cy="18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435465"/>
                </a:solidFill>
                <a:latin typeface="DM Sans" pitchFamily="2" charset="77"/>
              </a:defRPr>
            </a:lvl1pPr>
          </a:lstStyle>
          <a:p>
            <a:fld id="{95850013-0FED-DB4F-A95E-FFF4A5127B9C}" type="slidenum">
              <a:rPr lang="en-IE" smtClean="0"/>
              <a:pPr/>
              <a:t>‹#›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014174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8" r:id="rId3"/>
    <p:sldLayoutId id="2147483659" r:id="rId4"/>
    <p:sldLayoutId id="2147483654" r:id="rId5"/>
    <p:sldLayoutId id="2147483660" r:id="rId6"/>
    <p:sldLayoutId id="2147483661" r:id="rId7"/>
    <p:sldLayoutId id="2147483650" r:id="rId8"/>
    <p:sldLayoutId id="2147483652" r:id="rId9"/>
    <p:sldLayoutId id="2147483662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68" r:id="rId16"/>
    <p:sldLayoutId id="2147483657" r:id="rId17"/>
    <p:sldLayoutId id="2147483655" r:id="rId1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435465"/>
          </a:solidFill>
          <a:latin typeface="DM Sans" pitchFamily="2" charset="77"/>
          <a:ea typeface="+mj-ea"/>
          <a:cs typeface="+mj-cs"/>
        </a:defRPr>
      </a:lvl1pPr>
    </p:titleStyle>
    <p:bodyStyle>
      <a:lvl1pPr marL="541338" indent="-530225" algn="l" defTabSz="914400" rtl="0" eaLnBrk="1" latinLnBrk="0" hangingPunct="1">
        <a:lnSpc>
          <a:spcPct val="90000"/>
        </a:lnSpc>
        <a:spcBef>
          <a:spcPts val="1000"/>
        </a:spcBef>
        <a:buClr>
          <a:srgbClr val="FCCA3A"/>
        </a:buClr>
        <a:buFont typeface=".PingFang SC Regular"/>
        <a:buChar char="－"/>
        <a:tabLst/>
        <a:defRPr sz="2500" kern="1200">
          <a:solidFill>
            <a:srgbClr val="435465"/>
          </a:solidFill>
          <a:latin typeface="Inter Medium" panose="02000603000000020004" pitchFamily="2" charset="0"/>
          <a:ea typeface="Inter Medium" panose="02000603000000020004" pitchFamily="2" charset="0"/>
          <a:cs typeface="+mn-cs"/>
        </a:defRPr>
      </a:lvl1pPr>
      <a:lvl2pPr marL="541338" indent="-530225" algn="l" defTabSz="914400" rtl="0" eaLnBrk="1" latinLnBrk="0" hangingPunct="1">
        <a:lnSpc>
          <a:spcPct val="90000"/>
        </a:lnSpc>
        <a:spcBef>
          <a:spcPts val="500"/>
        </a:spcBef>
        <a:buClr>
          <a:srgbClr val="FCCA3A"/>
        </a:buClr>
        <a:buFont typeface=".PingFang SC Regular"/>
        <a:buChar char="－"/>
        <a:tabLst/>
        <a:defRPr sz="2500" kern="1200">
          <a:solidFill>
            <a:srgbClr val="435465"/>
          </a:solidFill>
          <a:latin typeface="Inter Medium" panose="02000603000000020004" pitchFamily="2" charset="0"/>
          <a:ea typeface="Inter Medium" panose="02000603000000020004" pitchFamily="2" charset="0"/>
          <a:cs typeface="+mn-cs"/>
        </a:defRPr>
      </a:lvl2pPr>
      <a:lvl3pPr marL="541338" indent="-530225" algn="l" defTabSz="914400" rtl="0" eaLnBrk="1" latinLnBrk="0" hangingPunct="1">
        <a:lnSpc>
          <a:spcPct val="90000"/>
        </a:lnSpc>
        <a:spcBef>
          <a:spcPts val="500"/>
        </a:spcBef>
        <a:buClr>
          <a:srgbClr val="FCCA3A"/>
        </a:buClr>
        <a:buFont typeface=".PingFang SC Regular"/>
        <a:buChar char="－"/>
        <a:tabLst/>
        <a:defRPr sz="2500" kern="1200">
          <a:solidFill>
            <a:srgbClr val="435465"/>
          </a:solidFill>
          <a:latin typeface="Inter Medium" panose="02000603000000020004" pitchFamily="2" charset="0"/>
          <a:ea typeface="Inter Medium" panose="02000603000000020004" pitchFamily="2" charset="0"/>
          <a:cs typeface="+mn-cs"/>
        </a:defRPr>
      </a:lvl3pPr>
      <a:lvl4pPr marL="541338" indent="-530225" algn="l" defTabSz="914400" rtl="0" eaLnBrk="1" latinLnBrk="0" hangingPunct="1">
        <a:lnSpc>
          <a:spcPct val="90000"/>
        </a:lnSpc>
        <a:spcBef>
          <a:spcPts val="500"/>
        </a:spcBef>
        <a:buClr>
          <a:srgbClr val="FCCA3A"/>
        </a:buClr>
        <a:buFont typeface=".PingFang SC Regular"/>
        <a:buChar char="－"/>
        <a:tabLst/>
        <a:defRPr sz="2500" kern="1200">
          <a:solidFill>
            <a:srgbClr val="435465"/>
          </a:solidFill>
          <a:latin typeface="Inter Medium" panose="02000603000000020004" pitchFamily="2" charset="0"/>
          <a:ea typeface="Inter Medium" panose="02000603000000020004" pitchFamily="2" charset="0"/>
          <a:cs typeface="+mn-cs"/>
        </a:defRPr>
      </a:lvl4pPr>
      <a:lvl5pPr marL="541338" indent="-530225" algn="l" defTabSz="914400" rtl="0" eaLnBrk="1" latinLnBrk="0" hangingPunct="1">
        <a:lnSpc>
          <a:spcPct val="90000"/>
        </a:lnSpc>
        <a:spcBef>
          <a:spcPts val="500"/>
        </a:spcBef>
        <a:buClr>
          <a:srgbClr val="FCCA3A"/>
        </a:buClr>
        <a:buFont typeface=".PingFang SC Regular"/>
        <a:buChar char="－"/>
        <a:tabLst/>
        <a:defRPr sz="2500" kern="1200">
          <a:solidFill>
            <a:srgbClr val="435465"/>
          </a:solidFill>
          <a:latin typeface="Inter Medium" panose="02000603000000020004" pitchFamily="2" charset="0"/>
          <a:ea typeface="Inter Medium" panose="02000603000000020004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6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11D7D-8C54-C4A2-27D6-A29215AE5D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536" y="906052"/>
            <a:ext cx="5884085" cy="3343098"/>
          </a:xfrm>
        </p:spPr>
        <p:txBody>
          <a:bodyPr>
            <a:normAutofit fontScale="90000"/>
          </a:bodyPr>
          <a:lstStyle/>
          <a:p>
            <a:r>
              <a:rPr lang="en-GB" sz="3600" dirty="0" err="1"/>
              <a:t>HDip</a:t>
            </a:r>
            <a:r>
              <a:rPr lang="en-GB" sz="3600" dirty="0"/>
              <a:t>/Cert in Computer Science</a:t>
            </a:r>
            <a:br>
              <a:rPr lang="en-GB" sz="3600" dirty="0"/>
            </a:br>
            <a:r>
              <a:rPr lang="en-GB" sz="3600" dirty="0"/>
              <a:t>Progression Pathways</a:t>
            </a:r>
            <a:br>
              <a:rPr lang="en-IE" sz="3600" dirty="0"/>
            </a:br>
            <a:br>
              <a:rPr lang="en-IE" sz="3600" dirty="0"/>
            </a:br>
            <a:br>
              <a:rPr lang="en-IE" dirty="0"/>
            </a:br>
            <a:r>
              <a:rPr lang="en-IE" sz="1800" dirty="0"/>
              <a:t>Department of Computing and Mathematics </a:t>
            </a:r>
            <a:br>
              <a:rPr lang="en-IE" sz="1800" dirty="0"/>
            </a:br>
            <a:br>
              <a:rPr lang="en-IE" sz="1800" dirty="0"/>
            </a:br>
            <a:r>
              <a:rPr lang="en-IE" sz="1600" dirty="0"/>
              <a:t>15/12/2025</a:t>
            </a:r>
            <a:endParaRPr lang="en-IE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3297DC4-DB8D-745E-85C1-2FC96274C4C1}"/>
              </a:ext>
            </a:extLst>
          </p:cNvPr>
          <p:cNvSpPr>
            <a:spLocks noChangeAspect="1"/>
          </p:cNvSpPr>
          <p:nvPr/>
        </p:nvSpPr>
        <p:spPr>
          <a:xfrm>
            <a:off x="6804000" y="1"/>
            <a:ext cx="4644000" cy="5155200"/>
          </a:xfrm>
          <a:custGeom>
            <a:avLst/>
            <a:gdLst>
              <a:gd name="connsiteX0" fmla="*/ 0 w 5562600"/>
              <a:gd name="connsiteY0" fmla="*/ 0 h 6172200"/>
              <a:gd name="connsiteX1" fmla="*/ 5562600 w 5562600"/>
              <a:gd name="connsiteY1" fmla="*/ 0 h 6172200"/>
              <a:gd name="connsiteX2" fmla="*/ 5562600 w 5562600"/>
              <a:gd name="connsiteY2" fmla="*/ 3818433 h 6172200"/>
              <a:gd name="connsiteX3" fmla="*/ 5562600 w 5562600"/>
              <a:gd name="connsiteY3" fmla="*/ 3979266 h 6172200"/>
              <a:gd name="connsiteX4" fmla="*/ 5553004 w 5562600"/>
              <a:gd name="connsiteY4" fmla="*/ 3979266 h 6172200"/>
              <a:gd name="connsiteX5" fmla="*/ 5548240 w 5562600"/>
              <a:gd name="connsiteY5" fmla="*/ 4059092 h 6172200"/>
              <a:gd name="connsiteX6" fmla="*/ 2781300 w 5562600"/>
              <a:gd name="connsiteY6" fmla="*/ 6172200 h 6172200"/>
              <a:gd name="connsiteX7" fmla="*/ 14360 w 5562600"/>
              <a:gd name="connsiteY7" fmla="*/ 4059092 h 6172200"/>
              <a:gd name="connsiteX8" fmla="*/ 9597 w 5562600"/>
              <a:gd name="connsiteY8" fmla="*/ 3979266 h 6172200"/>
              <a:gd name="connsiteX9" fmla="*/ 0 w 5562600"/>
              <a:gd name="connsiteY9" fmla="*/ 3979266 h 6172200"/>
              <a:gd name="connsiteX10" fmla="*/ 0 w 5562600"/>
              <a:gd name="connsiteY10" fmla="*/ 3818433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562600" h="6172200">
                <a:moveTo>
                  <a:pt x="0" y="0"/>
                </a:moveTo>
                <a:lnTo>
                  <a:pt x="5562600" y="0"/>
                </a:lnTo>
                <a:lnTo>
                  <a:pt x="5562600" y="3818433"/>
                </a:lnTo>
                <a:lnTo>
                  <a:pt x="5562600" y="3979266"/>
                </a:lnTo>
                <a:lnTo>
                  <a:pt x="5553004" y="3979266"/>
                </a:lnTo>
                <a:lnTo>
                  <a:pt x="5548240" y="4059092"/>
                </a:lnTo>
                <a:cubicBezTo>
                  <a:pt x="5405810" y="5245994"/>
                  <a:pt x="4221366" y="6172200"/>
                  <a:pt x="2781300" y="6172200"/>
                </a:cubicBezTo>
                <a:cubicBezTo>
                  <a:pt x="1341235" y="6172200"/>
                  <a:pt x="156790" y="5245994"/>
                  <a:pt x="14360" y="4059092"/>
                </a:cubicBezTo>
                <a:lnTo>
                  <a:pt x="9597" y="3979266"/>
                </a:lnTo>
                <a:lnTo>
                  <a:pt x="0" y="3979266"/>
                </a:lnTo>
                <a:lnTo>
                  <a:pt x="0" y="3818433"/>
                </a:lnTo>
                <a:close/>
              </a:path>
            </a:pathLst>
          </a:custGeom>
          <a:blipFill dpi="0" rotWithShape="1">
            <a:blip r:embed="rId2"/>
            <a:srcRect/>
            <a:stretch>
              <a:fillRect l="-12016" t="-19834" r="-12016" b="-47764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E">
              <a:solidFill>
                <a:schemeClr val="bg1"/>
              </a:solidFill>
            </a:endParaRPr>
          </a:p>
        </p:txBody>
      </p:sp>
      <p:pic>
        <p:nvPicPr>
          <p:cNvPr id="3" name="Picture 4" descr=" Certificate in Computer Science 2025">
            <a:extLst>
              <a:ext uri="{FF2B5EF4-FFF2-40B4-BE49-F238E27FC236}">
                <a16:creationId xmlns:a16="http://schemas.microsoft.com/office/drawing/2014/main" id="{03A5D582-DEF4-53AD-F792-B1B219ACE2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8462" y="2269777"/>
            <a:ext cx="810703" cy="810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59834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Placeholder 15" descr="A computer with a question mark on it&#10;&#10;AI-generated content may be incorrect.">
            <a:extLst>
              <a:ext uri="{FF2B5EF4-FFF2-40B4-BE49-F238E27FC236}">
                <a16:creationId xmlns:a16="http://schemas.microsoft.com/office/drawing/2014/main" id="{A2CF4550-AB14-7CB8-1B24-B32AA6E7483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7813" b="7813"/>
          <a:stretch>
            <a:fillRect/>
          </a:stretch>
        </p:blipFill>
        <p:spPr>
          <a:xfrm>
            <a:off x="6874311" y="1854382"/>
            <a:ext cx="4891509" cy="2751474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36C8BC9-8A70-33C0-B707-2AD6A33FA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What are the options at SETU once I finish the Cert? </a:t>
            </a:r>
            <a:endParaRPr lang="en-I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F6D2F8-37CF-FD56-3B0A-CF4A39B428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67061" y="4446465"/>
            <a:ext cx="4440000" cy="1090146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dirty="0"/>
              <a:t>Direct Entry onto the Higher Diploma in Computer Science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Specialism Certificate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I’m good thanks – </a:t>
            </a:r>
            <a:r>
              <a:rPr lang="en-GB" dirty="0" err="1"/>
              <a:t>Slán</a:t>
            </a:r>
            <a:r>
              <a:rPr lang="en-GB" dirty="0"/>
              <a:t>!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301209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05D8F8-9574-208C-DFCB-6BDA1B873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963553" y="5501116"/>
            <a:ext cx="1387997" cy="180000"/>
          </a:xfrm>
        </p:spPr>
        <p:txBody>
          <a:bodyPr/>
          <a:lstStyle/>
          <a:p>
            <a:r>
              <a:rPr lang="en-IE" dirty="0"/>
              <a:t>setu.ie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C63F47-FA41-BF88-0A03-EEAD80A2D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5898" y="5542342"/>
            <a:ext cx="456449" cy="180000"/>
          </a:xfrm>
        </p:spPr>
        <p:txBody>
          <a:bodyPr/>
          <a:lstStyle/>
          <a:p>
            <a:fld id="{95850013-0FED-DB4F-A95E-FFF4A5127B9C}" type="slidenum">
              <a:rPr lang="en-IE" smtClean="0"/>
              <a:t>3</a:t>
            </a:fld>
            <a:endParaRPr lang="en-I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B7B0F8-5E15-5B7F-3891-AF2986BA85B5}"/>
              </a:ext>
            </a:extLst>
          </p:cNvPr>
          <p:cNvSpPr txBox="1"/>
          <p:nvPr/>
        </p:nvSpPr>
        <p:spPr>
          <a:xfrm>
            <a:off x="1331680" y="256825"/>
            <a:ext cx="6805892" cy="873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GB" sz="2800" b="1" dirty="0">
                <a:solidFill>
                  <a:srgbClr val="435465"/>
                </a:solidFill>
                <a:latin typeface="DM Sans" pitchFamily="2" charset="77"/>
                <a:ea typeface="+mj-ea"/>
                <a:cs typeface="+mj-cs"/>
              </a:rPr>
              <a:t>1. Direct Entry onto the Higher Diploma in Computer Science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655CD63-87A1-85D4-CFA4-0E3061C57B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552" y="1581321"/>
            <a:ext cx="4077523" cy="1472064"/>
          </a:xfrm>
          <a:prstGeom prst="rect">
            <a:avLst/>
          </a:prstGeom>
        </p:spPr>
      </p:pic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8B1C05A-95D9-229A-0CE0-6408FB339ADF}"/>
              </a:ext>
            </a:extLst>
          </p:cNvPr>
          <p:cNvCxnSpPr>
            <a:cxnSpLocks/>
          </p:cNvCxnSpPr>
          <p:nvPr/>
        </p:nvCxnSpPr>
        <p:spPr>
          <a:xfrm>
            <a:off x="4688140" y="2317353"/>
            <a:ext cx="6140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FC6DA162-D165-0222-1867-15E0618F1A6C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4692075" y="2317353"/>
            <a:ext cx="614001" cy="1314835"/>
          </a:xfrm>
          <a:prstGeom prst="bentConnector3">
            <a:avLst>
              <a:gd name="adj1" fmla="val 3916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4D69184B-D5D8-3AC2-2346-3932EAEC421B}"/>
              </a:ext>
            </a:extLst>
          </p:cNvPr>
          <p:cNvCxnSpPr>
            <a:cxnSpLocks/>
          </p:cNvCxnSpPr>
          <p:nvPr/>
        </p:nvCxnSpPr>
        <p:spPr>
          <a:xfrm rot="16200000" flipH="1">
            <a:off x="4207623" y="4327584"/>
            <a:ext cx="1783641" cy="370620"/>
          </a:xfrm>
          <a:prstGeom prst="bentConnector3">
            <a:avLst>
              <a:gd name="adj1" fmla="val 9974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5" name="Picture 54">
            <a:extLst>
              <a:ext uri="{FF2B5EF4-FFF2-40B4-BE49-F238E27FC236}">
                <a16:creationId xmlns:a16="http://schemas.microsoft.com/office/drawing/2014/main" id="{19E8D6A6-4E1E-69E1-82F6-0B9D8F2D0CB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32"/>
          <a:stretch>
            <a:fillRect/>
          </a:stretch>
        </p:blipFill>
        <p:spPr>
          <a:xfrm>
            <a:off x="5288689" y="3258320"/>
            <a:ext cx="4094910" cy="1516165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DD699E4A-0FF2-B0AF-0230-0DD59EC1B7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8689" y="4710134"/>
            <a:ext cx="4086678" cy="1563154"/>
          </a:xfrm>
          <a:prstGeom prst="rect">
            <a:avLst/>
          </a:prstGeom>
        </p:spPr>
      </p:pic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555111C5-66E3-38BF-4C54-6FAF41620CFA}"/>
              </a:ext>
            </a:extLst>
          </p:cNvPr>
          <p:cNvCxnSpPr>
            <a:cxnSpLocks/>
          </p:cNvCxnSpPr>
          <p:nvPr/>
        </p:nvCxnSpPr>
        <p:spPr>
          <a:xfrm flipV="1">
            <a:off x="9392756" y="2298634"/>
            <a:ext cx="503803" cy="25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0AFEEFAD-E3AF-7771-BA2C-FFDC3ABD4164}"/>
              </a:ext>
            </a:extLst>
          </p:cNvPr>
          <p:cNvCxnSpPr>
            <a:cxnSpLocks/>
            <a:stCxn id="55" idx="3"/>
          </p:cNvCxnSpPr>
          <p:nvPr/>
        </p:nvCxnSpPr>
        <p:spPr>
          <a:xfrm flipV="1">
            <a:off x="9383599" y="2331316"/>
            <a:ext cx="297291" cy="1685087"/>
          </a:xfrm>
          <a:prstGeom prst="bentConnector2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E3455531-6694-3F18-AC48-708747FA4252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8746484" y="4217684"/>
            <a:ext cx="1532495" cy="339272"/>
          </a:xfrm>
          <a:prstGeom prst="bentConnector3">
            <a:avLst>
              <a:gd name="adj1" fmla="val 1881"/>
            </a:avLst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CE5C29E0-B000-8D7F-436B-2051F427A786}"/>
              </a:ext>
            </a:extLst>
          </p:cNvPr>
          <p:cNvSpPr txBox="1"/>
          <p:nvPr/>
        </p:nvSpPr>
        <p:spPr>
          <a:xfrm>
            <a:off x="1942016" y="1591190"/>
            <a:ext cx="33683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200" b="1" dirty="0"/>
              <a:t>General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57780AC-71A5-DBBC-A450-CDA77069FCF1}"/>
              </a:ext>
            </a:extLst>
          </p:cNvPr>
          <p:cNvSpPr txBox="1"/>
          <p:nvPr/>
        </p:nvSpPr>
        <p:spPr>
          <a:xfrm>
            <a:off x="6032631" y="3286590"/>
            <a:ext cx="45258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100" b="1" dirty="0"/>
              <a:t>Artificial Intelligence &amp; Machine Learning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7BA9981-5E71-D35E-4C63-8C83A5CE04B5}"/>
              </a:ext>
            </a:extLst>
          </p:cNvPr>
          <p:cNvSpPr txBox="1"/>
          <p:nvPr/>
        </p:nvSpPr>
        <p:spPr>
          <a:xfrm>
            <a:off x="6023472" y="4740254"/>
            <a:ext cx="33683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200" b="1" dirty="0"/>
              <a:t>Cyber Security and Forensics</a:t>
            </a:r>
          </a:p>
        </p:txBody>
      </p:sp>
      <p:pic>
        <p:nvPicPr>
          <p:cNvPr id="3" name="Picture 2" descr="A screenshot of a website&#10;&#10;AI-generated content may be incorrect.">
            <a:extLst>
              <a:ext uri="{FF2B5EF4-FFF2-40B4-BE49-F238E27FC236}">
                <a16:creationId xmlns:a16="http://schemas.microsoft.com/office/drawing/2014/main" id="{93553DD7-D07A-3E1F-3155-C5BEACF855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95117" y="1723949"/>
            <a:ext cx="2268885" cy="114936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DF5E718-381C-1B7E-0141-947EF63FB87E}"/>
              </a:ext>
            </a:extLst>
          </p:cNvPr>
          <p:cNvSpPr txBox="1"/>
          <p:nvPr/>
        </p:nvSpPr>
        <p:spPr>
          <a:xfrm>
            <a:off x="882032" y="1192839"/>
            <a:ext cx="890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Sept 25</a:t>
            </a:r>
            <a:endParaRPr lang="en-I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AE8E1B-30CC-A248-1687-C998E37120DA}"/>
              </a:ext>
            </a:extLst>
          </p:cNvPr>
          <p:cNvSpPr txBox="1"/>
          <p:nvPr/>
        </p:nvSpPr>
        <p:spPr>
          <a:xfrm>
            <a:off x="5393899" y="1229538"/>
            <a:ext cx="890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Sept 26</a:t>
            </a:r>
            <a:endParaRPr lang="en-I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037635-B6A8-2A48-32AB-0BFA4D81C438}"/>
              </a:ext>
            </a:extLst>
          </p:cNvPr>
          <p:cNvSpPr txBox="1"/>
          <p:nvPr/>
        </p:nvSpPr>
        <p:spPr>
          <a:xfrm>
            <a:off x="2653313" y="1181539"/>
            <a:ext cx="777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Jan 26</a:t>
            </a:r>
            <a:endParaRPr lang="en-IE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51D082-48B0-3EF6-FEC8-A47F1A71D93A}"/>
              </a:ext>
            </a:extLst>
          </p:cNvPr>
          <p:cNvSpPr txBox="1"/>
          <p:nvPr/>
        </p:nvSpPr>
        <p:spPr>
          <a:xfrm>
            <a:off x="9895117" y="1293174"/>
            <a:ext cx="1715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June 27 – Dec27</a:t>
            </a:r>
            <a:endParaRPr lang="en-IE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87F66D-A93C-61A6-AB61-76C0B30FD988}"/>
              </a:ext>
            </a:extLst>
          </p:cNvPr>
          <p:cNvSpPr txBox="1"/>
          <p:nvPr/>
        </p:nvSpPr>
        <p:spPr>
          <a:xfrm>
            <a:off x="7359795" y="1229220"/>
            <a:ext cx="777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Jan 27</a:t>
            </a:r>
            <a:endParaRPr lang="en-IE" dirty="0"/>
          </a:p>
        </p:txBody>
      </p:sp>
      <p:pic>
        <p:nvPicPr>
          <p:cNvPr id="1028" name="Picture 4" descr=" Certificate in Computer Science 2025">
            <a:extLst>
              <a:ext uri="{FF2B5EF4-FFF2-40B4-BE49-F238E27FC236}">
                <a16:creationId xmlns:a16="http://schemas.microsoft.com/office/drawing/2014/main" id="{071A4645-F896-9816-308A-EB93648B6B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680" y="298738"/>
            <a:ext cx="810703" cy="810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FD5AE3A-7507-4006-1C76-984438B56A0D}"/>
              </a:ext>
            </a:extLst>
          </p:cNvPr>
          <p:cNvSpPr txBox="1"/>
          <p:nvPr/>
        </p:nvSpPr>
        <p:spPr>
          <a:xfrm>
            <a:off x="732562" y="3676574"/>
            <a:ext cx="3514318" cy="109824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541338" lvl="1" indent="-530225">
              <a:lnSpc>
                <a:spcPct val="80000"/>
              </a:lnSpc>
              <a:spcBef>
                <a:spcPts val="500"/>
              </a:spcBef>
              <a:buClr>
                <a:srgbClr val="FCCA3A"/>
              </a:buClr>
              <a:buFont typeface=".PingFang SC Regular"/>
              <a:buChar char="－"/>
            </a:pPr>
            <a:r>
              <a:rPr lang="en-GB" dirty="0">
                <a:solidFill>
                  <a:srgbClr val="435465"/>
                </a:solidFill>
                <a:latin typeface="Inter Medium" panose="02000603000000020004" pitchFamily="2" charset="0"/>
              </a:rPr>
              <a:t>Springboard Funded</a:t>
            </a:r>
          </a:p>
          <a:p>
            <a:pPr marL="541338" lvl="1" indent="-530225">
              <a:lnSpc>
                <a:spcPct val="80000"/>
              </a:lnSpc>
              <a:spcBef>
                <a:spcPts val="500"/>
              </a:spcBef>
              <a:buClr>
                <a:srgbClr val="FCCA3A"/>
              </a:buClr>
              <a:buFont typeface=".PingFang SC Regular"/>
              <a:buChar char="－"/>
            </a:pPr>
            <a:r>
              <a:rPr lang="en-GB" dirty="0">
                <a:solidFill>
                  <a:srgbClr val="435465"/>
                </a:solidFill>
                <a:latin typeface="Inter Medium" panose="02000603000000020004" pitchFamily="2" charset="0"/>
              </a:rPr>
              <a:t>1 year  Computer Science Fundamentals</a:t>
            </a:r>
            <a:endParaRPr lang="en-IE" dirty="0">
              <a:solidFill>
                <a:srgbClr val="435465"/>
              </a:solidFill>
              <a:latin typeface="Inter Medium" panose="02000603000000020004" pitchFamily="2" charset="0"/>
            </a:endParaRPr>
          </a:p>
          <a:p>
            <a:endParaRPr lang="en-IE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30423AA-9890-E620-8E58-D88243DE8BA5}"/>
              </a:ext>
            </a:extLst>
          </p:cNvPr>
          <p:cNvSpPr txBox="1"/>
          <p:nvPr/>
        </p:nvSpPr>
        <p:spPr>
          <a:xfrm>
            <a:off x="5169177" y="749813"/>
            <a:ext cx="3949799" cy="60516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marL="541338" lvl="1" indent="-530225">
              <a:lnSpc>
                <a:spcPct val="80000"/>
              </a:lnSpc>
              <a:spcBef>
                <a:spcPts val="500"/>
              </a:spcBef>
              <a:buClr>
                <a:srgbClr val="FCCA3A"/>
              </a:buClr>
              <a:buFont typeface=".PingFang SC Regular"/>
              <a:buChar char="－"/>
            </a:pPr>
            <a:r>
              <a:rPr lang="en-IE" b="1" dirty="0">
                <a:solidFill>
                  <a:srgbClr val="435465"/>
                </a:solidFill>
                <a:latin typeface="Inter Medium" panose="02000603000000020004" pitchFamily="2" charset="0"/>
                <a:ea typeface="Inter Medium" panose="02000603000000020004" pitchFamily="2" charset="0"/>
              </a:rPr>
              <a:t>Advanced Entry to </a:t>
            </a:r>
            <a:r>
              <a:rPr lang="en-IE" b="1" dirty="0" err="1">
                <a:solidFill>
                  <a:srgbClr val="435465"/>
                </a:solidFill>
                <a:latin typeface="Inter Medium" panose="02000603000000020004" pitchFamily="2" charset="0"/>
                <a:ea typeface="Inter Medium" panose="02000603000000020004" pitchFamily="2" charset="0"/>
              </a:rPr>
              <a:t>HDip</a:t>
            </a:r>
            <a:r>
              <a:rPr lang="en-IE" b="1" dirty="0">
                <a:solidFill>
                  <a:srgbClr val="435465"/>
                </a:solidFill>
                <a:latin typeface="Inter Medium" panose="02000603000000020004" pitchFamily="2" charset="0"/>
                <a:ea typeface="Inter Medium" panose="02000603000000020004" pitchFamily="2" charset="0"/>
              </a:rPr>
              <a:t> </a:t>
            </a:r>
            <a:r>
              <a:rPr lang="en-IE" dirty="0">
                <a:solidFill>
                  <a:srgbClr val="435465"/>
                </a:solidFill>
                <a:latin typeface="Inter Medium" panose="02000603000000020004" pitchFamily="2" charset="0"/>
                <a:ea typeface="Inter Medium" panose="02000603000000020004" pitchFamily="2" charset="0"/>
              </a:rPr>
              <a:t>from Cert</a:t>
            </a:r>
          </a:p>
          <a:p>
            <a:pPr marL="541338" lvl="1" indent="-530225">
              <a:lnSpc>
                <a:spcPct val="80000"/>
              </a:lnSpc>
              <a:spcBef>
                <a:spcPts val="500"/>
              </a:spcBef>
              <a:buClr>
                <a:srgbClr val="FCCA3A"/>
              </a:buClr>
              <a:buFont typeface=".PingFang SC Regular"/>
              <a:buChar char="－"/>
            </a:pPr>
            <a:r>
              <a:rPr lang="en-IE" b="1" dirty="0">
                <a:solidFill>
                  <a:srgbClr val="435465"/>
                </a:solidFill>
                <a:latin typeface="Inter Medium" panose="02000603000000020004" pitchFamily="2" charset="0"/>
                <a:ea typeface="Inter Medium" panose="02000603000000020004" pitchFamily="2" charset="0"/>
              </a:rPr>
              <a:t>No Springboard Funding</a:t>
            </a:r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D87F62BD-0E4D-FC72-FD6E-D1E8A1306D66}"/>
              </a:ext>
            </a:extLst>
          </p:cNvPr>
          <p:cNvSpPr/>
          <p:nvPr/>
        </p:nvSpPr>
        <p:spPr>
          <a:xfrm rot="10800000">
            <a:off x="2394360" y="3056937"/>
            <a:ext cx="500520" cy="57525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04403E29-AED7-C52D-89A2-C89B4BC09EE3}"/>
              </a:ext>
            </a:extLst>
          </p:cNvPr>
          <p:cNvSpPr/>
          <p:nvPr/>
        </p:nvSpPr>
        <p:spPr>
          <a:xfrm>
            <a:off x="6951528" y="1340863"/>
            <a:ext cx="211708" cy="28762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D19AF6C-4677-93EE-D346-46C720202859}"/>
              </a:ext>
            </a:extLst>
          </p:cNvPr>
          <p:cNvSpPr txBox="1"/>
          <p:nvPr/>
        </p:nvSpPr>
        <p:spPr>
          <a:xfrm>
            <a:off x="9765430" y="3310194"/>
            <a:ext cx="2398572" cy="76264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541338" lvl="1" indent="-530225">
              <a:lnSpc>
                <a:spcPct val="80000"/>
              </a:lnSpc>
              <a:spcBef>
                <a:spcPts val="500"/>
              </a:spcBef>
              <a:buClr>
                <a:srgbClr val="FCCA3A"/>
              </a:buClr>
              <a:buFont typeface=".PingFang SC Regular"/>
              <a:buChar char="－"/>
            </a:pPr>
            <a:r>
              <a:rPr lang="en-IE" b="1" dirty="0">
                <a:solidFill>
                  <a:srgbClr val="435465"/>
                </a:solidFill>
                <a:latin typeface="Inter Medium" panose="02000603000000020004" pitchFamily="2" charset="0"/>
                <a:ea typeface="Inter Medium" panose="02000603000000020004" pitchFamily="2" charset="0"/>
              </a:rPr>
              <a:t>Placement </a:t>
            </a:r>
            <a:br>
              <a:rPr lang="en-IE" b="1" dirty="0">
                <a:solidFill>
                  <a:srgbClr val="435465"/>
                </a:solidFill>
                <a:latin typeface="Inter Medium" panose="02000603000000020004" pitchFamily="2" charset="0"/>
                <a:ea typeface="Inter Medium" panose="02000603000000020004" pitchFamily="2" charset="0"/>
              </a:rPr>
            </a:br>
            <a:r>
              <a:rPr lang="en-IE" b="1" dirty="0">
                <a:solidFill>
                  <a:srgbClr val="435465"/>
                </a:solidFill>
                <a:latin typeface="Inter Medium" panose="02000603000000020004" pitchFamily="2" charset="0"/>
                <a:ea typeface="Inter Medium" panose="02000603000000020004" pitchFamily="2" charset="0"/>
              </a:rPr>
              <a:t>timeframe </a:t>
            </a:r>
            <a:br>
              <a:rPr lang="en-IE" b="1" dirty="0">
                <a:solidFill>
                  <a:srgbClr val="435465"/>
                </a:solidFill>
                <a:latin typeface="Inter Medium" panose="02000603000000020004" pitchFamily="2" charset="0"/>
                <a:ea typeface="Inter Medium" panose="02000603000000020004" pitchFamily="2" charset="0"/>
              </a:rPr>
            </a:br>
            <a:r>
              <a:rPr lang="en-IE" b="1" dirty="0">
                <a:solidFill>
                  <a:srgbClr val="435465"/>
                </a:solidFill>
                <a:latin typeface="Inter Medium" panose="02000603000000020004" pitchFamily="2" charset="0"/>
                <a:ea typeface="Inter Medium" panose="02000603000000020004" pitchFamily="2" charset="0"/>
              </a:rPr>
              <a:t> </a:t>
            </a:r>
            <a:r>
              <a:rPr lang="en-IE" dirty="0">
                <a:solidFill>
                  <a:srgbClr val="435465"/>
                </a:solidFill>
                <a:latin typeface="Inter Medium" panose="02000603000000020004" pitchFamily="2" charset="0"/>
                <a:ea typeface="Inter Medium" panose="02000603000000020004" pitchFamily="2" charset="0"/>
              </a:rPr>
              <a:t>June-Sept</a:t>
            </a:r>
            <a:endParaRPr lang="en-IE" b="1" dirty="0">
              <a:solidFill>
                <a:srgbClr val="435465"/>
              </a:solidFill>
              <a:latin typeface="Inter Medium" panose="02000603000000020004" pitchFamily="2" charset="0"/>
              <a:ea typeface="Inter Medium" panose="02000603000000020004" pitchFamily="2" charset="0"/>
            </a:endParaRPr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3AE1A8AC-5446-C1E9-927B-7A31621C310E}"/>
              </a:ext>
            </a:extLst>
          </p:cNvPr>
          <p:cNvSpPr/>
          <p:nvPr/>
        </p:nvSpPr>
        <p:spPr>
          <a:xfrm rot="10800000">
            <a:off x="10708306" y="2820892"/>
            <a:ext cx="438034" cy="48930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pic>
        <p:nvPicPr>
          <p:cNvPr id="17" name="Picture 1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A3E5E1E-FB81-09C6-0B3B-5A03A9DBF1A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20393" y="1650787"/>
            <a:ext cx="4054974" cy="1546090"/>
          </a:xfrm>
          <a:prstGeom prst="rect">
            <a:avLst/>
          </a:prstGeom>
        </p:spPr>
      </p:pic>
      <p:sp>
        <p:nvSpPr>
          <p:cNvPr id="80" name="TextBox 79">
            <a:extLst>
              <a:ext uri="{FF2B5EF4-FFF2-40B4-BE49-F238E27FC236}">
                <a16:creationId xmlns:a16="http://schemas.microsoft.com/office/drawing/2014/main" id="{C6E798DE-1E17-0E41-5617-F783DA1AB0C8}"/>
              </a:ext>
            </a:extLst>
          </p:cNvPr>
          <p:cNvSpPr txBox="1"/>
          <p:nvPr/>
        </p:nvSpPr>
        <p:spPr>
          <a:xfrm>
            <a:off x="6397073" y="1700454"/>
            <a:ext cx="33683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200" b="1" dirty="0"/>
              <a:t>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2411115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/>
      <p:bldP spid="81" grpId="0"/>
      <p:bldP spid="82" grpId="0"/>
      <p:bldP spid="7" grpId="0"/>
      <p:bldP spid="9" grpId="0"/>
      <p:bldP spid="11" grpId="0"/>
      <p:bldP spid="13" grpId="0"/>
      <p:bldP spid="14" grpId="0"/>
      <p:bldP spid="18" grpId="0" animBg="1"/>
      <p:bldP spid="20" grpId="0" animBg="1"/>
      <p:bldP spid="21" grpId="0" animBg="1"/>
      <p:bldP spid="22" grpId="0" animBg="1"/>
      <p:bldP spid="24" grpId="0" animBg="1"/>
      <p:bldP spid="27" grpId="0" animBg="1"/>
      <p:bldP spid="8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BBC5B-4797-4FFE-EDB1-5EFD2A349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66E224E-3469-CBD8-C8AE-59B1ACD12A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7838" y="2177856"/>
            <a:ext cx="4054974" cy="1396708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01EEE2-DF9B-7135-FBB1-19B52CCAA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963553" y="6134664"/>
            <a:ext cx="1387997" cy="180000"/>
          </a:xfrm>
        </p:spPr>
        <p:txBody>
          <a:bodyPr/>
          <a:lstStyle/>
          <a:p>
            <a:r>
              <a:rPr lang="en-IE" dirty="0"/>
              <a:t>setu.ie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5F9C55-7A93-25C6-3297-3B4516356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5898" y="6175890"/>
            <a:ext cx="456449" cy="180000"/>
          </a:xfrm>
        </p:spPr>
        <p:txBody>
          <a:bodyPr/>
          <a:lstStyle/>
          <a:p>
            <a:fld id="{95850013-0FED-DB4F-A95E-FFF4A5127B9C}" type="slidenum">
              <a:rPr lang="en-IE" smtClean="0"/>
              <a:t>4</a:t>
            </a:fld>
            <a:endParaRPr lang="en-I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1A721F-DBB6-7D97-4F01-81B1B8A82727}"/>
              </a:ext>
            </a:extLst>
          </p:cNvPr>
          <p:cNvSpPr txBox="1"/>
          <p:nvPr/>
        </p:nvSpPr>
        <p:spPr>
          <a:xfrm>
            <a:off x="1327314" y="127837"/>
            <a:ext cx="10023515" cy="12613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GB" sz="2800" b="1" dirty="0">
                <a:solidFill>
                  <a:srgbClr val="435465"/>
                </a:solidFill>
                <a:latin typeface="DM Sans" pitchFamily="2" charset="77"/>
                <a:ea typeface="+mj-ea"/>
                <a:cs typeface="+mj-cs"/>
              </a:rPr>
              <a:t>2. Cert in Computer </a:t>
            </a:r>
            <a:br>
              <a:rPr lang="en-GB" sz="2800" b="1" dirty="0">
                <a:solidFill>
                  <a:srgbClr val="435465"/>
                </a:solidFill>
                <a:latin typeface="DM Sans" pitchFamily="2" charset="77"/>
                <a:ea typeface="+mj-ea"/>
                <a:cs typeface="+mj-cs"/>
              </a:rPr>
            </a:br>
            <a:r>
              <a:rPr lang="en-GB" sz="2800" b="1" dirty="0">
                <a:solidFill>
                  <a:srgbClr val="435465"/>
                </a:solidFill>
                <a:latin typeface="DM Sans" pitchFamily="2" charset="77"/>
                <a:ea typeface="+mj-ea"/>
                <a:cs typeface="+mj-cs"/>
              </a:rPr>
              <a:t>Science:</a:t>
            </a:r>
            <a:br>
              <a:rPr lang="en-GB" sz="2800" b="1" dirty="0">
                <a:solidFill>
                  <a:srgbClr val="435465"/>
                </a:solidFill>
                <a:latin typeface="DM Sans" pitchFamily="2" charset="77"/>
                <a:ea typeface="+mj-ea"/>
                <a:cs typeface="+mj-cs"/>
              </a:rPr>
            </a:br>
            <a:r>
              <a:rPr lang="en-GB" sz="2800" b="1" dirty="0">
                <a:solidFill>
                  <a:srgbClr val="435465"/>
                </a:solidFill>
                <a:latin typeface="DM Sans" pitchFamily="2" charset="77"/>
                <a:ea typeface="+mj-ea"/>
                <a:cs typeface="+mj-cs"/>
              </a:rPr>
              <a:t>Specialism Cert Progression</a:t>
            </a:r>
            <a:endParaRPr lang="en-IE" sz="2800" b="1" dirty="0">
              <a:solidFill>
                <a:srgbClr val="435465"/>
              </a:solidFill>
              <a:latin typeface="DM Sans" pitchFamily="2" charset="77"/>
              <a:ea typeface="+mj-ea"/>
              <a:cs typeface="+mj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1EC4241-CC50-E695-46A8-B73776EE47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552" y="2214869"/>
            <a:ext cx="4077523" cy="1472064"/>
          </a:xfrm>
          <a:prstGeom prst="rect">
            <a:avLst/>
          </a:prstGeom>
        </p:spPr>
      </p:pic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23D0AF5-0A3F-49CB-04A6-089CC1ADB509}"/>
              </a:ext>
            </a:extLst>
          </p:cNvPr>
          <p:cNvCxnSpPr>
            <a:cxnSpLocks/>
          </p:cNvCxnSpPr>
          <p:nvPr/>
        </p:nvCxnSpPr>
        <p:spPr>
          <a:xfrm>
            <a:off x="4688140" y="2950901"/>
            <a:ext cx="6140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FC658BF4-7CAA-9511-3D12-15DCDEFF11C6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4692075" y="2950901"/>
            <a:ext cx="614001" cy="1314835"/>
          </a:xfrm>
          <a:prstGeom prst="bentConnector3">
            <a:avLst>
              <a:gd name="adj1" fmla="val 3916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93B2DA28-6C32-FDE7-189E-90525F63F4EA}"/>
              </a:ext>
            </a:extLst>
          </p:cNvPr>
          <p:cNvCxnSpPr>
            <a:cxnSpLocks/>
          </p:cNvCxnSpPr>
          <p:nvPr/>
        </p:nvCxnSpPr>
        <p:spPr>
          <a:xfrm rot="16200000" flipH="1">
            <a:off x="4335255" y="4842540"/>
            <a:ext cx="1563153" cy="37062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5" name="Picture 54">
            <a:extLst>
              <a:ext uri="{FF2B5EF4-FFF2-40B4-BE49-F238E27FC236}">
                <a16:creationId xmlns:a16="http://schemas.microsoft.com/office/drawing/2014/main" id="{32124C16-FBE7-F2C6-386B-D8C5ECC5379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832"/>
          <a:stretch>
            <a:fillRect/>
          </a:stretch>
        </p:blipFill>
        <p:spPr>
          <a:xfrm>
            <a:off x="5306078" y="3663032"/>
            <a:ext cx="4094910" cy="1516165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1E6EAF7D-63F0-9970-74CB-06FCC606F1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6078" y="5114846"/>
            <a:ext cx="4086678" cy="1563154"/>
          </a:xfrm>
          <a:prstGeom prst="rect">
            <a:avLst/>
          </a:prstGeom>
        </p:spPr>
      </p:pic>
      <p:sp>
        <p:nvSpPr>
          <p:cNvPr id="79" name="TextBox 78">
            <a:extLst>
              <a:ext uri="{FF2B5EF4-FFF2-40B4-BE49-F238E27FC236}">
                <a16:creationId xmlns:a16="http://schemas.microsoft.com/office/drawing/2014/main" id="{E0DFD066-81D1-4B91-74C5-D98A20538BF4}"/>
              </a:ext>
            </a:extLst>
          </p:cNvPr>
          <p:cNvSpPr txBox="1"/>
          <p:nvPr/>
        </p:nvSpPr>
        <p:spPr>
          <a:xfrm>
            <a:off x="1942016" y="2224738"/>
            <a:ext cx="33683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200" b="1" dirty="0"/>
              <a:t>General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928FD5C-7966-BA2E-D94B-79239F690761}"/>
              </a:ext>
            </a:extLst>
          </p:cNvPr>
          <p:cNvSpPr txBox="1"/>
          <p:nvPr/>
        </p:nvSpPr>
        <p:spPr>
          <a:xfrm>
            <a:off x="6024399" y="2214869"/>
            <a:ext cx="33683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200" b="1" dirty="0"/>
              <a:t>Software Engineering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FA3F997-F65D-9C26-599B-C2C948A039A4}"/>
              </a:ext>
            </a:extLst>
          </p:cNvPr>
          <p:cNvSpPr txBox="1"/>
          <p:nvPr/>
        </p:nvSpPr>
        <p:spPr>
          <a:xfrm>
            <a:off x="6040861" y="3708543"/>
            <a:ext cx="45258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100" b="1" dirty="0"/>
              <a:t>Artificial Intelligence &amp; Machine Learning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09FF14F-7D75-F86A-C8F4-E561341B9A0B}"/>
              </a:ext>
            </a:extLst>
          </p:cNvPr>
          <p:cNvSpPr txBox="1"/>
          <p:nvPr/>
        </p:nvSpPr>
        <p:spPr>
          <a:xfrm>
            <a:off x="6040861" y="5144966"/>
            <a:ext cx="33683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200" b="1" dirty="0"/>
              <a:t>Cyber Security and Forensics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18443F-D5E8-57A4-50F1-FA565B8FFF9D}"/>
              </a:ext>
            </a:extLst>
          </p:cNvPr>
          <p:cNvSpPr txBox="1"/>
          <p:nvPr/>
        </p:nvSpPr>
        <p:spPr>
          <a:xfrm>
            <a:off x="882032" y="1826387"/>
            <a:ext cx="890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Sept 25</a:t>
            </a:r>
            <a:endParaRPr lang="en-I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5CCC5D-DE4E-46C6-8461-32F762B13681}"/>
              </a:ext>
            </a:extLst>
          </p:cNvPr>
          <p:cNvSpPr txBox="1"/>
          <p:nvPr/>
        </p:nvSpPr>
        <p:spPr>
          <a:xfrm>
            <a:off x="5393899" y="1863086"/>
            <a:ext cx="890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Sept 26</a:t>
            </a:r>
            <a:endParaRPr lang="en-I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9CFD33-67ED-93C1-7314-9E3C86837A4E}"/>
              </a:ext>
            </a:extLst>
          </p:cNvPr>
          <p:cNvSpPr txBox="1"/>
          <p:nvPr/>
        </p:nvSpPr>
        <p:spPr>
          <a:xfrm>
            <a:off x="2653313" y="1815087"/>
            <a:ext cx="777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Jan 26</a:t>
            </a:r>
            <a:endParaRPr lang="en-IE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82330E-4E5B-0336-1928-3E25E373CD69}"/>
              </a:ext>
            </a:extLst>
          </p:cNvPr>
          <p:cNvSpPr txBox="1"/>
          <p:nvPr/>
        </p:nvSpPr>
        <p:spPr>
          <a:xfrm>
            <a:off x="7359795" y="1862768"/>
            <a:ext cx="777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Jan 27</a:t>
            </a:r>
            <a:endParaRPr lang="en-IE" dirty="0"/>
          </a:p>
        </p:txBody>
      </p:sp>
      <p:pic>
        <p:nvPicPr>
          <p:cNvPr id="1028" name="Picture 4" descr=" Certificate in Computer Science 2025">
            <a:extLst>
              <a:ext uri="{FF2B5EF4-FFF2-40B4-BE49-F238E27FC236}">
                <a16:creationId xmlns:a16="http://schemas.microsoft.com/office/drawing/2014/main" id="{32A523E2-C83D-1B06-36AB-86F7951B4F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680" y="298738"/>
            <a:ext cx="810703" cy="810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2091254-3AE1-D517-7E4C-B09E24322177}"/>
              </a:ext>
            </a:extLst>
          </p:cNvPr>
          <p:cNvSpPr txBox="1"/>
          <p:nvPr/>
        </p:nvSpPr>
        <p:spPr>
          <a:xfrm>
            <a:off x="732562" y="4310122"/>
            <a:ext cx="3514318" cy="109824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541338" lvl="1" indent="-530225">
              <a:lnSpc>
                <a:spcPct val="80000"/>
              </a:lnSpc>
              <a:spcBef>
                <a:spcPts val="500"/>
              </a:spcBef>
              <a:buClr>
                <a:srgbClr val="FCCA3A"/>
              </a:buClr>
              <a:buFont typeface=".PingFang SC Regular"/>
              <a:buChar char="－"/>
            </a:pPr>
            <a:r>
              <a:rPr lang="en-GB" dirty="0">
                <a:solidFill>
                  <a:srgbClr val="435465"/>
                </a:solidFill>
                <a:latin typeface="Inter Medium" panose="02000603000000020004" pitchFamily="2" charset="0"/>
              </a:rPr>
              <a:t>Springboard Funded</a:t>
            </a:r>
          </a:p>
          <a:p>
            <a:pPr marL="541338" lvl="1" indent="-530225">
              <a:lnSpc>
                <a:spcPct val="80000"/>
              </a:lnSpc>
              <a:spcBef>
                <a:spcPts val="500"/>
              </a:spcBef>
              <a:buClr>
                <a:srgbClr val="FCCA3A"/>
              </a:buClr>
              <a:buFont typeface=".PingFang SC Regular"/>
              <a:buChar char="－"/>
            </a:pPr>
            <a:r>
              <a:rPr lang="en-GB" dirty="0">
                <a:solidFill>
                  <a:srgbClr val="435465"/>
                </a:solidFill>
                <a:latin typeface="Inter Medium" panose="02000603000000020004" pitchFamily="2" charset="0"/>
              </a:rPr>
              <a:t>1 year  Computer Science Fundamentals</a:t>
            </a:r>
            <a:endParaRPr lang="en-IE" dirty="0">
              <a:solidFill>
                <a:srgbClr val="435465"/>
              </a:solidFill>
              <a:latin typeface="Inter Medium" panose="02000603000000020004" pitchFamily="2" charset="0"/>
            </a:endParaRPr>
          </a:p>
          <a:p>
            <a:endParaRPr lang="en-IE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D8E7130-B02B-3498-516A-B0605E22A0BA}"/>
              </a:ext>
            </a:extLst>
          </p:cNvPr>
          <p:cNvSpPr txBox="1"/>
          <p:nvPr/>
        </p:nvSpPr>
        <p:spPr>
          <a:xfrm>
            <a:off x="6610408" y="409855"/>
            <a:ext cx="3043525" cy="89088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marL="541338" lvl="1" indent="-530225">
              <a:lnSpc>
                <a:spcPct val="80000"/>
              </a:lnSpc>
              <a:spcBef>
                <a:spcPts val="500"/>
              </a:spcBef>
              <a:buClr>
                <a:srgbClr val="FCCA3A"/>
              </a:buClr>
              <a:buFont typeface=".PingFang SC Regular"/>
              <a:buChar char="－"/>
            </a:pPr>
            <a:r>
              <a:rPr lang="en-IE" b="1" dirty="0">
                <a:solidFill>
                  <a:srgbClr val="435465"/>
                </a:solidFill>
                <a:latin typeface="Inter Medium" panose="02000603000000020004" pitchFamily="2" charset="0"/>
                <a:ea typeface="Inter Medium" panose="02000603000000020004" pitchFamily="2" charset="0"/>
              </a:rPr>
              <a:t>Cert Required</a:t>
            </a:r>
            <a:endParaRPr lang="en-IE" dirty="0">
              <a:solidFill>
                <a:srgbClr val="435465"/>
              </a:solidFill>
              <a:latin typeface="Inter Medium" panose="02000603000000020004" pitchFamily="2" charset="0"/>
              <a:ea typeface="Inter Medium" panose="02000603000000020004" pitchFamily="2" charset="0"/>
            </a:endParaRPr>
          </a:p>
          <a:p>
            <a:pPr marL="541338" lvl="1" indent="-530225">
              <a:lnSpc>
                <a:spcPct val="80000"/>
              </a:lnSpc>
              <a:spcBef>
                <a:spcPts val="500"/>
              </a:spcBef>
              <a:buClr>
                <a:srgbClr val="FCCA3A"/>
              </a:buClr>
              <a:buFont typeface=".PingFang SC Regular"/>
              <a:buChar char="－"/>
            </a:pPr>
            <a:r>
              <a:rPr lang="en-IE" b="1" dirty="0">
                <a:solidFill>
                  <a:srgbClr val="435465"/>
                </a:solidFill>
                <a:latin typeface="Inter Medium" panose="02000603000000020004" pitchFamily="2" charset="0"/>
                <a:ea typeface="Inter Medium" panose="02000603000000020004" pitchFamily="2" charset="0"/>
              </a:rPr>
              <a:t>No Springboard Funding</a:t>
            </a:r>
          </a:p>
          <a:p>
            <a:pPr marL="541338" lvl="1" indent="-530225">
              <a:lnSpc>
                <a:spcPct val="80000"/>
              </a:lnSpc>
              <a:spcBef>
                <a:spcPts val="500"/>
              </a:spcBef>
              <a:buClr>
                <a:srgbClr val="FCCA3A"/>
              </a:buClr>
              <a:buFont typeface=".PingFang SC Regular"/>
              <a:buChar char="－"/>
            </a:pPr>
            <a:r>
              <a:rPr lang="en-IE" b="1" dirty="0">
                <a:solidFill>
                  <a:srgbClr val="435465"/>
                </a:solidFill>
                <a:latin typeface="Inter Medium" panose="02000603000000020004" pitchFamily="2" charset="0"/>
                <a:ea typeface="Inter Medium" panose="02000603000000020004" pitchFamily="2" charset="0"/>
              </a:rPr>
              <a:t>No Project/Placement</a:t>
            </a:r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443A2CA5-08F2-0A27-BA3C-8558C372F544}"/>
              </a:ext>
            </a:extLst>
          </p:cNvPr>
          <p:cNvSpPr/>
          <p:nvPr/>
        </p:nvSpPr>
        <p:spPr>
          <a:xfrm rot="10800000">
            <a:off x="2394360" y="3690485"/>
            <a:ext cx="500520" cy="57525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DA5A94B5-AB57-9BE7-7F33-10B0AF003552}"/>
              </a:ext>
            </a:extLst>
          </p:cNvPr>
          <p:cNvSpPr/>
          <p:nvPr/>
        </p:nvSpPr>
        <p:spPr>
          <a:xfrm>
            <a:off x="6848897" y="1487583"/>
            <a:ext cx="500520" cy="57525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03561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/>
      <p:bldP spid="80" grpId="0"/>
      <p:bldP spid="81" grpId="0"/>
      <p:bldP spid="82" grpId="0"/>
      <p:bldP spid="7" grpId="0"/>
      <p:bldP spid="9" grpId="0"/>
      <p:bldP spid="11" grpId="0"/>
      <p:bldP spid="14" grpId="0"/>
      <p:bldP spid="18" grpId="0" animBg="1"/>
      <p:bldP spid="20" grpId="0" animBg="1"/>
      <p:bldP spid="21" grpId="0" animBg="1"/>
      <p:bldP spid="2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77AC2-D5FA-96A6-CA30-CBA326FA4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Engineering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269074-9C99-E561-0D82-EB27129737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GB" b="1" dirty="0"/>
              <a:t>Stage 2 of the existing </a:t>
            </a:r>
            <a:r>
              <a:rPr lang="en-GB" b="1" dirty="0" err="1"/>
              <a:t>HDip</a:t>
            </a:r>
            <a:r>
              <a:rPr lang="en-GB" dirty="0"/>
              <a:t>, retaining core modules but redesigned to integrate AI tools, techniques, and industry practices.</a:t>
            </a:r>
          </a:p>
          <a:p>
            <a:r>
              <a:rPr lang="en-GB" b="1" dirty="0"/>
              <a:t>Strong industry alignment</a:t>
            </a:r>
            <a:r>
              <a:rPr lang="en-GB" dirty="0"/>
              <a:t>, with continuous monitoring of trends and guidance from core industry partners.</a:t>
            </a:r>
          </a:p>
          <a:p>
            <a:r>
              <a:rPr lang="en-GB" b="1" dirty="0"/>
              <a:t>AI-augmented development</a:t>
            </a:r>
          </a:p>
          <a:p>
            <a:r>
              <a:rPr lang="en-GB" dirty="0"/>
              <a:t>Emphasis on developer expertise and judgement</a:t>
            </a:r>
          </a:p>
          <a:p>
            <a:r>
              <a:rPr lang="en-GB" b="1" dirty="0"/>
              <a:t>Practical curriculum</a:t>
            </a:r>
            <a:r>
              <a:rPr lang="en-GB" dirty="0"/>
              <a:t> covering modern full-stack, cloud, microservices, testing, DevOps, and mobile development, reflecting major changes of the last 5 years.</a:t>
            </a:r>
          </a:p>
          <a:p>
            <a:r>
              <a:rPr lang="en-GB" b="1" dirty="0"/>
              <a:t>Elective Choice: </a:t>
            </a:r>
            <a:r>
              <a:rPr lang="en-GB" dirty="0"/>
              <a:t>Mobile App Dev OR Software Security &amp; Forensics in Sem 2</a:t>
            </a:r>
            <a:endParaRPr lang="en-I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3C19D3-3206-140F-6C8B-DF22625C3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setu.ie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5744AC-299B-17B3-7839-90CB1964F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50013-0FED-DB4F-A95E-FFF4A5127B9C}" type="slidenum">
              <a:rPr lang="en-IE" smtClean="0"/>
              <a:t>5</a:t>
            </a:fld>
            <a:endParaRPr lang="en-IE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20F0705-19D5-DC88-B940-7E30ED183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166" y="2388028"/>
            <a:ext cx="4054974" cy="15460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7C8CF6A-6778-D59E-6C23-FBB05FC83079}"/>
              </a:ext>
            </a:extLst>
          </p:cNvPr>
          <p:cNvSpPr txBox="1"/>
          <p:nvPr/>
        </p:nvSpPr>
        <p:spPr>
          <a:xfrm>
            <a:off x="1811386" y="2394790"/>
            <a:ext cx="33683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200" b="1" dirty="0"/>
              <a:t>Software Engineering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14F73380-7381-53DC-6663-E76C96A14F3B}"/>
              </a:ext>
            </a:extLst>
          </p:cNvPr>
          <p:cNvSpPr/>
          <p:nvPr/>
        </p:nvSpPr>
        <p:spPr>
          <a:xfrm rot="12466278">
            <a:off x="4381083" y="4194675"/>
            <a:ext cx="1433002" cy="30380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87813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26681-5768-A94F-319F-294ED2D2F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999" y="719999"/>
            <a:ext cx="4376675" cy="3348000"/>
          </a:xfrm>
        </p:spPr>
        <p:txBody>
          <a:bodyPr/>
          <a:lstStyle/>
          <a:p>
            <a:r>
              <a:rPr lang="en-IE" dirty="0"/>
              <a:t>Cybersecurity and Forensics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273D8-8E5E-3525-4519-471F7F3F72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Hands-on, practical focus</a:t>
            </a:r>
            <a:r>
              <a:rPr lang="en-GB" dirty="0"/>
              <a:t> on threat detection, secure coding, digital forensics, and regulatory compliance.</a:t>
            </a:r>
          </a:p>
          <a:p>
            <a:r>
              <a:rPr lang="en-GB" b="1" dirty="0"/>
              <a:t>Industry-driven curriculum</a:t>
            </a:r>
            <a:r>
              <a:rPr lang="en-GB" dirty="0"/>
              <a:t> designed to meet current and emerging cybersecurity workforce needs.</a:t>
            </a:r>
          </a:p>
          <a:p>
            <a:r>
              <a:rPr lang="en-GB" b="1" dirty="0"/>
              <a:t>Supports reskilling and career transition</a:t>
            </a:r>
            <a:r>
              <a:rPr lang="en-GB" dirty="0"/>
              <a:t> into high-demand cybersecurity roles.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B3887E-649B-9CCB-3767-F9A22E31C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setu.ie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0060C1-F6B7-A73B-1E6F-7BD30F0CF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50013-0FED-DB4F-A95E-FFF4A5127B9C}" type="slidenum">
              <a:rPr lang="en-IE" smtClean="0"/>
              <a:t>6</a:t>
            </a:fld>
            <a:endParaRPr lang="en-IE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C4A9C28-69F2-653A-D04B-66C93FDB8DD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990" y="2342119"/>
            <a:ext cx="4194742" cy="1550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353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BAB14-B10C-5C2F-106E-58D18FBB4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AI and Machine Learning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AC174-59A5-222C-4003-DD37F1F55E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Hands-on focus</a:t>
            </a:r>
            <a:r>
              <a:rPr lang="en-GB" dirty="0"/>
              <a:t> on AI model development, data handling, ML infrastructure, and performance optimisation</a:t>
            </a:r>
          </a:p>
          <a:p>
            <a:r>
              <a:rPr lang="en-GB" b="1" dirty="0"/>
              <a:t>Industry-aligned curriculum</a:t>
            </a:r>
            <a:r>
              <a:rPr lang="en-GB" dirty="0"/>
              <a:t> addressing real-world AI/ML engineering needs across sectors</a:t>
            </a:r>
          </a:p>
          <a:p>
            <a:r>
              <a:rPr lang="en-GB" b="1" dirty="0"/>
              <a:t>Rigorous, practical learning experience</a:t>
            </a:r>
            <a:r>
              <a:rPr lang="en-GB" dirty="0"/>
              <a:t> designed for workplace relevance</a:t>
            </a:r>
          </a:p>
          <a:p>
            <a:r>
              <a:rPr lang="en-GB" b="1" dirty="0"/>
              <a:t>Supports upskilling and reskilling </a:t>
            </a:r>
            <a:r>
              <a:rPr lang="en-GB" dirty="0"/>
              <a:t>into high-demand AI engineering roles</a:t>
            </a:r>
            <a:endParaRPr lang="en-I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7DE337-B905-EDBE-A50B-0A9E5FF3A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setu.ie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5A6868-A2B3-1F3D-535D-01568A473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50013-0FED-DB4F-A95E-FFF4A5127B9C}" type="slidenum">
              <a:rPr lang="en-IE" smtClean="0"/>
              <a:t>7</a:t>
            </a:fld>
            <a:endParaRPr lang="en-IE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43883CB-444A-765E-E2CF-1481643CA2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59" y="2905190"/>
            <a:ext cx="4551276" cy="1582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1483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ETU PowerPoint Template (Purple)" id="{474F3846-BAA5-384B-B021-4577DA3A1E10}" vid="{7D99CD64-B3B0-9F47-9396-2B92AFE1957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2604f75-035f-4bcf-b8d3-05bab17d453d">
      <Terms xmlns="http://schemas.microsoft.com/office/infopath/2007/PartnerControls"/>
    </lcf76f155ced4ddcb4097134ff3c332f>
    <TaxCatchAll xmlns="e6b9e509-b424-4da0-b943-ec4d48415bba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21EDCB449F27409E57881B74983F07" ma:contentTypeVersion="15" ma:contentTypeDescription="Create a new document." ma:contentTypeScope="" ma:versionID="e8cbf1bc234d9e75b3fb47cf0ddbe8d2">
  <xsd:schema xmlns:xsd="http://www.w3.org/2001/XMLSchema" xmlns:xs="http://www.w3.org/2001/XMLSchema" xmlns:p="http://schemas.microsoft.com/office/2006/metadata/properties" xmlns:ns2="c2604f75-035f-4bcf-b8d3-05bab17d453d" xmlns:ns3="e6b9e509-b424-4da0-b943-ec4d48415bba" targetNamespace="http://schemas.microsoft.com/office/2006/metadata/properties" ma:root="true" ma:fieldsID="cb20f4739b4a7f2dc429abb756e3d79e" ns2:_="" ns3:_="">
    <xsd:import namespace="c2604f75-035f-4bcf-b8d3-05bab17d453d"/>
    <xsd:import namespace="e6b9e509-b424-4da0-b943-ec4d48415bb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2604f75-035f-4bcf-b8d3-05bab17d453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bddb5b50-755e-41d6-8a3f-9a0e5bc6dc6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b9e509-b424-4da0-b943-ec4d48415bba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58c067be-7639-43bd-96c4-89d39a4ba8b5}" ma:internalName="TaxCatchAll" ma:showField="CatchAllData" ma:web="e6b9e509-b424-4da0-b943-ec4d48415bb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68CD22B-FC50-4133-B8A8-D875165869F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546DA6C-89EC-4967-8C19-7EBFCAA2A1F8}">
  <ds:schemaRefs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c2604f75-035f-4bcf-b8d3-05bab17d453d"/>
    <ds:schemaRef ds:uri="http://schemas.microsoft.com/office/2006/metadata/properties"/>
    <ds:schemaRef ds:uri="e6b9e509-b424-4da0-b943-ec4d48415bba"/>
    <ds:schemaRef ds:uri="http://www.w3.org/XML/1998/namespace"/>
    <ds:schemaRef ds:uri="http://schemas.microsoft.com/office/infopath/2007/PartnerControls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D4F77FB5-FDA5-4BDF-9B87-8F7258BB9D9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2604f75-035f-4bcf-b8d3-05bab17d453d"/>
    <ds:schemaRef ds:uri="e6b9e509-b424-4da0-b943-ec4d48415bb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360</Words>
  <Application>Microsoft Office PowerPoint</Application>
  <PresentationFormat>Widescreen</PresentationFormat>
  <Paragraphs>63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.PingFang SC Regular</vt:lpstr>
      <vt:lpstr>Arial</vt:lpstr>
      <vt:lpstr>Calibri</vt:lpstr>
      <vt:lpstr>DM Sans</vt:lpstr>
      <vt:lpstr>Inter Medium</vt:lpstr>
      <vt:lpstr>Office Theme</vt:lpstr>
      <vt:lpstr>HDip/Cert in Computer Science Progression Pathways   Department of Computing and Mathematics   15/12/2025</vt:lpstr>
      <vt:lpstr>What are the options at SETU once I finish the Cert? </vt:lpstr>
      <vt:lpstr>PowerPoint Presentation</vt:lpstr>
      <vt:lpstr>PowerPoint Presentation</vt:lpstr>
      <vt:lpstr>Software Engineering</vt:lpstr>
      <vt:lpstr>Cybersecurity and Forensics</vt:lpstr>
      <vt:lpstr>AI and Machine Learning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Alan Davy</dc:creator>
  <cp:lastModifiedBy>Frank Walsh</cp:lastModifiedBy>
  <cp:revision>29</cp:revision>
  <dcterms:created xsi:type="dcterms:W3CDTF">2025-06-05T14:27:31Z</dcterms:created>
  <dcterms:modified xsi:type="dcterms:W3CDTF">2026-01-27T15:10:31Z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0x0101005121EDCB449F27409E57881B74983F07</vt:lpwstr>
  </property>
  <property fmtid="{D5CDD505-2E9C-101B-9397-08002B2CF9AE}" pid="3" name="MediaServiceImageTags">
    <vt:lpwstr/>
  </property>
</Properties>
</file>