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136" y="14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4" name="Shape 15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These cards are links to individual module home pages for that semester.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2" name="Shape 2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When you access a link, you are brought to the course homepage for that module.</a:t>
            </a:r>
          </a:p>
          <a:p>
            <a:r>
              <a:t>This is, again, broken down into cards, and it also has a more useful and contextual navigation bar than on the programme homepage.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4" name="Shape 2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the middle of the navigation bar is the course calendar - with the current week and a button to open the sidebar to show the course calendar.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3" name="Shape 2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Opens a dropdown allowing the learner to change the look and feel of Tutors, such as …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2" name="Shape 2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Toggling light / dark mode, setting a compact UI layout &amp; changing to one of our custom themes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7" name="Shape 2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 the course homepage, the course os broken down into topic cards, which 1 card representing each topic (or week).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" name="Shape 2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then goes into the single topic page.</a:t>
            </a:r>
          </a:p>
          <a:p>
            <a:endParaRPr/>
          </a:p>
          <a:p>
            <a:r>
              <a:t>At the top, there is the topic video, which can be a pre-recorded video uploaded to the likes of YouTube, Vimeo, HEAnet..</a:t>
            </a:r>
          </a:p>
          <a:p>
            <a:r>
              <a:t>or a YouTube live stream - which is then recorded for so if a learner misses the live lecture they can playback later &amp; it can be played at different speeds with subtitles etc.</a:t>
            </a:r>
          </a:p>
          <a:p>
            <a:r>
              <a:t>Underneath, there are sub-topic sections.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7" name="Shape 2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sub topic is broken down into cards, which can link you to the talk slides, labs - and if the talk slides have a single video, a video icon is shown at the top right of the card.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>
            <a:off x="3851671" y="6679406"/>
            <a:ext cx="16689508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3851671" y="1857375"/>
            <a:ext cx="16680658" cy="446484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51671" y="7054453"/>
            <a:ext cx="16680658" cy="14287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13656469" y="11215686"/>
            <a:ext cx="1" cy="20004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" name="dv1989002_2917x1947.jpeg"/>
          <p:cNvSpPr>
            <a:spLocks noGrp="1"/>
          </p:cNvSpPr>
          <p:nvPr>
            <p:ph type="pic" idx="21"/>
          </p:nvPr>
        </p:nvSpPr>
        <p:spPr>
          <a:xfrm>
            <a:off x="3048000" y="-35719"/>
            <a:ext cx="18288000" cy="108637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5030390" y="10947796"/>
            <a:ext cx="8143876" cy="2393158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085093" y="11912203"/>
            <a:ext cx="6965157" cy="7143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3851671" y="4625578"/>
            <a:ext cx="16680658" cy="4464844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"/>
          <p:cNvSpPr/>
          <p:nvPr/>
        </p:nvSpPr>
        <p:spPr>
          <a:xfrm>
            <a:off x="3851671" y="6840140"/>
            <a:ext cx="7501607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2" name="dv1989002_2917x1947.jpeg"/>
          <p:cNvSpPr>
            <a:spLocks noGrp="1"/>
          </p:cNvSpPr>
          <p:nvPr>
            <p:ph type="pic" idx="21"/>
          </p:nvPr>
        </p:nvSpPr>
        <p:spPr>
          <a:xfrm>
            <a:off x="9763125" y="0"/>
            <a:ext cx="21645563" cy="137338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3851671" y="2018109"/>
            <a:ext cx="7500939" cy="446484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51671" y="7215187"/>
            <a:ext cx="7500939" cy="446484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"/>
          <p:cNvSpPr/>
          <p:nvPr/>
        </p:nvSpPr>
        <p:spPr>
          <a:xfrm>
            <a:off x="3851671" y="2768203"/>
            <a:ext cx="7134460" cy="18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0" name="stk213280rke_1478x2200.jpeg"/>
          <p:cNvSpPr>
            <a:spLocks noGrp="1"/>
          </p:cNvSpPr>
          <p:nvPr>
            <p:ph type="pic" sz="half" idx="21"/>
          </p:nvPr>
        </p:nvSpPr>
        <p:spPr>
          <a:xfrm>
            <a:off x="12156281" y="-214313"/>
            <a:ext cx="9358313" cy="1393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7143751" cy="196453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51671" y="3125390"/>
            <a:ext cx="7143751" cy="9376173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4200"/>
              </a:spcBef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787400" indent="-457200">
              <a:spcBef>
                <a:spcPts val="4200"/>
              </a:spcBef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117600" indent="-457200">
              <a:spcBef>
                <a:spcPts val="4200"/>
              </a:spcBef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447800" indent="-457200">
              <a:spcBef>
                <a:spcPts val="4200"/>
              </a:spcBef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778000" indent="-457200">
              <a:spcBef>
                <a:spcPts val="4200"/>
              </a:spcBef>
              <a:defRPr sz="3600"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01"/>
          <p:cNvSpPr txBox="1">
            <a:spLocks noGrp="1"/>
          </p:cNvSpPr>
          <p:nvPr>
            <p:ph type="sldNum" sz="quarter" idx="2"/>
          </p:nvPr>
        </p:nvSpPr>
        <p:spPr>
          <a:xfrm>
            <a:off x="3766232" y="12930187"/>
            <a:ext cx="409779" cy="4158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One…"/>
          <p:cNvSpPr txBox="1">
            <a:spLocks noGrp="1"/>
          </p:cNvSpPr>
          <p:nvPr>
            <p:ph type="body" idx="1"/>
          </p:nvPr>
        </p:nvSpPr>
        <p:spPr>
          <a:xfrm>
            <a:off x="4298156" y="1250156"/>
            <a:ext cx="15769829" cy="11197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</a:defRPr>
            </a:lvl1pPr>
            <a:lvl2pPr>
              <a:defRPr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</a:defRPr>
            </a:lvl2pPr>
            <a:lvl3pPr>
              <a:defRPr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</a:defRPr>
            </a:lvl3pPr>
            <a:lvl4pPr>
              <a:defRPr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</a:defRPr>
            </a:lvl4pPr>
            <a:lvl5pPr>
              <a:defRPr>
                <a:solidFill>
                  <a:schemeClr val="accent1">
                    <a:hueOff val="-611180"/>
                    <a:satOff val="24879"/>
                    <a:lumOff val="-26847"/>
                  </a:schemeClr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ine"/>
          <p:cNvSpPr/>
          <p:nvPr/>
        </p:nvSpPr>
        <p:spPr>
          <a:xfrm flipH="1">
            <a:off x="15781732" y="714375"/>
            <a:ext cx="180" cy="112157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9" name="Line"/>
          <p:cNvSpPr/>
          <p:nvPr/>
        </p:nvSpPr>
        <p:spPr>
          <a:xfrm>
            <a:off x="15781729" y="6277570"/>
            <a:ext cx="4849457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0" name="phaagb000019_1928x1287.jpeg"/>
          <p:cNvSpPr>
            <a:spLocks noGrp="1"/>
          </p:cNvSpPr>
          <p:nvPr>
            <p:ph type="pic" sz="quarter" idx="21"/>
          </p:nvPr>
        </p:nvSpPr>
        <p:spPr>
          <a:xfrm>
            <a:off x="15940516" y="6447358"/>
            <a:ext cx="9149996" cy="61079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tk213280rke_1478x2200.jpeg"/>
          <p:cNvSpPr>
            <a:spLocks noGrp="1"/>
          </p:cNvSpPr>
          <p:nvPr>
            <p:ph type="pic" sz="quarter" idx="22"/>
          </p:nvPr>
        </p:nvSpPr>
        <p:spPr>
          <a:xfrm>
            <a:off x="15960328" y="-142875"/>
            <a:ext cx="4732735" cy="70365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200171796-001_2955x2154.jpeg"/>
          <p:cNvSpPr>
            <a:spLocks noGrp="1"/>
          </p:cNvSpPr>
          <p:nvPr>
            <p:ph type="pic" idx="23"/>
          </p:nvPr>
        </p:nvSpPr>
        <p:spPr>
          <a:xfrm>
            <a:off x="1922859" y="660796"/>
            <a:ext cx="15537657" cy="1132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780234" y="12180093"/>
            <a:ext cx="11769329" cy="132159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985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642937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34881"/>
            <a:ext cx="14716126" cy="1003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642937">
              <a:spcBef>
                <a:spcPts val="3300"/>
              </a:spcBef>
              <a:buSzTx/>
              <a:buFontTx/>
              <a:buNone/>
              <a:defRPr sz="5600"/>
            </a:lvl1pPr>
          </a:lstStyle>
          <a:p>
            <a:r>
              <a:t>“Type a quote here.”</a:t>
            </a:r>
          </a:p>
        </p:txBody>
      </p:sp>
      <p:sp>
        <p:nvSpPr>
          <p:cNvPr id="10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200171796-001_2955x2154.jpeg"/>
          <p:cNvSpPr>
            <a:spLocks noGrp="1"/>
          </p:cNvSpPr>
          <p:nvPr>
            <p:ph type="pic" idx="21"/>
          </p:nvPr>
        </p:nvSpPr>
        <p:spPr>
          <a:xfrm>
            <a:off x="2797968" y="0"/>
            <a:ext cx="18805923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4305300" y="730253"/>
            <a:ext cx="15773400" cy="2651126"/>
          </a:xfrm>
          <a:prstGeom prst="rect">
            <a:avLst/>
          </a:prstGeom>
        </p:spPr>
        <p:txBody>
          <a:bodyPr lIns="63304" tIns="63304" rIns="63304" bIns="63304" anchor="ctr"/>
          <a:lstStyle>
            <a:lvl1pPr defTabSz="1828743">
              <a:lnSpc>
                <a:spcPct val="90000"/>
              </a:lnSpc>
              <a:defRPr sz="86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26" name="Body Level One…"/>
          <p:cNvSpPr txBox="1">
            <a:spLocks noGrp="1"/>
          </p:cNvSpPr>
          <p:nvPr>
            <p:ph type="body" idx="1"/>
          </p:nvPr>
        </p:nvSpPr>
        <p:spPr>
          <a:xfrm>
            <a:off x="4305300" y="3651250"/>
            <a:ext cx="15773400" cy="8702677"/>
          </a:xfrm>
          <a:prstGeom prst="rect">
            <a:avLst/>
          </a:prstGeom>
        </p:spPr>
        <p:txBody>
          <a:bodyPr lIns="63304" tIns="63304" rIns="63304" bIns="63304"/>
          <a:lstStyle>
            <a:lvl1pPr marL="429247" indent="-429247" defTabSz="1828743">
              <a:lnSpc>
                <a:spcPct val="90000"/>
              </a:lnSpc>
              <a:spcBef>
                <a:spcPts val="1900"/>
              </a:spcBef>
              <a:buSzPct val="100000"/>
              <a:buFont typeface="Arial"/>
              <a:defRPr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65376" indent="-504996" defTabSz="1828743">
              <a:lnSpc>
                <a:spcPct val="90000"/>
              </a:lnSpc>
              <a:spcBef>
                <a:spcPts val="1900"/>
              </a:spcBef>
              <a:buSzPct val="100000"/>
              <a:buFont typeface="Arial"/>
              <a:defRPr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933969" indent="-613210" defTabSz="1828743">
              <a:lnSpc>
                <a:spcPct val="90000"/>
              </a:lnSpc>
              <a:spcBef>
                <a:spcPts val="1900"/>
              </a:spcBef>
              <a:buSzPct val="100000"/>
              <a:buFont typeface="Arial"/>
              <a:defRPr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641518" indent="-660379" defTabSz="1828743">
              <a:lnSpc>
                <a:spcPct val="90000"/>
              </a:lnSpc>
              <a:spcBef>
                <a:spcPts val="1900"/>
              </a:spcBef>
              <a:buSzPct val="100000"/>
              <a:buFont typeface="Arial"/>
              <a:defRPr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301898" indent="-660379" defTabSz="1828743">
              <a:lnSpc>
                <a:spcPct val="90000"/>
              </a:lnSpc>
              <a:spcBef>
                <a:spcPts val="1900"/>
              </a:spcBef>
              <a:buSzPct val="100000"/>
              <a:buFont typeface="Arial"/>
              <a:defRPr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01"/>
          <p:cNvSpPr txBox="1">
            <a:spLocks noGrp="1"/>
          </p:cNvSpPr>
          <p:nvPr>
            <p:ph type="sldNum" sz="quarter" idx="2"/>
          </p:nvPr>
        </p:nvSpPr>
        <p:spPr>
          <a:xfrm>
            <a:off x="19656170" y="12867557"/>
            <a:ext cx="422530" cy="420546"/>
          </a:xfrm>
          <a:prstGeom prst="rect">
            <a:avLst/>
          </a:prstGeom>
        </p:spPr>
        <p:txBody>
          <a:bodyPr lIns="63304" tIns="63304" rIns="63304" bIns="63304" anchor="ctr"/>
          <a:lstStyle>
            <a:lvl1pPr defTabSz="633046">
              <a:defRPr sz="2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"/>
          <p:cNvSpPr/>
          <p:nvPr/>
        </p:nvSpPr>
        <p:spPr>
          <a:xfrm>
            <a:off x="3958828" y="6679406"/>
            <a:ext cx="1646637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3851671" y="1857375"/>
            <a:ext cx="16680658" cy="446484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51671" y="7054453"/>
            <a:ext cx="16680658" cy="44648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01"/>
          <p:cNvSpPr txBox="1">
            <a:spLocks noGrp="1"/>
          </p:cNvSpPr>
          <p:nvPr>
            <p:ph type="sldNum" sz="quarter" idx="2"/>
          </p:nvPr>
        </p:nvSpPr>
        <p:spPr>
          <a:xfrm>
            <a:off x="20300156" y="12930187"/>
            <a:ext cx="409779" cy="4158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A modern white building with glass panels against a clear, blue sky"/>
          <p:cNvSpPr>
            <a:spLocks noGrp="1"/>
          </p:cNvSpPr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lIns="50800" tIns="50800" rIns="50800" bIns="50800"/>
          <a:lstStyle>
            <a:lvl1pPr defTabSz="2438338">
              <a:lnSpc>
                <a:spcPct val="80000"/>
              </a:lnSpc>
              <a:defRPr sz="8500" b="1" spc="-17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14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 defTabSz="825500">
              <a:spcBef>
                <a:spcPts val="0"/>
              </a:spcBef>
              <a:buSzTx/>
              <a:buFontTx/>
              <a:buNone/>
              <a:defRPr sz="5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825500">
              <a:spcBef>
                <a:spcPts val="0"/>
              </a:spcBef>
              <a:buSzTx/>
              <a:buFontTx/>
              <a:buNone/>
              <a:defRPr sz="5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825500">
              <a:spcBef>
                <a:spcPts val="0"/>
              </a:spcBef>
              <a:buSzTx/>
              <a:buFontTx/>
              <a:buNone/>
              <a:defRPr sz="5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825500">
              <a:spcBef>
                <a:spcPts val="0"/>
              </a:spcBef>
              <a:buSzTx/>
              <a:buFontTx/>
              <a:buNone/>
              <a:defRPr sz="5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825500">
              <a:spcBef>
                <a:spcPts val="0"/>
              </a:spcBef>
              <a:buSzTx/>
              <a:buFontTx/>
              <a:buNone/>
              <a:defRPr sz="5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7" name="01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3851671" y="2768203"/>
            <a:ext cx="16689524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125390"/>
            <a:ext cx="16680658" cy="9376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01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6350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10922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5494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20066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24638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9210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33782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38354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4292600" marR="0" indent="-635000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utors.dev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reader.tutors.dev/course/tutors-project-si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Higher Diploma in Science in Computer Science"/>
          <p:cNvSpPr txBox="1">
            <a:spLocks noGrp="1"/>
          </p:cNvSpPr>
          <p:nvPr>
            <p:ph type="title"/>
          </p:nvPr>
        </p:nvSpPr>
        <p:spPr>
          <a:xfrm>
            <a:off x="3851671" y="2487067"/>
            <a:ext cx="16680658" cy="4464845"/>
          </a:xfrm>
          <a:prstGeom prst="rect">
            <a:avLst/>
          </a:prstGeom>
        </p:spPr>
        <p:txBody>
          <a:bodyPr/>
          <a:lstStyle/>
          <a:p>
            <a:r>
              <a:t>Higher Diploma in Science in Computer Science </a:t>
            </a:r>
          </a:p>
        </p:txBody>
      </p:sp>
      <p:sp>
        <p:nvSpPr>
          <p:cNvPr id="158" name="Overview of Structure &amp; Purpose of the Online Materials"/>
          <p:cNvSpPr txBox="1"/>
          <p:nvPr/>
        </p:nvSpPr>
        <p:spPr>
          <a:xfrm>
            <a:off x="4125714" y="8120893"/>
            <a:ext cx="19722168" cy="824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 algn="l">
              <a:defRPr sz="4600"/>
            </a:lvl1pPr>
          </a:lstStyle>
          <a:p>
            <a:r>
              <a:t>Overview of Structure &amp; Purpose of the Online Materials</a:t>
            </a:r>
          </a:p>
        </p:txBody>
      </p:sp>
      <p:pic>
        <p:nvPicPr>
          <p:cNvPr id="5" name="Picture 4" descr="A close-up of a computer&#10;&#10;Description automatically generated">
            <a:extLst>
              <a:ext uri="{FF2B5EF4-FFF2-40B4-BE49-F238E27FC236}">
                <a16:creationId xmlns:a16="http://schemas.microsoft.com/office/drawing/2014/main" id="{2074D192-37AA-465F-3A68-DE74802C0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0383" y="500449"/>
            <a:ext cx="4631724" cy="4631724"/>
          </a:xfrm>
          <a:prstGeom prst="rect">
            <a:avLst/>
          </a:prstGeom>
        </p:spPr>
      </p:pic>
      <p:pic>
        <p:nvPicPr>
          <p:cNvPr id="1030" name="Picture 6" descr="South East Technological University ...">
            <a:extLst>
              <a:ext uri="{FF2B5EF4-FFF2-40B4-BE49-F238E27FC236}">
                <a16:creationId xmlns:a16="http://schemas.microsoft.com/office/drawing/2014/main" id="{956B3838-D130-0DB1-1CC6-1FAF0FD51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7" y="577948"/>
            <a:ext cx="6536208" cy="366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4 Key Web Services"/>
          <p:cNvSpPr txBox="1"/>
          <p:nvPr/>
        </p:nvSpPr>
        <p:spPr>
          <a:xfrm>
            <a:off x="17402937" y="5623006"/>
            <a:ext cx="3242293" cy="164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4 Key Web Services</a:t>
            </a:r>
          </a:p>
        </p:txBody>
      </p:sp>
      <p:sp>
        <p:nvSpPr>
          <p:cNvPr id="162" name="Tutors"/>
          <p:cNvSpPr txBox="1"/>
          <p:nvPr/>
        </p:nvSpPr>
        <p:spPr>
          <a:xfrm>
            <a:off x="8162906" y="1275171"/>
            <a:ext cx="2308683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Tutors</a:t>
            </a:r>
          </a:p>
        </p:txBody>
      </p:sp>
      <p:sp>
        <p:nvSpPr>
          <p:cNvPr id="163" name="Slack"/>
          <p:cNvSpPr txBox="1"/>
          <p:nvPr/>
        </p:nvSpPr>
        <p:spPr>
          <a:xfrm>
            <a:off x="8283200" y="4864069"/>
            <a:ext cx="2068095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Slack</a:t>
            </a:r>
          </a:p>
        </p:txBody>
      </p:sp>
      <p:sp>
        <p:nvSpPr>
          <p:cNvPr id="164" name="Moodle"/>
          <p:cNvSpPr txBox="1"/>
          <p:nvPr/>
        </p:nvSpPr>
        <p:spPr>
          <a:xfrm>
            <a:off x="7934509" y="8616488"/>
            <a:ext cx="2765477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Moodle</a:t>
            </a:r>
          </a:p>
        </p:txBody>
      </p:sp>
      <p:sp>
        <p:nvSpPr>
          <p:cNvPr id="165" name="}"/>
          <p:cNvSpPr txBox="1"/>
          <p:nvPr/>
        </p:nvSpPr>
        <p:spPr>
          <a:xfrm>
            <a:off x="14525601" y="669806"/>
            <a:ext cx="2865468" cy="1035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702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lvl1pPr>
          </a:lstStyle>
          <a:p>
            <a:r>
              <a:t>}</a:t>
            </a:r>
          </a:p>
        </p:txBody>
      </p:sp>
      <p:pic>
        <p:nvPicPr>
          <p:cNvPr id="166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2"/>
          <a:srcRect r="62261"/>
          <a:stretch>
            <a:fillRect/>
          </a:stretch>
        </p:blipFill>
        <p:spPr>
          <a:xfrm>
            <a:off x="10937094" y="7339311"/>
            <a:ext cx="3242264" cy="3053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2"/>
          <a:srcRect l="69322"/>
          <a:stretch>
            <a:fillRect/>
          </a:stretch>
        </p:blipFill>
        <p:spPr>
          <a:xfrm>
            <a:off x="11436546" y="10532580"/>
            <a:ext cx="2619821" cy="3035014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Youtube"/>
          <p:cNvSpPr txBox="1"/>
          <p:nvPr/>
        </p:nvSpPr>
        <p:spPr>
          <a:xfrm>
            <a:off x="7801616" y="11495082"/>
            <a:ext cx="3031263" cy="110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Youtube</a:t>
            </a:r>
          </a:p>
        </p:txBody>
      </p:sp>
      <p:pic>
        <p:nvPicPr>
          <p:cNvPr id="169" name="Unknown.png" descr="Unknown.png"/>
          <p:cNvPicPr>
            <a:picLocks noChangeAspect="1"/>
          </p:cNvPicPr>
          <p:nvPr/>
        </p:nvPicPr>
        <p:blipFill>
          <a:blip r:embed="rId3"/>
          <a:srcRect l="27751" t="26489" r="31779" b="22777"/>
          <a:stretch>
            <a:fillRect/>
          </a:stretch>
        </p:blipFill>
        <p:spPr>
          <a:xfrm>
            <a:off x="10942030" y="4013882"/>
            <a:ext cx="2992748" cy="28102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Screenshot 2022-01-13 at 06.47.11.png" descr="Screenshot 2022-01-13 at 06.47.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839" y="442656"/>
            <a:ext cx="3512584" cy="27037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utors"/>
          <p:cNvSpPr txBox="1"/>
          <p:nvPr/>
        </p:nvSpPr>
        <p:spPr>
          <a:xfrm>
            <a:off x="8162906" y="1275171"/>
            <a:ext cx="2308683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Tutors</a:t>
            </a:r>
          </a:p>
        </p:txBody>
      </p:sp>
      <p:sp>
        <p:nvSpPr>
          <p:cNvPr id="173" name="Slack"/>
          <p:cNvSpPr txBox="1"/>
          <p:nvPr/>
        </p:nvSpPr>
        <p:spPr>
          <a:xfrm>
            <a:off x="8283200" y="4864069"/>
            <a:ext cx="2068095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Slack</a:t>
            </a:r>
          </a:p>
        </p:txBody>
      </p:sp>
      <p:sp>
        <p:nvSpPr>
          <p:cNvPr id="174" name="Moodle"/>
          <p:cNvSpPr txBox="1"/>
          <p:nvPr/>
        </p:nvSpPr>
        <p:spPr>
          <a:xfrm>
            <a:off x="7934509" y="8616488"/>
            <a:ext cx="2765477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Moodle</a:t>
            </a:r>
          </a:p>
        </p:txBody>
      </p:sp>
      <p:pic>
        <p:nvPicPr>
          <p:cNvPr id="175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2"/>
          <a:srcRect r="62261"/>
          <a:stretch>
            <a:fillRect/>
          </a:stretch>
        </p:blipFill>
        <p:spPr>
          <a:xfrm>
            <a:off x="10937094" y="7339311"/>
            <a:ext cx="3242264" cy="3053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2"/>
          <a:srcRect l="69322"/>
          <a:stretch>
            <a:fillRect/>
          </a:stretch>
        </p:blipFill>
        <p:spPr>
          <a:xfrm>
            <a:off x="11436546" y="10532580"/>
            <a:ext cx="2619821" cy="3035014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Youtube"/>
          <p:cNvSpPr txBox="1"/>
          <p:nvPr/>
        </p:nvSpPr>
        <p:spPr>
          <a:xfrm>
            <a:off x="7801616" y="11495082"/>
            <a:ext cx="3031263" cy="110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Youtube</a:t>
            </a:r>
          </a:p>
        </p:txBody>
      </p:sp>
      <p:sp>
        <p:nvSpPr>
          <p:cNvPr id="178" name="Github ID"/>
          <p:cNvSpPr txBox="1"/>
          <p:nvPr/>
        </p:nvSpPr>
        <p:spPr>
          <a:xfrm>
            <a:off x="17411140" y="1386893"/>
            <a:ext cx="3242293" cy="88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Github ID</a:t>
            </a:r>
          </a:p>
        </p:txBody>
      </p:sp>
      <p:sp>
        <p:nvSpPr>
          <p:cNvPr id="179" name="}"/>
          <p:cNvSpPr txBox="1"/>
          <p:nvPr/>
        </p:nvSpPr>
        <p:spPr>
          <a:xfrm>
            <a:off x="14605153" y="687543"/>
            <a:ext cx="2865468" cy="2213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40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}</a:t>
            </a:r>
          </a:p>
        </p:txBody>
      </p:sp>
      <p:sp>
        <p:nvSpPr>
          <p:cNvPr id="180" name="personal email"/>
          <p:cNvSpPr txBox="1"/>
          <p:nvPr/>
        </p:nvSpPr>
        <p:spPr>
          <a:xfrm>
            <a:off x="17188625" y="4737174"/>
            <a:ext cx="4769697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personal email</a:t>
            </a:r>
          </a:p>
        </p:txBody>
      </p:sp>
      <p:sp>
        <p:nvSpPr>
          <p:cNvPr id="181" name="}"/>
          <p:cNvSpPr txBox="1"/>
          <p:nvPr/>
        </p:nvSpPr>
        <p:spPr>
          <a:xfrm>
            <a:off x="14605153" y="4073406"/>
            <a:ext cx="2865468" cy="2213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40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}</a:t>
            </a:r>
          </a:p>
        </p:txBody>
      </p:sp>
      <p:sp>
        <p:nvSpPr>
          <p:cNvPr id="182" name="wit email"/>
          <p:cNvSpPr txBox="1"/>
          <p:nvPr/>
        </p:nvSpPr>
        <p:spPr>
          <a:xfrm>
            <a:off x="17188625" y="8260597"/>
            <a:ext cx="3242293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wit email</a:t>
            </a:r>
          </a:p>
        </p:txBody>
      </p:sp>
      <p:sp>
        <p:nvSpPr>
          <p:cNvPr id="183" name="}"/>
          <p:cNvSpPr txBox="1"/>
          <p:nvPr/>
        </p:nvSpPr>
        <p:spPr>
          <a:xfrm>
            <a:off x="14605153" y="7295375"/>
            <a:ext cx="2865468" cy="2213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40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}</a:t>
            </a:r>
          </a:p>
        </p:txBody>
      </p:sp>
      <p:sp>
        <p:nvSpPr>
          <p:cNvPr id="184" name="}"/>
          <p:cNvSpPr txBox="1"/>
          <p:nvPr/>
        </p:nvSpPr>
        <p:spPr>
          <a:xfrm>
            <a:off x="14605153" y="10456484"/>
            <a:ext cx="2865468" cy="2213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40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}</a:t>
            </a:r>
          </a:p>
        </p:txBody>
      </p:sp>
      <p:sp>
        <p:nvSpPr>
          <p:cNvPr id="185" name="open"/>
          <p:cNvSpPr txBox="1"/>
          <p:nvPr/>
        </p:nvSpPr>
        <p:spPr>
          <a:xfrm>
            <a:off x="16929024" y="11606804"/>
            <a:ext cx="3242293" cy="88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open</a:t>
            </a:r>
          </a:p>
        </p:txBody>
      </p:sp>
      <p:pic>
        <p:nvPicPr>
          <p:cNvPr id="186" name="Unknown.png" descr="Unknown.png"/>
          <p:cNvPicPr>
            <a:picLocks noChangeAspect="1"/>
          </p:cNvPicPr>
          <p:nvPr/>
        </p:nvPicPr>
        <p:blipFill>
          <a:blip r:embed="rId3"/>
          <a:srcRect l="27751" t="26489" r="31779" b="22777"/>
          <a:stretch>
            <a:fillRect/>
          </a:stretch>
        </p:blipFill>
        <p:spPr>
          <a:xfrm>
            <a:off x="10942030" y="4013882"/>
            <a:ext cx="2992748" cy="28102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Screenshot 2022-01-13 at 06.47.11.png" descr="Screenshot 2022-01-13 at 06.47.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839" y="442656"/>
            <a:ext cx="3512584" cy="27037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13824-41AB-126E-9EAF-D27E425C6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749" y="3301804"/>
            <a:ext cx="19676806" cy="6788831"/>
          </a:xfrm>
          <a:prstGeom prst="rect">
            <a:avLst/>
          </a:prstGeom>
        </p:spPr>
      </p:pic>
      <p:sp>
        <p:nvSpPr>
          <p:cNvPr id="190" name="Line"/>
          <p:cNvSpPr/>
          <p:nvPr/>
        </p:nvSpPr>
        <p:spPr>
          <a:xfrm flipV="1">
            <a:off x="13647871" y="10090635"/>
            <a:ext cx="1" cy="174507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91" name="Links to individual module…"/>
          <p:cNvSpPr txBox="1"/>
          <p:nvPr/>
        </p:nvSpPr>
        <p:spPr>
          <a:xfrm>
            <a:off x="9310113" y="11731087"/>
            <a:ext cx="7609485" cy="1748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normAutofit lnSpcReduction="10000"/>
          </a:bodyPr>
          <a:lstStyle/>
          <a:p>
            <a:pPr algn="l">
              <a:defRPr sz="5300"/>
            </a:pPr>
            <a:r>
              <a:t>Links to individual module</a:t>
            </a:r>
          </a:p>
          <a:p>
            <a:pPr algn="l">
              <a:defRPr sz="5300"/>
            </a:pPr>
            <a:r>
              <a:t>Home pages</a:t>
            </a:r>
          </a:p>
        </p:txBody>
      </p:sp>
      <p:sp>
        <p:nvSpPr>
          <p:cNvPr id="192" name="Line"/>
          <p:cNvSpPr/>
          <p:nvPr/>
        </p:nvSpPr>
        <p:spPr>
          <a:xfrm flipV="1">
            <a:off x="17636728" y="10105895"/>
            <a:ext cx="1" cy="171455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93" name="Programme homepage"/>
          <p:cNvSpPr txBox="1">
            <a:spLocks noGrp="1"/>
          </p:cNvSpPr>
          <p:nvPr>
            <p:ph type="title"/>
          </p:nvPr>
        </p:nvSpPr>
        <p:spPr>
          <a:xfrm>
            <a:off x="7530526" y="257234"/>
            <a:ext cx="9703743" cy="1193954"/>
          </a:xfrm>
          <a:prstGeom prst="rect">
            <a:avLst/>
          </a:prstGeom>
        </p:spPr>
        <p:txBody>
          <a:bodyPr lIns="71437" tIns="71437" rIns="71437" bIns="71437" anchor="ctr">
            <a:normAutofit fontScale="90000"/>
          </a:bodyPr>
          <a:lstStyle>
            <a:lvl1pPr defTabSz="722947">
              <a:lnSpc>
                <a:spcPct val="100000"/>
              </a:lnSpc>
              <a:defRPr sz="7040" b="0" spc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Programme homepage</a:t>
            </a:r>
          </a:p>
        </p:txBody>
      </p:sp>
      <p:sp>
        <p:nvSpPr>
          <p:cNvPr id="194" name="https://reader.tutors.dev/course/wit-hdip-comp-sci-2023"/>
          <p:cNvSpPr txBox="1"/>
          <p:nvPr/>
        </p:nvSpPr>
        <p:spPr>
          <a:xfrm>
            <a:off x="5023088" y="1691231"/>
            <a:ext cx="13966964" cy="91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lang="en-IE" dirty="0"/>
              <a:t>https://tutors.dev/course/setu-hdip-comp-sci-2025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6" y="703086"/>
            <a:ext cx="23430218" cy="11910363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A course homepage"/>
          <p:cNvSpPr txBox="1">
            <a:spLocks noGrp="1"/>
          </p:cNvSpPr>
          <p:nvPr>
            <p:ph type="title"/>
          </p:nvPr>
        </p:nvSpPr>
        <p:spPr>
          <a:xfrm>
            <a:off x="8013147" y="-658991"/>
            <a:ext cx="20251146" cy="2406697"/>
          </a:xfrm>
          <a:prstGeom prst="rect">
            <a:avLst/>
          </a:prstGeom>
        </p:spPr>
        <p:txBody>
          <a:bodyPr lIns="71437" tIns="71437" rIns="71437" bIns="71437" anchor="ctr"/>
          <a:lstStyle>
            <a:lvl1pPr defTabSz="821531">
              <a:lnSpc>
                <a:spcPct val="100000"/>
              </a:lnSpc>
              <a:defRPr sz="8000" b="0" spc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A course homepage</a:t>
            </a:r>
          </a:p>
        </p:txBody>
      </p:sp>
      <p:sp>
        <p:nvSpPr>
          <p:cNvPr id="200" name="Topics - 1 topic/card for each week"/>
          <p:cNvSpPr txBox="1"/>
          <p:nvPr/>
        </p:nvSpPr>
        <p:spPr>
          <a:xfrm>
            <a:off x="2066427" y="11791601"/>
            <a:ext cx="20251146" cy="2406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defTabSz="2438338">
              <a:lnSpc>
                <a:spcPct val="80000"/>
              </a:lnSpc>
              <a:defRPr sz="8500" spc="-170"/>
            </a:lvl1pPr>
          </a:lstStyle>
          <a:p>
            <a:r>
              <a:t>Topics - 1 topic/card for each week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31" y="4389442"/>
            <a:ext cx="21998738" cy="6794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asted-image.png" descr="pasted-image.png"/>
          <p:cNvPicPr>
            <a:picLocks noChangeAspect="1"/>
          </p:cNvPicPr>
          <p:nvPr/>
        </p:nvPicPr>
        <p:blipFill>
          <a:blip r:embed="rId4"/>
          <a:srcRect l="43917" r="41300" b="85042"/>
          <a:stretch>
            <a:fillRect/>
          </a:stretch>
        </p:blipFill>
        <p:spPr>
          <a:xfrm>
            <a:off x="10854028" y="4389442"/>
            <a:ext cx="3251822" cy="1016282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Line"/>
          <p:cNvSpPr/>
          <p:nvPr/>
        </p:nvSpPr>
        <p:spPr>
          <a:xfrm>
            <a:off x="12192000" y="3712939"/>
            <a:ext cx="1" cy="82521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07" name="Calendar"/>
          <p:cNvSpPr txBox="1"/>
          <p:nvPr/>
        </p:nvSpPr>
        <p:spPr>
          <a:xfrm>
            <a:off x="11148669" y="3094169"/>
            <a:ext cx="1960018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Calendar</a:t>
            </a:r>
          </a:p>
        </p:txBody>
      </p:sp>
      <p:sp>
        <p:nvSpPr>
          <p:cNvPr id="208" name="Navigation"/>
          <p:cNvSpPr txBox="1">
            <a:spLocks noGrp="1"/>
          </p:cNvSpPr>
          <p:nvPr>
            <p:ph type="title"/>
          </p:nvPr>
        </p:nvSpPr>
        <p:spPr>
          <a:xfrm>
            <a:off x="2066427" y="177626"/>
            <a:ext cx="20251147" cy="2406697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8000" b="0" spc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Navigation</a:t>
            </a:r>
          </a:p>
        </p:txBody>
      </p:sp>
      <p:sp>
        <p:nvSpPr>
          <p:cNvPr id="209" name="Line"/>
          <p:cNvSpPr/>
          <p:nvPr/>
        </p:nvSpPr>
        <p:spPr>
          <a:xfrm>
            <a:off x="3548683" y="3712939"/>
            <a:ext cx="1" cy="82521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10" name="Course Info"/>
          <p:cNvSpPr txBox="1"/>
          <p:nvPr/>
        </p:nvSpPr>
        <p:spPr>
          <a:xfrm>
            <a:off x="2221659" y="3094169"/>
            <a:ext cx="2484883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Course Info</a:t>
            </a:r>
          </a:p>
        </p:txBody>
      </p:sp>
      <p:sp>
        <p:nvSpPr>
          <p:cNvPr id="211" name="Line"/>
          <p:cNvSpPr/>
          <p:nvPr/>
        </p:nvSpPr>
        <p:spPr>
          <a:xfrm>
            <a:off x="19012800" y="3712939"/>
            <a:ext cx="1" cy="82521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12" name="Full Text Search"/>
          <p:cNvSpPr txBox="1"/>
          <p:nvPr/>
        </p:nvSpPr>
        <p:spPr>
          <a:xfrm>
            <a:off x="17710314" y="2391830"/>
            <a:ext cx="2604974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Full Text Search</a:t>
            </a:r>
          </a:p>
        </p:txBody>
      </p:sp>
      <p:sp>
        <p:nvSpPr>
          <p:cNvPr id="213" name="Layout &amp; Themes"/>
          <p:cNvSpPr txBox="1"/>
          <p:nvPr/>
        </p:nvSpPr>
        <p:spPr>
          <a:xfrm>
            <a:off x="19718128" y="1070721"/>
            <a:ext cx="2604974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Layout &amp; Themes</a:t>
            </a:r>
          </a:p>
        </p:txBody>
      </p:sp>
      <p:sp>
        <p:nvSpPr>
          <p:cNvPr id="214" name="Line"/>
          <p:cNvSpPr/>
          <p:nvPr/>
        </p:nvSpPr>
        <p:spPr>
          <a:xfrm>
            <a:off x="21020614" y="2458693"/>
            <a:ext cx="1" cy="172377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15" name="Breadcrumb…"/>
          <p:cNvSpPr txBox="1"/>
          <p:nvPr/>
        </p:nvSpPr>
        <p:spPr>
          <a:xfrm>
            <a:off x="403294" y="7499693"/>
            <a:ext cx="2646731" cy="11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Breadcrumb</a:t>
            </a:r>
          </a:p>
          <a:p>
            <a: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Navigation</a:t>
            </a:r>
          </a:p>
        </p:txBody>
      </p:sp>
      <p:sp>
        <p:nvSpPr>
          <p:cNvPr id="216" name="Line"/>
          <p:cNvSpPr/>
          <p:nvPr/>
        </p:nvSpPr>
        <p:spPr>
          <a:xfrm flipV="1">
            <a:off x="2539210" y="6148054"/>
            <a:ext cx="1" cy="118099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17" name="Line"/>
          <p:cNvSpPr/>
          <p:nvPr/>
        </p:nvSpPr>
        <p:spPr>
          <a:xfrm>
            <a:off x="22733154" y="3712939"/>
            <a:ext cx="1" cy="82521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18" name="Table of…"/>
          <p:cNvSpPr txBox="1"/>
          <p:nvPr/>
        </p:nvSpPr>
        <p:spPr>
          <a:xfrm>
            <a:off x="21680907" y="2552178"/>
            <a:ext cx="1977391" cy="1180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Table of</a:t>
            </a:r>
          </a:p>
          <a:p>
            <a: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Contents</a:t>
            </a:r>
          </a:p>
        </p:txBody>
      </p:sp>
      <p:sp>
        <p:nvSpPr>
          <p:cNvPr id="219" name="Line"/>
          <p:cNvSpPr/>
          <p:nvPr/>
        </p:nvSpPr>
        <p:spPr>
          <a:xfrm flipV="1">
            <a:off x="19936584" y="6123663"/>
            <a:ext cx="1" cy="82521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20" name="Companions"/>
          <p:cNvSpPr txBox="1"/>
          <p:nvPr/>
        </p:nvSpPr>
        <p:spPr>
          <a:xfrm>
            <a:off x="17935688" y="6951317"/>
            <a:ext cx="2714397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Companions</a:t>
            </a:r>
          </a:p>
        </p:txBody>
      </p:sp>
      <p:sp>
        <p:nvSpPr>
          <p:cNvPr id="221" name="Line"/>
          <p:cNvSpPr/>
          <p:nvPr/>
        </p:nvSpPr>
        <p:spPr>
          <a:xfrm flipV="1">
            <a:off x="21887429" y="6123663"/>
            <a:ext cx="1" cy="82521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22" name="Wall"/>
          <p:cNvSpPr txBox="1"/>
          <p:nvPr/>
        </p:nvSpPr>
        <p:spPr>
          <a:xfrm>
            <a:off x="21655428" y="6951317"/>
            <a:ext cx="969265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Wall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31" y="4389442"/>
            <a:ext cx="21998738" cy="6794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asted-image.png" descr="pasted-image.png"/>
          <p:cNvPicPr>
            <a:picLocks noChangeAspect="1"/>
          </p:cNvPicPr>
          <p:nvPr/>
        </p:nvPicPr>
        <p:blipFill>
          <a:blip r:embed="rId4"/>
          <a:srcRect l="43917" r="41300" b="85042"/>
          <a:stretch>
            <a:fillRect/>
          </a:stretch>
        </p:blipFill>
        <p:spPr>
          <a:xfrm>
            <a:off x="10854028" y="4389442"/>
            <a:ext cx="3251822" cy="1016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pasted-image.png" descr="pasted-image.png"/>
          <p:cNvPicPr>
            <a:picLocks noChangeAspect="1"/>
          </p:cNvPicPr>
          <p:nvPr/>
        </p:nvPicPr>
        <p:blipFill>
          <a:blip r:embed="rId5"/>
          <a:srcRect l="76586"/>
          <a:stretch>
            <a:fillRect/>
          </a:stretch>
        </p:blipFill>
        <p:spPr>
          <a:xfrm>
            <a:off x="18040676" y="4389442"/>
            <a:ext cx="5150693" cy="6794403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Navigation"/>
          <p:cNvSpPr txBox="1">
            <a:spLocks noGrp="1"/>
          </p:cNvSpPr>
          <p:nvPr>
            <p:ph type="title"/>
          </p:nvPr>
        </p:nvSpPr>
        <p:spPr>
          <a:xfrm>
            <a:off x="2066427" y="177626"/>
            <a:ext cx="20251147" cy="2406697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>
              <a:defRPr b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Navigation</a:t>
            </a:r>
          </a:p>
        </p:txBody>
      </p:sp>
      <p:sp>
        <p:nvSpPr>
          <p:cNvPr id="230" name="Layout &amp; Themes"/>
          <p:cNvSpPr txBox="1"/>
          <p:nvPr/>
        </p:nvSpPr>
        <p:spPr>
          <a:xfrm>
            <a:off x="19718128" y="1403324"/>
            <a:ext cx="2604974" cy="1180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Layout &amp; Themes</a:t>
            </a:r>
          </a:p>
        </p:txBody>
      </p:sp>
      <p:sp>
        <p:nvSpPr>
          <p:cNvPr id="231" name="Line"/>
          <p:cNvSpPr/>
          <p:nvPr/>
        </p:nvSpPr>
        <p:spPr>
          <a:xfrm>
            <a:off x="21020614" y="2791295"/>
            <a:ext cx="1" cy="139117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31" y="4389442"/>
            <a:ext cx="21998738" cy="6794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asted-image.png" descr="pasted-image.png"/>
          <p:cNvPicPr>
            <a:picLocks noChangeAspect="1"/>
          </p:cNvPicPr>
          <p:nvPr/>
        </p:nvPicPr>
        <p:blipFill>
          <a:blip r:embed="rId4"/>
          <a:srcRect l="43917" r="41300" b="85042"/>
          <a:stretch>
            <a:fillRect/>
          </a:stretch>
        </p:blipFill>
        <p:spPr>
          <a:xfrm>
            <a:off x="10854028" y="4389442"/>
            <a:ext cx="3251822" cy="1016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asted-image.png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631" y="4389442"/>
            <a:ext cx="21998738" cy="6794403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Theme Support"/>
          <p:cNvSpPr txBox="1">
            <a:spLocks noGrp="1"/>
          </p:cNvSpPr>
          <p:nvPr>
            <p:ph type="title"/>
          </p:nvPr>
        </p:nvSpPr>
        <p:spPr>
          <a:xfrm>
            <a:off x="2066427" y="177626"/>
            <a:ext cx="20251147" cy="2406697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>
              <a:defRPr b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Theme Support</a:t>
            </a:r>
          </a:p>
        </p:txBody>
      </p:sp>
      <p:sp>
        <p:nvSpPr>
          <p:cNvPr id="239" name="Layout &amp; Themes"/>
          <p:cNvSpPr txBox="1"/>
          <p:nvPr/>
        </p:nvSpPr>
        <p:spPr>
          <a:xfrm>
            <a:off x="19718128" y="1403324"/>
            <a:ext cx="2604974" cy="1180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Layout &amp; Themes</a:t>
            </a:r>
          </a:p>
        </p:txBody>
      </p:sp>
      <p:sp>
        <p:nvSpPr>
          <p:cNvPr id="240" name="Line"/>
          <p:cNvSpPr/>
          <p:nvPr/>
        </p:nvSpPr>
        <p:spPr>
          <a:xfrm>
            <a:off x="21020614" y="2791295"/>
            <a:ext cx="1" cy="139117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opics - 1 topic/card for each week"/>
          <p:cNvSpPr txBox="1">
            <a:spLocks noGrp="1"/>
          </p:cNvSpPr>
          <p:nvPr>
            <p:ph type="title"/>
          </p:nvPr>
        </p:nvSpPr>
        <p:spPr>
          <a:xfrm>
            <a:off x="2357780" y="356920"/>
            <a:ext cx="20251146" cy="2406697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>
              <a:defRPr b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Topics - 1 topic/card for each week</a:t>
            </a:r>
          </a:p>
        </p:txBody>
      </p:sp>
      <p:pic>
        <p:nvPicPr>
          <p:cNvPr id="245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239" y="3369603"/>
            <a:ext cx="18146228" cy="96460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ingle…"/>
          <p:cNvSpPr txBox="1">
            <a:spLocks noGrp="1"/>
          </p:cNvSpPr>
          <p:nvPr>
            <p:ph type="title"/>
          </p:nvPr>
        </p:nvSpPr>
        <p:spPr>
          <a:xfrm>
            <a:off x="-563949" y="2180240"/>
            <a:ext cx="7220033" cy="2406697"/>
          </a:xfrm>
          <a:prstGeom prst="rect">
            <a:avLst/>
          </a:prstGeom>
        </p:spPr>
        <p:txBody>
          <a:bodyPr lIns="71437" tIns="71437" rIns="71437" bIns="71437" anchor="ctr"/>
          <a:lstStyle/>
          <a:p>
            <a:pPr algn="ctr" defTabSz="2365188">
              <a:defRPr sz="8245" b="0" spc="-164">
                <a:latin typeface="+mn-lt"/>
                <a:ea typeface="+mn-ea"/>
                <a:cs typeface="+mn-cs"/>
                <a:sym typeface="Helvetica Neue Light"/>
              </a:defRPr>
            </a:pPr>
            <a:r>
              <a:t>Single</a:t>
            </a:r>
          </a:p>
          <a:p>
            <a:pPr algn="ctr" defTabSz="2365188">
              <a:defRPr sz="8245" b="0" spc="-164">
                <a:latin typeface="+mn-lt"/>
                <a:ea typeface="+mn-ea"/>
                <a:cs typeface="+mn-cs"/>
                <a:sym typeface="Helvetica Neue Light"/>
              </a:defRPr>
            </a:pPr>
            <a:r>
              <a:t>Topic</a:t>
            </a:r>
          </a:p>
        </p:txBody>
      </p:sp>
      <p:sp>
        <p:nvSpPr>
          <p:cNvPr id="250" name="Topic Video"/>
          <p:cNvSpPr txBox="1"/>
          <p:nvPr/>
        </p:nvSpPr>
        <p:spPr>
          <a:xfrm>
            <a:off x="18485299" y="3060019"/>
            <a:ext cx="262798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Topic Video</a:t>
            </a:r>
          </a:p>
        </p:txBody>
      </p:sp>
      <p:sp>
        <p:nvSpPr>
          <p:cNvPr id="251" name="Sub Topic 1"/>
          <p:cNvSpPr txBox="1"/>
          <p:nvPr/>
        </p:nvSpPr>
        <p:spPr>
          <a:xfrm>
            <a:off x="18480498" y="10218665"/>
            <a:ext cx="2637588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Sub Topic 1</a:t>
            </a:r>
          </a:p>
        </p:txBody>
      </p:sp>
      <p:sp>
        <p:nvSpPr>
          <p:cNvPr id="252" name="Pre-recorded or live stream"/>
          <p:cNvSpPr txBox="1"/>
          <p:nvPr/>
        </p:nvSpPr>
        <p:spPr>
          <a:xfrm>
            <a:off x="18479750" y="3646232"/>
            <a:ext cx="382341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Pre-recorded or live stream</a:t>
            </a:r>
          </a:p>
        </p:txBody>
      </p:sp>
      <p:pic>
        <p:nvPicPr>
          <p:cNvPr id="253" name="Screenshot 2022-12-08 at 07.27.08.png" descr="Screenshot 2022-12-08 at 07.27.08.png"/>
          <p:cNvPicPr>
            <a:picLocks noChangeAspect="1"/>
          </p:cNvPicPr>
          <p:nvPr/>
        </p:nvPicPr>
        <p:blipFill>
          <a:blip r:embed="rId3"/>
          <a:srcRect r="1140"/>
          <a:stretch>
            <a:fillRect/>
          </a:stretch>
        </p:blipFill>
        <p:spPr>
          <a:xfrm>
            <a:off x="6225385" y="0"/>
            <a:ext cx="11797085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Screenshot 2022-12-08 at 07.04.00.png" descr="Screenshot 2022-12-08 at 07.04.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04" y="2671334"/>
            <a:ext cx="23501417" cy="9092142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Sub Topic"/>
          <p:cNvSpPr txBox="1">
            <a:spLocks noGrp="1"/>
          </p:cNvSpPr>
          <p:nvPr>
            <p:ph type="title"/>
          </p:nvPr>
        </p:nvSpPr>
        <p:spPr>
          <a:xfrm>
            <a:off x="2066427" y="177626"/>
            <a:ext cx="20251147" cy="2406697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>
              <a:defRPr b="0"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r>
              <a:t>Sub Topic</a:t>
            </a:r>
          </a:p>
        </p:txBody>
      </p:sp>
      <p:sp>
        <p:nvSpPr>
          <p:cNvPr id="259" name="Line"/>
          <p:cNvSpPr/>
          <p:nvPr/>
        </p:nvSpPr>
        <p:spPr>
          <a:xfrm flipV="1">
            <a:off x="6689308" y="9675330"/>
            <a:ext cx="1" cy="174507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60" name="Talk Slide PDFs"/>
          <p:cNvSpPr txBox="1"/>
          <p:nvPr/>
        </p:nvSpPr>
        <p:spPr>
          <a:xfrm>
            <a:off x="6623455" y="12396649"/>
            <a:ext cx="3145994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/>
            </a:lvl1pPr>
          </a:lstStyle>
          <a:p>
            <a:r>
              <a:t>Talk Slide PDFs</a:t>
            </a:r>
          </a:p>
        </p:txBody>
      </p:sp>
      <p:sp>
        <p:nvSpPr>
          <p:cNvPr id="261" name="Line"/>
          <p:cNvSpPr/>
          <p:nvPr/>
        </p:nvSpPr>
        <p:spPr>
          <a:xfrm flipV="1">
            <a:off x="10527562" y="9840390"/>
            <a:ext cx="1" cy="171455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62" name="Lab"/>
          <p:cNvSpPr txBox="1"/>
          <p:nvPr/>
        </p:nvSpPr>
        <p:spPr>
          <a:xfrm>
            <a:off x="14308810" y="12396649"/>
            <a:ext cx="85953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/>
            </a:lvl1pPr>
          </a:lstStyle>
          <a:p>
            <a:r>
              <a:t>Lab</a:t>
            </a:r>
          </a:p>
        </p:txBody>
      </p:sp>
      <p:sp>
        <p:nvSpPr>
          <p:cNvPr id="263" name="Line"/>
          <p:cNvSpPr/>
          <p:nvPr/>
        </p:nvSpPr>
        <p:spPr>
          <a:xfrm flipV="1">
            <a:off x="14738577" y="9840390"/>
            <a:ext cx="1" cy="171455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64" name="Line"/>
          <p:cNvSpPr/>
          <p:nvPr/>
        </p:nvSpPr>
        <p:spPr>
          <a:xfrm>
            <a:off x="7556506" y="3886613"/>
            <a:ext cx="1" cy="64713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65" name="Single…"/>
          <p:cNvSpPr txBox="1"/>
          <p:nvPr/>
        </p:nvSpPr>
        <p:spPr>
          <a:xfrm>
            <a:off x="6826586" y="2458316"/>
            <a:ext cx="1308507" cy="1205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3600"/>
            </a:pPr>
            <a:r>
              <a:t>Single</a:t>
            </a:r>
          </a:p>
          <a:p>
            <a:pPr algn="l" defTabSz="825500">
              <a:defRPr sz="3600"/>
            </a:pPr>
            <a:r>
              <a:t>Video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Screenshot 2022-12-13 at 09.58.34.png" descr="Screenshot 2022-12-13 at 09.58.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425" y="1142149"/>
            <a:ext cx="20218401" cy="10274301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Embedded PDF reader custom with Navigation"/>
          <p:cNvSpPr txBox="1"/>
          <p:nvPr/>
        </p:nvSpPr>
        <p:spPr>
          <a:xfrm>
            <a:off x="370124" y="5959914"/>
            <a:ext cx="2455767" cy="288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/>
            </a:lvl1pPr>
          </a:lstStyle>
          <a:p>
            <a:r>
              <a:t>Embedded PDF reader custom with Navigation</a:t>
            </a:r>
          </a:p>
        </p:txBody>
      </p:sp>
      <p:sp>
        <p:nvSpPr>
          <p:cNvPr id="271" name="Line"/>
          <p:cNvSpPr/>
          <p:nvPr/>
        </p:nvSpPr>
        <p:spPr>
          <a:xfrm>
            <a:off x="2834012" y="7401083"/>
            <a:ext cx="176763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72" name="Talk"/>
          <p:cNvSpPr txBox="1"/>
          <p:nvPr/>
        </p:nvSpPr>
        <p:spPr>
          <a:xfrm>
            <a:off x="9087609" y="11052938"/>
            <a:ext cx="7220033" cy="240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defTabSz="2438338">
              <a:lnSpc>
                <a:spcPct val="80000"/>
              </a:lnSpc>
              <a:defRPr sz="8500" spc="-170"/>
            </a:lvl1pPr>
          </a:lstStyle>
          <a:p>
            <a:r>
              <a:t>Talk</a:t>
            </a:r>
          </a:p>
        </p:txBody>
      </p:sp>
      <p:sp>
        <p:nvSpPr>
          <p:cNvPr id="273" name="Talk Context - related talks &amp; videos"/>
          <p:cNvSpPr txBox="1"/>
          <p:nvPr/>
        </p:nvSpPr>
        <p:spPr>
          <a:xfrm>
            <a:off x="21901782" y="5583274"/>
            <a:ext cx="2455767" cy="288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/>
            </a:lvl1pPr>
          </a:lstStyle>
          <a:p>
            <a:r>
              <a:t>Talk Context - related talks &amp; videos</a:t>
            </a:r>
          </a:p>
        </p:txBody>
      </p:sp>
      <p:sp>
        <p:nvSpPr>
          <p:cNvPr id="274" name="Line"/>
          <p:cNvSpPr/>
          <p:nvPr/>
        </p:nvSpPr>
        <p:spPr>
          <a:xfrm flipH="1">
            <a:off x="21092824" y="7267928"/>
            <a:ext cx="1014550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Labs"/>
          <p:cNvSpPr txBox="1">
            <a:spLocks noGrp="1"/>
          </p:cNvSpPr>
          <p:nvPr>
            <p:ph type="title"/>
          </p:nvPr>
        </p:nvSpPr>
        <p:spPr>
          <a:xfrm>
            <a:off x="2104013" y="464343"/>
            <a:ext cx="16680657" cy="1964532"/>
          </a:xfrm>
          <a:prstGeom prst="rect">
            <a:avLst/>
          </a:prstGeom>
        </p:spPr>
        <p:txBody>
          <a:bodyPr/>
          <a:lstStyle>
            <a:lvl1pPr>
              <a:defRPr sz="8500"/>
            </a:lvl1pPr>
          </a:lstStyle>
          <a:p>
            <a:r>
              <a:t>Labs</a:t>
            </a:r>
          </a:p>
        </p:txBody>
      </p:sp>
      <p:pic>
        <p:nvPicPr>
          <p:cNvPr id="277" name="Screenshot 2022-12-08 at 07.07.21.png" descr="Screenshot 2022-12-08 at 07.07.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862" y="-1"/>
            <a:ext cx="13667015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Line"/>
          <p:cNvSpPr/>
          <p:nvPr/>
        </p:nvSpPr>
        <p:spPr>
          <a:xfrm>
            <a:off x="5725626" y="3820300"/>
            <a:ext cx="138225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79" name="Lab Steps"/>
          <p:cNvSpPr txBox="1"/>
          <p:nvPr/>
        </p:nvSpPr>
        <p:spPr>
          <a:xfrm>
            <a:off x="3214758" y="3496731"/>
            <a:ext cx="2129639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600"/>
            </a:lvl1pPr>
          </a:lstStyle>
          <a:p>
            <a:r>
              <a:t>Lab Steps</a:t>
            </a:r>
          </a:p>
        </p:txBody>
      </p:sp>
      <p:sp>
        <p:nvSpPr>
          <p:cNvPr id="280" name="Markdown formatted text"/>
          <p:cNvSpPr txBox="1"/>
          <p:nvPr/>
        </p:nvSpPr>
        <p:spPr>
          <a:xfrm>
            <a:off x="20418359" y="3217331"/>
            <a:ext cx="3207429" cy="1205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/>
            </a:lvl1pPr>
          </a:lstStyle>
          <a:p>
            <a:r>
              <a:t>Markdown formatted text</a:t>
            </a:r>
          </a:p>
        </p:txBody>
      </p:sp>
      <p:sp>
        <p:nvSpPr>
          <p:cNvPr id="281" name="Code block syntax highlighting"/>
          <p:cNvSpPr txBox="1"/>
          <p:nvPr/>
        </p:nvSpPr>
        <p:spPr>
          <a:xfrm>
            <a:off x="20551516" y="7825221"/>
            <a:ext cx="3207429" cy="17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3600"/>
            </a:lvl1pPr>
          </a:lstStyle>
          <a:p>
            <a:r>
              <a:t>Code block syntax highlighting</a:t>
            </a:r>
          </a:p>
        </p:txBody>
      </p:sp>
      <p:sp>
        <p:nvSpPr>
          <p:cNvPr id="282" name="Line"/>
          <p:cNvSpPr/>
          <p:nvPr/>
        </p:nvSpPr>
        <p:spPr>
          <a:xfrm flipH="1">
            <a:off x="19267219" y="3820300"/>
            <a:ext cx="138225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283" name="Line"/>
          <p:cNvSpPr/>
          <p:nvPr/>
        </p:nvSpPr>
        <p:spPr>
          <a:xfrm flipH="1">
            <a:off x="19267219" y="8707590"/>
            <a:ext cx="138225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Screenshot 2022-12-13 at 09.59.43.png" descr="Screenshot 2022-12-13 at 09.59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117" y="-82271"/>
            <a:ext cx="20218401" cy="13322301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Search"/>
          <p:cNvSpPr txBox="1"/>
          <p:nvPr/>
        </p:nvSpPr>
        <p:spPr>
          <a:xfrm>
            <a:off x="-1809270" y="2980762"/>
            <a:ext cx="7220033" cy="240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defTabSz="2438338">
              <a:lnSpc>
                <a:spcPct val="80000"/>
              </a:lnSpc>
              <a:defRPr sz="8500" spc="-170"/>
            </a:lvl1pPr>
          </a:lstStyle>
          <a:p>
            <a:r>
              <a:t>Search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Youtube Live"/>
          <p:cNvSpPr txBox="1"/>
          <p:nvPr/>
        </p:nvSpPr>
        <p:spPr>
          <a:xfrm>
            <a:off x="4577079" y="5752395"/>
            <a:ext cx="4642232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Youtube Live</a:t>
            </a:r>
          </a:p>
        </p:txBody>
      </p:sp>
      <p:sp>
        <p:nvSpPr>
          <p:cNvPr id="289" name="Live Webinars Delivery"/>
          <p:cNvSpPr txBox="1"/>
          <p:nvPr/>
        </p:nvSpPr>
        <p:spPr>
          <a:xfrm>
            <a:off x="14377987" y="5515850"/>
            <a:ext cx="5069776" cy="1648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Live Webinars Delivery</a:t>
            </a:r>
          </a:p>
        </p:txBody>
      </p:sp>
      <p:pic>
        <p:nvPicPr>
          <p:cNvPr id="290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2"/>
          <a:srcRect l="69322"/>
          <a:stretch>
            <a:fillRect/>
          </a:stretch>
        </p:blipFill>
        <p:spPr>
          <a:xfrm>
            <a:off x="10114174" y="3634596"/>
            <a:ext cx="4368681" cy="50610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Screenshot 2022-01-02 at 09.54.17.png" descr="Screenshot 2022-01-02 at 09.54.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085" y="-1"/>
            <a:ext cx="15157491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Live Stream"/>
          <p:cNvSpPr txBox="1"/>
          <p:nvPr/>
        </p:nvSpPr>
        <p:spPr>
          <a:xfrm>
            <a:off x="-130590" y="1088556"/>
            <a:ext cx="10767474" cy="101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5800" u="sng"/>
            </a:lvl1pPr>
          </a:lstStyle>
          <a:p>
            <a:r>
              <a:t>Live Stream</a:t>
            </a:r>
          </a:p>
        </p:txBody>
      </p:sp>
      <p:sp>
        <p:nvSpPr>
          <p:cNvPr id="294" name="Live stream of webinar for given topic"/>
          <p:cNvSpPr txBox="1"/>
          <p:nvPr/>
        </p:nvSpPr>
        <p:spPr>
          <a:xfrm>
            <a:off x="2492631" y="4676513"/>
            <a:ext cx="5187258" cy="2070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Live stream of webinar for given topic</a:t>
            </a:r>
          </a:p>
        </p:txBody>
      </p:sp>
      <p:sp>
        <p:nvSpPr>
          <p:cNvPr id="295" name="Line"/>
          <p:cNvSpPr/>
          <p:nvPr/>
        </p:nvSpPr>
        <p:spPr>
          <a:xfrm>
            <a:off x="7561410" y="11685401"/>
            <a:ext cx="3504143" cy="1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296" name="Line"/>
          <p:cNvSpPr/>
          <p:nvPr/>
        </p:nvSpPr>
        <p:spPr>
          <a:xfrm>
            <a:off x="7561410" y="5711765"/>
            <a:ext cx="3504143" cy="1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297" name="Slides &amp; Labs for the topic"/>
          <p:cNvSpPr txBox="1"/>
          <p:nvPr/>
        </p:nvSpPr>
        <p:spPr>
          <a:xfrm>
            <a:off x="2897775" y="10974000"/>
            <a:ext cx="4710742" cy="1422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Slides &amp; Labs for the topic</a:t>
            </a:r>
          </a:p>
        </p:txBody>
      </p:sp>
      <p:pic>
        <p:nvPicPr>
          <p:cNvPr id="298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3"/>
          <a:srcRect l="71087" t="18379" r="2450" b="7660"/>
          <a:stretch>
            <a:fillRect/>
          </a:stretch>
        </p:blipFill>
        <p:spPr>
          <a:xfrm>
            <a:off x="127655" y="94411"/>
            <a:ext cx="2259899" cy="22446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Screenshot 2022-12-08 at 07.27.08.png" descr="Screenshot 2022-12-08 at 07.27.08.png"/>
          <p:cNvPicPr>
            <a:picLocks noChangeAspect="1"/>
          </p:cNvPicPr>
          <p:nvPr/>
        </p:nvPicPr>
        <p:blipFill>
          <a:blip r:embed="rId4"/>
          <a:srcRect b="88603"/>
          <a:stretch>
            <a:fillRect/>
          </a:stretch>
        </p:blipFill>
        <p:spPr>
          <a:xfrm>
            <a:off x="8926561" y="0"/>
            <a:ext cx="15340269" cy="20094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Screenshot 2023-01-08 at 18.15.46.png" descr="Screenshot 2023-01-08 at 18.15.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632" y="3333577"/>
            <a:ext cx="21598373" cy="9971249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Pre-recorded Videos for selected slides &amp; labs"/>
          <p:cNvSpPr txBox="1"/>
          <p:nvPr/>
        </p:nvSpPr>
        <p:spPr>
          <a:xfrm>
            <a:off x="7420459" y="1059694"/>
            <a:ext cx="8400643" cy="1422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Pre-recorded Videos for selected slides &amp; labs</a:t>
            </a:r>
          </a:p>
        </p:txBody>
      </p:sp>
      <p:sp>
        <p:nvSpPr>
          <p:cNvPr id="303" name="Line"/>
          <p:cNvSpPr/>
          <p:nvPr/>
        </p:nvSpPr>
        <p:spPr>
          <a:xfrm>
            <a:off x="11620780" y="2750668"/>
            <a:ext cx="1" cy="2711493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pic>
        <p:nvPicPr>
          <p:cNvPr id="304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3"/>
          <a:srcRect l="71087" t="18379" r="2450" b="7660"/>
          <a:stretch>
            <a:fillRect/>
          </a:stretch>
        </p:blipFill>
        <p:spPr>
          <a:xfrm>
            <a:off x="127655" y="94411"/>
            <a:ext cx="2259899" cy="22446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Moodle"/>
          <p:cNvSpPr txBox="1"/>
          <p:nvPr/>
        </p:nvSpPr>
        <p:spPr>
          <a:xfrm>
            <a:off x="5578393" y="6303050"/>
            <a:ext cx="2765477" cy="110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Moodle</a:t>
            </a:r>
          </a:p>
        </p:txBody>
      </p:sp>
      <p:sp>
        <p:nvSpPr>
          <p:cNvPr id="307" name="WIT E-Learning Platform…"/>
          <p:cNvSpPr txBox="1"/>
          <p:nvPr/>
        </p:nvSpPr>
        <p:spPr>
          <a:xfrm>
            <a:off x="13985081" y="2985772"/>
            <a:ext cx="6439715" cy="7744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WIT E-Learning Platform</a:t>
            </a:r>
          </a:p>
          <a:p>
            <a:r>
              <a:t>Used for Assignment Submission + feedback + grades</a:t>
            </a:r>
          </a:p>
          <a:p>
            <a:endParaRPr/>
          </a:p>
          <a:p>
            <a:r>
              <a:t>Occasionally used for additional document distribution</a:t>
            </a:r>
          </a:p>
        </p:txBody>
      </p:sp>
      <p:pic>
        <p:nvPicPr>
          <p:cNvPr id="308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2"/>
          <a:srcRect r="62261"/>
          <a:stretch>
            <a:fillRect/>
          </a:stretch>
        </p:blipFill>
        <p:spPr>
          <a:xfrm>
            <a:off x="8462374" y="5411770"/>
            <a:ext cx="2765369" cy="26041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Screenshot 2018-12-14 at 17.48.01.png" descr="Screenshot 2018-12-14 at 17.48.01.png"/>
          <p:cNvPicPr>
            <a:picLocks noChangeAspect="1"/>
          </p:cNvPicPr>
          <p:nvPr/>
        </p:nvPicPr>
        <p:blipFill>
          <a:blip r:embed="rId2"/>
          <a:srcRect r="20545"/>
          <a:stretch>
            <a:fillRect/>
          </a:stretch>
        </p:blipFill>
        <p:spPr>
          <a:xfrm>
            <a:off x="7596624" y="78570"/>
            <a:ext cx="8787173" cy="13558860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Assignment Submissions"/>
          <p:cNvSpPr txBox="1"/>
          <p:nvPr/>
        </p:nvSpPr>
        <p:spPr>
          <a:xfrm>
            <a:off x="17406027" y="8617486"/>
            <a:ext cx="4986489" cy="164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Assignment Submissions</a:t>
            </a:r>
          </a:p>
        </p:txBody>
      </p:sp>
      <p:sp>
        <p:nvSpPr>
          <p:cNvPr id="312" name="Grades"/>
          <p:cNvSpPr txBox="1"/>
          <p:nvPr/>
        </p:nvSpPr>
        <p:spPr>
          <a:xfrm>
            <a:off x="998334" y="8998486"/>
            <a:ext cx="2237567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Grades</a:t>
            </a:r>
          </a:p>
        </p:txBody>
      </p:sp>
      <p:sp>
        <p:nvSpPr>
          <p:cNvPr id="313" name="Line"/>
          <p:cNvSpPr/>
          <p:nvPr/>
        </p:nvSpPr>
        <p:spPr>
          <a:xfrm flipH="1">
            <a:off x="11299619" y="10303305"/>
            <a:ext cx="6078786" cy="2700464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pic>
        <p:nvPicPr>
          <p:cNvPr id="314" name="Screenshot 2018-12-14 at 17.49.01.png" descr="Screenshot 2018-12-14 at 17.49.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83" y="2840115"/>
            <a:ext cx="4986490" cy="4430442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Line"/>
          <p:cNvSpPr/>
          <p:nvPr/>
        </p:nvSpPr>
        <p:spPr>
          <a:xfrm flipV="1">
            <a:off x="1190184" y="7028500"/>
            <a:ext cx="823793" cy="1772744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316" name="Line"/>
          <p:cNvSpPr/>
          <p:nvPr/>
        </p:nvSpPr>
        <p:spPr>
          <a:xfrm flipH="1" flipV="1">
            <a:off x="10600154" y="5332436"/>
            <a:ext cx="6808614" cy="3480303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sp>
        <p:nvSpPr>
          <p:cNvPr id="317" name="Line"/>
          <p:cNvSpPr/>
          <p:nvPr/>
        </p:nvSpPr>
        <p:spPr>
          <a:xfrm flipH="1" flipV="1">
            <a:off x="11135099" y="9557432"/>
            <a:ext cx="6140706" cy="1"/>
          </a:xfrm>
          <a:prstGeom prst="line">
            <a:avLst/>
          </a:prstGeom>
          <a:ln w="101600">
            <a:solidFill>
              <a:srgbClr val="ABABAB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endParaRPr/>
          </a:p>
        </p:txBody>
      </p:sp>
      <p:pic>
        <p:nvPicPr>
          <p:cNvPr id="318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4"/>
          <a:srcRect r="62261"/>
          <a:stretch>
            <a:fillRect/>
          </a:stretch>
        </p:blipFill>
        <p:spPr>
          <a:xfrm>
            <a:off x="6782" y="-132577"/>
            <a:ext cx="2356534" cy="22191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Screenshot 2018-12-15 at 07.45.14.png" descr="Screenshot 2018-12-15 at 07.45.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620" y="3705816"/>
            <a:ext cx="15796860" cy="94039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Screenshot 2018-12-14 at 17.48.01.png" descr="Screenshot 2018-12-14 at 17.48.01.png"/>
          <p:cNvPicPr>
            <a:picLocks noChangeAspect="1"/>
          </p:cNvPicPr>
          <p:nvPr/>
        </p:nvPicPr>
        <p:blipFill>
          <a:blip r:embed="rId3"/>
          <a:srcRect l="503" t="48904" r="68517" b="26631"/>
          <a:stretch>
            <a:fillRect/>
          </a:stretch>
        </p:blipFill>
        <p:spPr>
          <a:xfrm>
            <a:off x="968058" y="3390227"/>
            <a:ext cx="5714219" cy="5532242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Assessment feedback"/>
          <p:cNvSpPr txBox="1"/>
          <p:nvPr/>
        </p:nvSpPr>
        <p:spPr>
          <a:xfrm>
            <a:off x="11150199" y="1816116"/>
            <a:ext cx="6200141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Assessment feedback</a:t>
            </a:r>
          </a:p>
        </p:txBody>
      </p:sp>
      <p:pic>
        <p:nvPicPr>
          <p:cNvPr id="323" name="Screen Shot 2018-12-14 at 12.36.11.png" descr="Screen Shot 2018-12-14 at 12.36.11.png"/>
          <p:cNvPicPr>
            <a:picLocks noChangeAspect="1"/>
          </p:cNvPicPr>
          <p:nvPr/>
        </p:nvPicPr>
        <p:blipFill>
          <a:blip r:embed="rId4"/>
          <a:srcRect r="62261"/>
          <a:stretch>
            <a:fillRect/>
          </a:stretch>
        </p:blipFill>
        <p:spPr>
          <a:xfrm>
            <a:off x="6782" y="-132577"/>
            <a:ext cx="2356534" cy="22191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utors"/>
          <p:cNvSpPr txBox="1"/>
          <p:nvPr/>
        </p:nvSpPr>
        <p:spPr>
          <a:xfrm>
            <a:off x="5736970" y="5594405"/>
            <a:ext cx="2308684" cy="110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400"/>
            </a:lvl1pPr>
          </a:lstStyle>
          <a:p>
            <a:r>
              <a:t>Tutors</a:t>
            </a:r>
          </a:p>
        </p:txBody>
      </p:sp>
      <p:sp>
        <p:nvSpPr>
          <p:cNvPr id="326" name="TutorsTime…"/>
          <p:cNvSpPr txBox="1"/>
          <p:nvPr/>
        </p:nvSpPr>
        <p:spPr>
          <a:xfrm>
            <a:off x="12668649" y="5040084"/>
            <a:ext cx="5069776" cy="2410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TutorsTime</a:t>
            </a:r>
          </a:p>
          <a:p>
            <a:endParaRPr/>
          </a:p>
          <a:p>
            <a:r>
              <a:t>TutorsLive</a:t>
            </a:r>
          </a:p>
        </p:txBody>
      </p:sp>
      <p:pic>
        <p:nvPicPr>
          <p:cNvPr id="327" name="Screenshot 2022-01-01 at 13.49.13.png" descr="Screenshot 2022-01-01 at 13.49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8611" y="4492049"/>
            <a:ext cx="2081004" cy="18261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Screenshot 2022-01-01 at 13.49.28.png" descr="Screenshot 2022-01-01 at 13.49.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333" y="6202869"/>
            <a:ext cx="2141558" cy="18793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" name="Screenshot 2022-01-13 at 06.47.11.png" descr="Screenshot 2022-01-13 at 06.47.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683" y="4574750"/>
            <a:ext cx="4091281" cy="31492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When accessing module, you will be asked to sign in with Github"/>
          <p:cNvSpPr txBox="1"/>
          <p:nvPr/>
        </p:nvSpPr>
        <p:spPr>
          <a:xfrm>
            <a:off x="13761102" y="1175643"/>
            <a:ext cx="6600079" cy="3131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/>
          </a:lstStyle>
          <a:p>
            <a:r>
              <a:t>When accessing module, you will be asked to sign in with Github</a:t>
            </a:r>
          </a:p>
        </p:txBody>
      </p:sp>
      <p:pic>
        <p:nvPicPr>
          <p:cNvPr id="332" name="Screenshot 2020-12-16 at 11.11.51.png" descr="Screenshot 2020-12-16 at 11.11.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091" y="4706737"/>
            <a:ext cx="8166101" cy="82804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… first time you will have to authorise …"/>
          <p:cNvSpPr txBox="1"/>
          <p:nvPr/>
        </p:nvSpPr>
        <p:spPr>
          <a:xfrm>
            <a:off x="2984893" y="9576512"/>
            <a:ext cx="6600079" cy="1607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/>
          </a:lstStyle>
          <a:p>
            <a:r>
              <a:t>… first time you will have to authorise …</a:t>
            </a:r>
          </a:p>
        </p:txBody>
      </p:sp>
      <p:sp>
        <p:nvSpPr>
          <p:cNvPr id="334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216221" y="12985800"/>
            <a:ext cx="368504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/>
          <a:lstStyle>
            <a:lvl1pPr defTabSz="825500"/>
          </a:lstStyle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335" name="Arrow"/>
          <p:cNvSpPr/>
          <p:nvPr/>
        </p:nvSpPr>
        <p:spPr>
          <a:xfrm>
            <a:off x="10036182" y="2321830"/>
            <a:ext cx="1855926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60" y="14256"/>
                </a:moveTo>
                <a:lnTo>
                  <a:pt x="9460" y="21600"/>
                </a:lnTo>
                <a:lnTo>
                  <a:pt x="0" y="10800"/>
                </a:lnTo>
                <a:lnTo>
                  <a:pt x="9460" y="0"/>
                </a:lnTo>
                <a:lnTo>
                  <a:pt x="9460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6" name="Arrow"/>
          <p:cNvSpPr/>
          <p:nvPr/>
        </p:nvSpPr>
        <p:spPr>
          <a:xfrm>
            <a:off x="10353568" y="9745102"/>
            <a:ext cx="1855926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37" name="Screenshot 2023-01-08 at 18.21.41.png" descr="Screenshot 2023-01-08 at 18.21.41.png"/>
          <p:cNvPicPr>
            <a:picLocks noChangeAspect="1"/>
          </p:cNvPicPr>
          <p:nvPr/>
        </p:nvPicPr>
        <p:blipFill>
          <a:blip r:embed="rId3"/>
          <a:srcRect l="29747" t="15172" r="26663" b="13151"/>
          <a:stretch>
            <a:fillRect/>
          </a:stretch>
        </p:blipFill>
        <p:spPr>
          <a:xfrm>
            <a:off x="3198242" y="304290"/>
            <a:ext cx="6699709" cy="89914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Screenshot 2023-01-08 at 18.22.51.png" descr="Screenshot 2023-01-08 at 18.22.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99" y="692894"/>
            <a:ext cx="23265802" cy="123302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Screenshot 2020-12-16 at 10.56.48.png" descr="Screenshot 2020-12-16 at 10.56.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79" y="3033915"/>
            <a:ext cx="23557394" cy="8252360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Github Profile"/>
          <p:cNvSpPr txBox="1"/>
          <p:nvPr/>
        </p:nvSpPr>
        <p:spPr>
          <a:xfrm>
            <a:off x="9676537" y="1162716"/>
            <a:ext cx="5726966" cy="1043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6300" u="sng"/>
            </a:lvl1pPr>
          </a:lstStyle>
          <a:p>
            <a:r>
              <a:t>Github Profile</a:t>
            </a:r>
          </a:p>
        </p:txBody>
      </p:sp>
      <p:sp>
        <p:nvSpPr>
          <p:cNvPr id="343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216221" y="12985800"/>
            <a:ext cx="368504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/>
          <a:lstStyle>
            <a:lvl1pPr defTabSz="825500"/>
          </a:lstStyle>
          <a:p>
            <a:fld id="{86CB4B4D-7CA3-9044-876B-883B54F8677D}" type="slidenum">
              <a:rPr/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Screenshot 2023-01-08 at 18.27.17.png" descr="Screenshot 2023-01-08 at 18.27.17.png"/>
          <p:cNvPicPr>
            <a:picLocks noChangeAspect="1"/>
          </p:cNvPicPr>
          <p:nvPr/>
        </p:nvPicPr>
        <p:blipFill>
          <a:blip r:embed="rId2"/>
          <a:srcRect r="711"/>
          <a:stretch>
            <a:fillRect/>
          </a:stretch>
        </p:blipFill>
        <p:spPr>
          <a:xfrm>
            <a:off x="547119" y="2759450"/>
            <a:ext cx="17212178" cy="2492379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TutorsTime - Labs"/>
          <p:cNvSpPr txBox="1"/>
          <p:nvPr/>
        </p:nvSpPr>
        <p:spPr>
          <a:xfrm>
            <a:off x="2463203" y="547934"/>
            <a:ext cx="7235255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 algn="l"/>
          </a:lstStyle>
          <a:p>
            <a:r>
              <a:t>TutorsTime - Labs</a:t>
            </a:r>
          </a:p>
        </p:txBody>
      </p:sp>
      <p:pic>
        <p:nvPicPr>
          <p:cNvPr id="347" name="Screenshot 2022-01-02 at 10.13.09.png" descr="Screenshot 2022-01-02 at 10.13.09.png"/>
          <p:cNvPicPr>
            <a:picLocks noChangeAspect="1"/>
          </p:cNvPicPr>
          <p:nvPr/>
        </p:nvPicPr>
        <p:blipFill>
          <a:blip r:embed="rId3"/>
          <a:srcRect l="4788" t="50532" r="4788" b="5695"/>
          <a:stretch>
            <a:fillRect/>
          </a:stretch>
        </p:blipFill>
        <p:spPr>
          <a:xfrm>
            <a:off x="474689" y="5222452"/>
            <a:ext cx="17356968" cy="3833812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Arrow"/>
          <p:cNvSpPr/>
          <p:nvPr/>
        </p:nvSpPr>
        <p:spPr>
          <a:xfrm>
            <a:off x="18160710" y="6056113"/>
            <a:ext cx="1351223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3" y="14256"/>
                </a:moveTo>
                <a:lnTo>
                  <a:pt x="12993" y="21600"/>
                </a:lnTo>
                <a:lnTo>
                  <a:pt x="0" y="10800"/>
                </a:lnTo>
                <a:lnTo>
                  <a:pt x="12993" y="0"/>
                </a:lnTo>
                <a:lnTo>
                  <a:pt x="12993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9" name="Number of minutes the Each lab has been active in your browser (estimate)"/>
          <p:cNvSpPr txBox="1"/>
          <p:nvPr/>
        </p:nvSpPr>
        <p:spPr>
          <a:xfrm>
            <a:off x="18900787" y="9028880"/>
            <a:ext cx="5208985" cy="389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/>
          </a:lstStyle>
          <a:p>
            <a:r>
              <a:t>Number of minutes the Each lab has been active in your browser (estimate)</a:t>
            </a:r>
          </a:p>
        </p:txBody>
      </p:sp>
      <p:pic>
        <p:nvPicPr>
          <p:cNvPr id="350" name="Screenshot 2022-01-13 at 06.47.11.png" descr="Screenshot 2022-01-13 at 06.47.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8" y="116531"/>
            <a:ext cx="2465267" cy="1897607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" name="Screenshot 2023-01-08 at 18.28.34.png" descr="Screenshot 2023-01-08 at 18.28.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3505" y="410431"/>
            <a:ext cx="4105891" cy="86492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utorsTime - Chart"/>
          <p:cNvSpPr txBox="1"/>
          <p:nvPr/>
        </p:nvSpPr>
        <p:spPr>
          <a:xfrm>
            <a:off x="2463203" y="547934"/>
            <a:ext cx="7235255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 algn="l"/>
          </a:lstStyle>
          <a:p>
            <a:r>
              <a:t>TutorsTime - Chart</a:t>
            </a:r>
          </a:p>
        </p:txBody>
      </p:sp>
      <p:sp>
        <p:nvSpPr>
          <p:cNvPr id="354" name="Arrow"/>
          <p:cNvSpPr/>
          <p:nvPr/>
        </p:nvSpPr>
        <p:spPr>
          <a:xfrm>
            <a:off x="18160710" y="6056113"/>
            <a:ext cx="1351223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3" y="14256"/>
                </a:moveTo>
                <a:lnTo>
                  <a:pt x="12993" y="21600"/>
                </a:lnTo>
                <a:lnTo>
                  <a:pt x="0" y="10800"/>
                </a:lnTo>
                <a:lnTo>
                  <a:pt x="12993" y="0"/>
                </a:lnTo>
                <a:lnTo>
                  <a:pt x="12993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5" name="At a glance comparative time spent on each labs"/>
          <p:cNvSpPr txBox="1"/>
          <p:nvPr/>
        </p:nvSpPr>
        <p:spPr>
          <a:xfrm>
            <a:off x="18900787" y="9409880"/>
            <a:ext cx="5208985" cy="3131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/>
          </a:lstStyle>
          <a:p>
            <a:r>
              <a:t>At a glance comparative time spent on each labs</a:t>
            </a:r>
          </a:p>
        </p:txBody>
      </p:sp>
      <p:pic>
        <p:nvPicPr>
          <p:cNvPr id="356" name="Screenshot 2022-01-13 at 06.47.11.png" descr="Screenshot 2022-01-13 at 06.47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" y="116531"/>
            <a:ext cx="2465267" cy="1897607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Screenshot 2023-01-08 at 18.27.17.png" descr="Screenshot 2023-01-08 at 18.27.17.png"/>
          <p:cNvPicPr>
            <a:picLocks noChangeAspect="1"/>
          </p:cNvPicPr>
          <p:nvPr/>
        </p:nvPicPr>
        <p:blipFill>
          <a:blip r:embed="rId3"/>
          <a:srcRect r="711"/>
          <a:stretch>
            <a:fillRect/>
          </a:stretch>
        </p:blipFill>
        <p:spPr>
          <a:xfrm>
            <a:off x="547119" y="2759450"/>
            <a:ext cx="17212178" cy="249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8" name="Screenshot 2023-01-08 at 18.28.34.png" descr="Screenshot 2023-01-08 at 18.28.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3505" y="410431"/>
            <a:ext cx="4105891" cy="86492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" name="Screenshot 2023-01-08 at 18.43.53.png" descr="Screenshot 2023-01-08 at 18.43.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35" y="5080448"/>
            <a:ext cx="17608440" cy="75652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utorsTime - Calendar"/>
          <p:cNvSpPr txBox="1"/>
          <p:nvPr/>
        </p:nvSpPr>
        <p:spPr>
          <a:xfrm>
            <a:off x="2463203" y="547934"/>
            <a:ext cx="7235255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>
            <a:spAutoFit/>
          </a:bodyPr>
          <a:lstStyle>
            <a:lvl1pPr algn="l"/>
          </a:lstStyle>
          <a:p>
            <a:r>
              <a:t>TutorsTime - Calendar</a:t>
            </a:r>
          </a:p>
        </p:txBody>
      </p:sp>
      <p:sp>
        <p:nvSpPr>
          <p:cNvPr id="362" name="Arrow"/>
          <p:cNvSpPr/>
          <p:nvPr/>
        </p:nvSpPr>
        <p:spPr>
          <a:xfrm>
            <a:off x="18160710" y="6056113"/>
            <a:ext cx="1351223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3" y="14256"/>
                </a:moveTo>
                <a:lnTo>
                  <a:pt x="12993" y="21600"/>
                </a:lnTo>
                <a:lnTo>
                  <a:pt x="0" y="10800"/>
                </a:lnTo>
                <a:lnTo>
                  <a:pt x="12993" y="0"/>
                </a:lnTo>
                <a:lnTo>
                  <a:pt x="12993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3" name="Time online each week of the semester"/>
          <p:cNvSpPr txBox="1"/>
          <p:nvPr/>
        </p:nvSpPr>
        <p:spPr>
          <a:xfrm>
            <a:off x="18900787" y="9790880"/>
            <a:ext cx="5208985" cy="2369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/>
          </a:lstStyle>
          <a:p>
            <a:r>
              <a:t>Time online each week of the semester</a:t>
            </a:r>
          </a:p>
        </p:txBody>
      </p:sp>
      <p:pic>
        <p:nvPicPr>
          <p:cNvPr id="364" name="Screenshot 2022-01-13 at 06.47.11.png" descr="Screenshot 2022-01-13 at 06.47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" y="116531"/>
            <a:ext cx="2465267" cy="189760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" name="Screenshot 2023-01-08 at 18.27.17.png" descr="Screenshot 2023-01-08 at 18.27.17.png"/>
          <p:cNvPicPr>
            <a:picLocks noChangeAspect="1"/>
          </p:cNvPicPr>
          <p:nvPr/>
        </p:nvPicPr>
        <p:blipFill>
          <a:blip r:embed="rId3"/>
          <a:srcRect r="711"/>
          <a:stretch>
            <a:fillRect/>
          </a:stretch>
        </p:blipFill>
        <p:spPr>
          <a:xfrm>
            <a:off x="547119" y="2759450"/>
            <a:ext cx="17212178" cy="2492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6" name="Screenshot 2023-01-08 at 18.28.34.png" descr="Screenshot 2023-01-08 at 18.28.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3505" y="410431"/>
            <a:ext cx="4105891" cy="86492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" name="Screenshot 2022-01-02 at 10.16.05.png" descr="Screenshot 2022-01-02 at 10.16.05.png"/>
          <p:cNvPicPr>
            <a:picLocks noChangeAspect="1"/>
          </p:cNvPicPr>
          <p:nvPr/>
        </p:nvPicPr>
        <p:blipFill>
          <a:blip r:embed="rId5"/>
          <a:srcRect l="5391" t="39018" r="5391"/>
          <a:stretch>
            <a:fillRect/>
          </a:stretch>
        </p:blipFill>
        <p:spPr>
          <a:xfrm>
            <a:off x="498501" y="5199963"/>
            <a:ext cx="17309193" cy="69498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Screenshot 2022-01-13 at 06.47.11.png" descr="Screenshot 2022-01-13 at 06.47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" y="116531"/>
            <a:ext cx="2465267" cy="1897607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01"/>
          <p:cNvSpPr txBox="1">
            <a:spLocks noGrp="1"/>
          </p:cNvSpPr>
          <p:nvPr>
            <p:ph type="sldNum" sz="quarter" idx="4294967295"/>
          </p:nvPr>
        </p:nvSpPr>
        <p:spPr>
          <a:xfrm>
            <a:off x="23216221" y="12985800"/>
            <a:ext cx="368504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/>
          <a:lstStyle>
            <a:lvl1pPr defTabSz="825500"/>
          </a:lstStyle>
          <a:p>
            <a:fld id="{86CB4B4D-7CA3-9044-876B-883B54F8677D}" type="slidenum">
              <a:t>28</a:t>
            </a:fld>
            <a:endParaRPr/>
          </a:p>
        </p:txBody>
      </p:sp>
      <p:sp>
        <p:nvSpPr>
          <p:cNvPr id="371" name="Any students currently online will appear here, indicating the topic/lab they may be working on"/>
          <p:cNvSpPr txBox="1"/>
          <p:nvPr/>
        </p:nvSpPr>
        <p:spPr>
          <a:xfrm>
            <a:off x="17604334" y="9164572"/>
            <a:ext cx="6600079" cy="389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/>
          </a:lstStyle>
          <a:p>
            <a:r>
              <a:t>Any students currently online will appear here, indicating the topic/lab they may be working on</a:t>
            </a:r>
          </a:p>
        </p:txBody>
      </p:sp>
      <p:sp>
        <p:nvSpPr>
          <p:cNvPr id="372" name="You may choose to not appear on this page if you prefer not share your presence"/>
          <p:cNvSpPr txBox="1"/>
          <p:nvPr/>
        </p:nvSpPr>
        <p:spPr>
          <a:xfrm>
            <a:off x="605264" y="6616723"/>
            <a:ext cx="5476483" cy="3894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/>
            <a:r>
              <a:t>You may choose to not appear on this page if you prefer not </a:t>
            </a:r>
            <a:r>
              <a:rPr i="1">
                <a:latin typeface="Helvetica Neue"/>
                <a:ea typeface="Helvetica Neue"/>
                <a:cs typeface="Helvetica Neue"/>
                <a:sym typeface="Helvetica Neue"/>
              </a:rPr>
              <a:t>share your presence</a:t>
            </a:r>
          </a:p>
        </p:txBody>
      </p:sp>
      <p:sp>
        <p:nvSpPr>
          <p:cNvPr id="373" name="Arrow"/>
          <p:cNvSpPr/>
          <p:nvPr/>
        </p:nvSpPr>
        <p:spPr>
          <a:xfrm>
            <a:off x="18049453" y="4795191"/>
            <a:ext cx="1351223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3" y="14256"/>
                </a:moveTo>
                <a:lnTo>
                  <a:pt x="12993" y="21600"/>
                </a:lnTo>
                <a:lnTo>
                  <a:pt x="0" y="10800"/>
                </a:lnTo>
                <a:lnTo>
                  <a:pt x="12993" y="0"/>
                </a:lnTo>
                <a:lnTo>
                  <a:pt x="12993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74" name="Screenshot 2022-01-02 at 10.26.03.png" descr="Screenshot 2022-01-02 at 10.26.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608" y="3405097"/>
            <a:ext cx="11339984" cy="8615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Screenshot 2023-01-08 at 18.50.46.png" descr="Screenshot 2023-01-08 at 18.50.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88" y="1385367"/>
            <a:ext cx="17348201" cy="1841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" name="Screenshot 2023-01-08 at 18.51.22.png" descr="Screenshot 2023-01-08 at 18.51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6569" y="140132"/>
            <a:ext cx="4674993" cy="8915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https://tutors.dev"/>
          <p:cNvSpPr txBox="1"/>
          <p:nvPr/>
        </p:nvSpPr>
        <p:spPr>
          <a:xfrm>
            <a:off x="1884729" y="6305609"/>
            <a:ext cx="5476483" cy="845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u="sng">
                <a:hlinkClick r:id="rId2"/>
              </a:defRPr>
            </a:lvl1pPr>
          </a:lstStyle>
          <a:p>
            <a:pPr>
              <a:defRPr u="none"/>
            </a:pPr>
            <a:r>
              <a:rPr u="sng">
                <a:hlinkClick r:id="rId2"/>
              </a:rPr>
              <a:t>https://tutors.dev</a:t>
            </a:r>
          </a:p>
        </p:txBody>
      </p:sp>
      <p:pic>
        <p:nvPicPr>
          <p:cNvPr id="379" name="Screenshot 2022-01-13 at 06.47.11.png" descr="Screenshot 2022-01-13 at 06.47.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8" y="116531"/>
            <a:ext cx="2465267" cy="1897607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" name="Screenshot 2023-01-08 at 18.52.58.png" descr="Screenshot 2023-01-08 at 18.52.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950" y="-1"/>
            <a:ext cx="13180742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Screenshot 2022-01-13 at 06.47.11.png" descr="Screenshot 2022-01-13 at 06.47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" y="116531"/>
            <a:ext cx="2465267" cy="1897607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" name="Screenshot 2023-01-08 at 18.55.20.png" descr="Screenshot 2023-01-08 at 18.55.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39" y="1729319"/>
            <a:ext cx="23105366" cy="12280182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https://reader.tutors.dev/course/tutors-project-site"/>
          <p:cNvSpPr txBox="1"/>
          <p:nvPr/>
        </p:nvSpPr>
        <p:spPr>
          <a:xfrm>
            <a:off x="6309034" y="481022"/>
            <a:ext cx="13879831" cy="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hlinkClick r:id="rId4"/>
              </a:defRPr>
            </a:lvl1pPr>
          </a:lstStyle>
          <a:p>
            <a:pPr>
              <a:defRPr u="none"/>
            </a:pPr>
            <a:r>
              <a:rPr u="sng">
                <a:hlinkClick r:id="rId4"/>
              </a:rPr>
              <a:t>https://reader.tutors.dev/course/tutors-project-site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Office PowerPoint</Application>
  <PresentationFormat>Custom</PresentationFormat>
  <Paragraphs>107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Helvetica</vt:lpstr>
      <vt:lpstr>Helvetica Neue</vt:lpstr>
      <vt:lpstr>Helvetica Neue Light</vt:lpstr>
      <vt:lpstr>Helvetica Neue Medium</vt:lpstr>
      <vt:lpstr>ModernPortfolio</vt:lpstr>
      <vt:lpstr>Higher Diploma in Science in Computer Science </vt:lpstr>
      <vt:lpstr>PowerPoint Presentation</vt:lpstr>
      <vt:lpstr>PowerPoint Presentation</vt:lpstr>
      <vt:lpstr>Programme homepage</vt:lpstr>
      <vt:lpstr>A course homepage</vt:lpstr>
      <vt:lpstr>Navigation</vt:lpstr>
      <vt:lpstr>Navigation</vt:lpstr>
      <vt:lpstr>Theme Support</vt:lpstr>
      <vt:lpstr>Topics - 1 topic/card for each week</vt:lpstr>
      <vt:lpstr>Single Topic</vt:lpstr>
      <vt:lpstr>Sub Topic</vt:lpstr>
      <vt:lpstr>PowerPoint Presentation</vt:lpstr>
      <vt:lpstr>Labs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Walsh</cp:lastModifiedBy>
  <cp:revision>2</cp:revision>
  <dcterms:modified xsi:type="dcterms:W3CDTF">2024-12-17T06:20:11Z</dcterms:modified>
</cp:coreProperties>
</file>