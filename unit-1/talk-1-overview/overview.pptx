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l" defTabSz="6429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>
        <a:fontRef idx="major">
          <a:srgbClr val="444444"/>
        </a:fontRef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>
        <a:fontRef idx="major">
          <a:srgbClr val="444444"/>
        </a:fontRef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>
        <a:fontRef idx="major">
          <a:srgbClr val="444444"/>
        </a:fontRef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>
        <a:fontRef idx="major">
          <a:srgbClr val="444444"/>
        </a:fontRef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>
        <a:fontRef idx="major">
          <a:srgbClr val="444444"/>
        </a:fontRef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>
        <a:fontRef idx="major">
          <a:srgbClr val="444444"/>
        </a:fontRef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>
        <a:fontRef idx="major">
          <a:srgbClr val="777777"/>
        </a:fontRef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D51ADE6A-740E-44AE-83CC-AE7238B6C88D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136" y="14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7" name="Shape 2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"/>
          <p:cNvSpPr/>
          <p:nvPr/>
        </p:nvSpPr>
        <p:spPr>
          <a:xfrm>
            <a:off x="3958828" y="6679406"/>
            <a:ext cx="1646637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3851671" y="1857375"/>
            <a:ext cx="16680658" cy="446484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51671" y="7054453"/>
            <a:ext cx="16680658" cy="446484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6" y="12930187"/>
            <a:ext cx="409779" cy="4158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ster #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31" name="Text"/>
          <p:cNvSpPr txBox="1">
            <a:spLocks noGrp="1"/>
          </p:cNvSpPr>
          <p:nvPr>
            <p:ph type="body" sz="quarter" idx="21"/>
          </p:nvPr>
        </p:nvSpPr>
        <p:spPr>
          <a:xfrm>
            <a:off x="11459765" y="11947921"/>
            <a:ext cx="9161860" cy="53578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2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>
              <a:defRPr sz="5800">
                <a:latin typeface="+mn-lt"/>
                <a:ea typeface="+mn-ea"/>
                <a:cs typeface="+mn-cs"/>
                <a:sym typeface="Helvetica Neue Light"/>
              </a:defRPr>
            </a:pPr>
            <a:r>
              <a:rPr sz="2200">
                <a:latin typeface="Monaco"/>
                <a:ea typeface="Monaco"/>
                <a:cs typeface="Monaco"/>
                <a:sym typeface="Monaco"/>
              </a:rPr>
              <a:t>Text</a:t>
            </a:r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51671" y="3268265"/>
            <a:ext cx="7340204" cy="923329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01"/>
          <p:cNvSpPr txBox="1">
            <a:spLocks noGrp="1"/>
          </p:cNvSpPr>
          <p:nvPr>
            <p:ph type="sldNum" sz="quarter" idx="2"/>
          </p:nvPr>
        </p:nvSpPr>
        <p:spPr>
          <a:xfrm>
            <a:off x="23520416" y="12975135"/>
            <a:ext cx="409780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1214437"/>
            <a:ext cx="16680658" cy="11287126"/>
          </a:xfrm>
          <a:prstGeom prst="rect">
            <a:avLst/>
          </a:prstGeom>
        </p:spPr>
        <p:txBody>
          <a:bodyPr/>
          <a:lstStyle>
            <a:lvl1pPr>
              <a:spcBef>
                <a:spcPts val="10100"/>
              </a:spcBef>
              <a:defRPr>
                <a:solidFill>
                  <a:srgbClr val="747474"/>
                </a:solidFill>
              </a:defRPr>
            </a:lvl1pPr>
            <a:lvl2pPr>
              <a:spcBef>
                <a:spcPts val="10100"/>
              </a:spcBef>
              <a:defRPr>
                <a:solidFill>
                  <a:srgbClr val="747474"/>
                </a:solidFill>
              </a:defRPr>
            </a:lvl2pPr>
            <a:lvl3pPr>
              <a:spcBef>
                <a:spcPts val="10100"/>
              </a:spcBef>
              <a:defRPr>
                <a:solidFill>
                  <a:srgbClr val="747474"/>
                </a:solidFill>
              </a:defRPr>
            </a:lvl3pPr>
            <a:lvl4pPr>
              <a:spcBef>
                <a:spcPts val="10100"/>
              </a:spcBef>
              <a:defRPr>
                <a:solidFill>
                  <a:srgbClr val="747474"/>
                </a:solidFill>
              </a:defRPr>
            </a:lvl4pPr>
            <a:lvl5pPr>
              <a:spcBef>
                <a:spcPts val="10100"/>
              </a:spcBef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xfrm>
            <a:off x="3851671" y="5214937"/>
            <a:ext cx="16680658" cy="3286126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66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6" y="12930187"/>
            <a:ext cx="409779" cy="4158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Line"/>
          <p:cNvSpPr/>
          <p:nvPr/>
        </p:nvSpPr>
        <p:spPr>
          <a:xfrm>
            <a:off x="13656469" y="11215686"/>
            <a:ext cx="1" cy="20004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74" name="dv1989002.jpeg"/>
          <p:cNvSpPr>
            <a:spLocks noGrp="1"/>
          </p:cNvSpPr>
          <p:nvPr>
            <p:ph type="pic" idx="21"/>
          </p:nvPr>
        </p:nvSpPr>
        <p:spPr>
          <a:xfrm>
            <a:off x="2905125" y="0"/>
            <a:ext cx="18430875" cy="1230861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5030390" y="10947796"/>
            <a:ext cx="8143876" cy="2393158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085093" y="11912203"/>
            <a:ext cx="6965157" cy="7143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Line"/>
          <p:cNvSpPr/>
          <p:nvPr/>
        </p:nvSpPr>
        <p:spPr>
          <a:xfrm>
            <a:off x="3958828" y="6679406"/>
            <a:ext cx="6865485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85" name="stk213280rke.jpeg"/>
          <p:cNvSpPr>
            <a:spLocks noGrp="1"/>
          </p:cNvSpPr>
          <p:nvPr>
            <p:ph type="pic" sz="half" idx="21"/>
          </p:nvPr>
        </p:nvSpPr>
        <p:spPr>
          <a:xfrm>
            <a:off x="12162141" y="-205383"/>
            <a:ext cx="9358313" cy="1392780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3851671" y="1857375"/>
            <a:ext cx="7143751" cy="446484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51671" y="7054453"/>
            <a:ext cx="7143751" cy="446484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01"/>
          <p:cNvSpPr txBox="1">
            <a:spLocks noGrp="1"/>
          </p:cNvSpPr>
          <p:nvPr>
            <p:ph type="sldNum" sz="quarter" idx="2"/>
          </p:nvPr>
        </p:nvSpPr>
        <p:spPr>
          <a:xfrm>
            <a:off x="3762375" y="12930187"/>
            <a:ext cx="409779" cy="4158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e"/>
          <p:cNvSpPr/>
          <p:nvPr/>
        </p:nvSpPr>
        <p:spPr>
          <a:xfrm>
            <a:off x="3958828" y="2768203"/>
            <a:ext cx="685809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96" name="stk213280rke.jpeg"/>
          <p:cNvSpPr>
            <a:spLocks noGrp="1"/>
          </p:cNvSpPr>
          <p:nvPr>
            <p:ph type="pic" sz="half" idx="21"/>
          </p:nvPr>
        </p:nvSpPr>
        <p:spPr>
          <a:xfrm>
            <a:off x="12162141" y="-205383"/>
            <a:ext cx="9358313" cy="1392780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7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7143751" cy="196453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51671" y="3268265"/>
            <a:ext cx="7143751" cy="92332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47474"/>
                </a:solidFill>
              </a:defRPr>
            </a:lvl1pPr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01"/>
          <p:cNvSpPr txBox="1">
            <a:spLocks noGrp="1"/>
          </p:cNvSpPr>
          <p:nvPr>
            <p:ph type="sldNum" sz="quarter" idx="2"/>
          </p:nvPr>
        </p:nvSpPr>
        <p:spPr>
          <a:xfrm>
            <a:off x="3766232" y="12930187"/>
            <a:ext cx="409779" cy="4158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2 Up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Line"/>
          <p:cNvSpPr/>
          <p:nvPr/>
        </p:nvSpPr>
        <p:spPr>
          <a:xfrm flipH="1">
            <a:off x="12191999" y="2536031"/>
            <a:ext cx="1" cy="6072188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07" name="dv1989002.jpeg"/>
          <p:cNvSpPr>
            <a:spLocks noGrp="1"/>
          </p:cNvSpPr>
          <p:nvPr>
            <p:ph type="pic" sz="quarter" idx="21"/>
          </p:nvPr>
        </p:nvSpPr>
        <p:spPr>
          <a:xfrm>
            <a:off x="11542746" y="2307295"/>
            <a:ext cx="9795566" cy="654173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8" name="phaagb000019_1928x1287.jpeg"/>
          <p:cNvSpPr>
            <a:spLocks noGrp="1"/>
          </p:cNvSpPr>
          <p:nvPr>
            <p:ph type="pic" sz="quarter" idx="22"/>
          </p:nvPr>
        </p:nvSpPr>
        <p:spPr>
          <a:xfrm>
            <a:off x="3512344" y="2393156"/>
            <a:ext cx="9787776" cy="653653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2 Up Portrait &amp;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Line"/>
          <p:cNvSpPr/>
          <p:nvPr/>
        </p:nvSpPr>
        <p:spPr>
          <a:xfrm flipH="1">
            <a:off x="9280921" y="2500312"/>
            <a:ext cx="1" cy="7108032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18" name="200171796-1.jpeg"/>
          <p:cNvSpPr>
            <a:spLocks noGrp="1"/>
          </p:cNvSpPr>
          <p:nvPr>
            <p:ph type="pic" sz="half" idx="21"/>
          </p:nvPr>
        </p:nvSpPr>
        <p:spPr>
          <a:xfrm>
            <a:off x="2465531" y="2316846"/>
            <a:ext cx="10341641" cy="754262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19" name="phaagb000019_1928x1287.jpeg"/>
          <p:cNvSpPr>
            <a:spLocks noGrp="1"/>
          </p:cNvSpPr>
          <p:nvPr>
            <p:ph type="pic" sz="half" idx="22"/>
          </p:nvPr>
        </p:nvSpPr>
        <p:spPr>
          <a:xfrm>
            <a:off x="8381809" y="1514558"/>
            <a:ext cx="12674005" cy="846402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2 Up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Line"/>
          <p:cNvSpPr/>
          <p:nvPr/>
        </p:nvSpPr>
        <p:spPr>
          <a:xfrm flipH="1">
            <a:off x="12174139" y="714375"/>
            <a:ext cx="1" cy="11269309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29" name="200171796-1.jpeg"/>
          <p:cNvSpPr>
            <a:spLocks noGrp="1"/>
          </p:cNvSpPr>
          <p:nvPr>
            <p:ph type="pic" idx="21"/>
          </p:nvPr>
        </p:nvSpPr>
        <p:spPr>
          <a:xfrm>
            <a:off x="1922859" y="716053"/>
            <a:ext cx="15524683" cy="1132284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0" name="stk213280rke.jpeg"/>
          <p:cNvSpPr>
            <a:spLocks noGrp="1"/>
          </p:cNvSpPr>
          <p:nvPr>
            <p:ph type="pic" sz="half" idx="22"/>
          </p:nvPr>
        </p:nvSpPr>
        <p:spPr>
          <a:xfrm>
            <a:off x="12351000" y="-330399"/>
            <a:ext cx="8436001" cy="1255514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Line"/>
          <p:cNvSpPr/>
          <p:nvPr/>
        </p:nvSpPr>
        <p:spPr>
          <a:xfrm flipH="1">
            <a:off x="9298778" y="2500269"/>
            <a:ext cx="1" cy="7126002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40" name="Line"/>
          <p:cNvSpPr/>
          <p:nvPr/>
        </p:nvSpPr>
        <p:spPr>
          <a:xfrm>
            <a:off x="15067356" y="2500269"/>
            <a:ext cx="1" cy="7126002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41" name="phaagb000019_1928x1287.jpeg"/>
          <p:cNvSpPr>
            <a:spLocks noGrp="1"/>
          </p:cNvSpPr>
          <p:nvPr>
            <p:ph type="pic" sz="half" idx="21"/>
          </p:nvPr>
        </p:nvSpPr>
        <p:spPr>
          <a:xfrm>
            <a:off x="-1738312" y="2268140"/>
            <a:ext cx="11365586" cy="759023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2" name="stk213280rke.jpeg"/>
          <p:cNvSpPr>
            <a:spLocks noGrp="1"/>
          </p:cNvSpPr>
          <p:nvPr>
            <p:ph type="pic" sz="half" idx="22"/>
          </p:nvPr>
        </p:nvSpPr>
        <p:spPr>
          <a:xfrm>
            <a:off x="12904640" y="-1455540"/>
            <a:ext cx="8436001" cy="1255514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3" name="200171796-1.jpeg"/>
          <p:cNvSpPr>
            <a:spLocks noGrp="1"/>
          </p:cNvSpPr>
          <p:nvPr>
            <p:ph type="pic" sz="half" idx="23"/>
          </p:nvPr>
        </p:nvSpPr>
        <p:spPr>
          <a:xfrm>
            <a:off x="7549896" y="1777025"/>
            <a:ext cx="10977731" cy="800654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200171796-1.jpeg"/>
          <p:cNvSpPr>
            <a:spLocks noGrp="1"/>
          </p:cNvSpPr>
          <p:nvPr>
            <p:ph type="pic" idx="21"/>
          </p:nvPr>
        </p:nvSpPr>
        <p:spPr>
          <a:xfrm>
            <a:off x="3387328" y="430303"/>
            <a:ext cx="17609344" cy="1284328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4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ine"/>
          <p:cNvSpPr/>
          <p:nvPr/>
        </p:nvSpPr>
        <p:spPr>
          <a:xfrm flipH="1">
            <a:off x="12174137" y="732190"/>
            <a:ext cx="1" cy="11197916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62" name="Line"/>
          <p:cNvSpPr/>
          <p:nvPr/>
        </p:nvSpPr>
        <p:spPr>
          <a:xfrm>
            <a:off x="12174135" y="6295429"/>
            <a:ext cx="8429636" cy="128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63" name="stk213280rke.jpeg"/>
          <p:cNvSpPr>
            <a:spLocks noGrp="1"/>
          </p:cNvSpPr>
          <p:nvPr>
            <p:ph type="pic" sz="half" idx="21"/>
          </p:nvPr>
        </p:nvSpPr>
        <p:spPr>
          <a:xfrm>
            <a:off x="3760640" y="-330399"/>
            <a:ext cx="8436001" cy="1255514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4" name="dv1989002.jpeg"/>
          <p:cNvSpPr>
            <a:spLocks noGrp="1"/>
          </p:cNvSpPr>
          <p:nvPr>
            <p:ph type="pic" sz="quarter" idx="22"/>
          </p:nvPr>
        </p:nvSpPr>
        <p:spPr>
          <a:xfrm>
            <a:off x="12377337" y="607218"/>
            <a:ext cx="8322470" cy="555796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5" name="phaagb000019_1928x1287.jpeg"/>
          <p:cNvSpPr>
            <a:spLocks noGrp="1"/>
          </p:cNvSpPr>
          <p:nvPr>
            <p:ph type="pic" sz="quarter" idx="23"/>
          </p:nvPr>
        </p:nvSpPr>
        <p:spPr>
          <a:xfrm>
            <a:off x="11368980" y="5647693"/>
            <a:ext cx="9413381" cy="62865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7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Line"/>
          <p:cNvSpPr/>
          <p:nvPr/>
        </p:nvSpPr>
        <p:spPr>
          <a:xfrm flipH="1">
            <a:off x="15799591" y="732190"/>
            <a:ext cx="1" cy="11197916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75" name="Line"/>
          <p:cNvSpPr/>
          <p:nvPr/>
        </p:nvSpPr>
        <p:spPr>
          <a:xfrm>
            <a:off x="15799589" y="4348757"/>
            <a:ext cx="4822062" cy="128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76" name="Line"/>
          <p:cNvSpPr/>
          <p:nvPr/>
        </p:nvSpPr>
        <p:spPr>
          <a:xfrm>
            <a:off x="15799589" y="8259960"/>
            <a:ext cx="4822062" cy="128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77" name="200171796-1.jpeg"/>
          <p:cNvSpPr>
            <a:spLocks noGrp="1"/>
          </p:cNvSpPr>
          <p:nvPr>
            <p:ph type="pic" idx="21"/>
          </p:nvPr>
        </p:nvSpPr>
        <p:spPr>
          <a:xfrm>
            <a:off x="1922859" y="716053"/>
            <a:ext cx="15524683" cy="1132284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8" name="dv1989002.jpeg"/>
          <p:cNvSpPr>
            <a:spLocks noGrp="1"/>
          </p:cNvSpPr>
          <p:nvPr>
            <p:ph type="pic" sz="quarter" idx="22"/>
          </p:nvPr>
        </p:nvSpPr>
        <p:spPr>
          <a:xfrm>
            <a:off x="15476311" y="4482703"/>
            <a:ext cx="5348512" cy="357187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9" name="phaagb000019_1928x1287.jpeg"/>
          <p:cNvSpPr>
            <a:spLocks noGrp="1"/>
          </p:cNvSpPr>
          <p:nvPr>
            <p:ph type="pic" sz="quarter" idx="23"/>
          </p:nvPr>
        </p:nvSpPr>
        <p:spPr>
          <a:xfrm>
            <a:off x="15531706" y="8427669"/>
            <a:ext cx="5250657" cy="350652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80" name="stk213280rke.jpeg"/>
          <p:cNvSpPr>
            <a:spLocks noGrp="1"/>
          </p:cNvSpPr>
          <p:nvPr>
            <p:ph type="pic" sz="quarter" idx="24"/>
          </p:nvPr>
        </p:nvSpPr>
        <p:spPr>
          <a:xfrm>
            <a:off x="15996046" y="-151805"/>
            <a:ext cx="4732736" cy="704364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8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55218" y="12394406"/>
            <a:ext cx="11608595" cy="1143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8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2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190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51671" y="3268265"/>
            <a:ext cx="7143751" cy="92332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47474"/>
                </a:solidFill>
              </a:defRPr>
            </a:lvl1pPr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2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200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0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817328" y="3268265"/>
            <a:ext cx="5715001" cy="92332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47474"/>
                </a:solidFill>
              </a:defRPr>
            </a:lvl1pPr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Line"/>
          <p:cNvSpPr/>
          <p:nvPr/>
        </p:nvSpPr>
        <p:spPr>
          <a:xfrm>
            <a:off x="3958828" y="2768203"/>
            <a:ext cx="16466344" cy="1"/>
          </a:xfrm>
          <a:prstGeom prst="line">
            <a:avLst/>
          </a:prstGeom>
          <a:ln w="12700">
            <a:solidFill>
              <a:srgbClr val="9A9A9A"/>
            </a:solidFill>
          </a:ln>
        </p:spPr>
        <p:txBody>
          <a:bodyPr lIns="64293" tIns="64293" rIns="64293" bIns="64293"/>
          <a:lstStyle/>
          <a:p>
            <a:endParaRPr/>
          </a:p>
        </p:txBody>
      </p:sp>
      <p:sp>
        <p:nvSpPr>
          <p:cNvPr id="210" name="01"/>
          <p:cNvSpPr txBox="1">
            <a:spLocks noGrp="1"/>
          </p:cNvSpPr>
          <p:nvPr>
            <p:ph type="sldNum" sz="quarter" idx="2"/>
          </p:nvPr>
        </p:nvSpPr>
        <p:spPr>
          <a:xfrm>
            <a:off x="23399298" y="12907713"/>
            <a:ext cx="439788" cy="359767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Agenda Title</a:t>
            </a:r>
          </a:p>
        </p:txBody>
      </p:sp>
      <p:sp>
        <p:nvSpPr>
          <p:cNvPr id="218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Agenda Subtitle</a:t>
            </a:r>
          </a:p>
        </p:txBody>
      </p:sp>
      <p:sp>
        <p:nvSpPr>
          <p:cNvPr id="21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1800"/>
              </a:spcBef>
              <a:buSzTx/>
              <a:buNone/>
              <a:defRPr sz="5400" spc="-53"/>
            </a:lvl1pPr>
            <a:lvl2pPr marL="0" indent="457200" defTabSz="825500">
              <a:spcBef>
                <a:spcPts val="1800"/>
              </a:spcBef>
              <a:buSzTx/>
              <a:buNone/>
              <a:defRPr sz="5400" spc="-53"/>
            </a:lvl2pPr>
            <a:lvl3pPr marL="0" indent="914400" defTabSz="825500">
              <a:spcBef>
                <a:spcPts val="1800"/>
              </a:spcBef>
              <a:buSzTx/>
              <a:buNone/>
              <a:defRPr sz="5400" spc="-53"/>
            </a:lvl3pPr>
            <a:lvl4pPr marL="0" indent="1371600" defTabSz="825500">
              <a:spcBef>
                <a:spcPts val="1800"/>
              </a:spcBef>
              <a:buSzTx/>
              <a:buNone/>
              <a:defRPr sz="5400" spc="-53"/>
            </a:lvl4pPr>
            <a:lvl5pPr marL="0" indent="1828800" defTabSz="825500">
              <a:spcBef>
                <a:spcPts val="1800"/>
              </a:spcBef>
              <a:buSzTx/>
              <a:buNone/>
              <a:defRPr sz="5400" spc="-53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20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154823" y="464343"/>
            <a:ext cx="16680658" cy="19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54823" y="3107770"/>
            <a:ext cx="16680658" cy="9233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23228258" y="12862766"/>
            <a:ext cx="409779" cy="41587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r" defTabSz="821531"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txStyles>
    <p:titleStyle>
      <a:lvl1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369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813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258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702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2147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591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3036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4807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39252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fq.qqi.ie/" TargetMode="External"/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4.png"/><Relationship Id="rId5" Type="http://schemas.openxmlformats.org/officeDocument/2006/relationships/image" Target="../media/image27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12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12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5.png"/><Relationship Id="rId4" Type="http://schemas.openxmlformats.org/officeDocument/2006/relationships/image" Target="../media/image6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jpeg"/><Relationship Id="rId4" Type="http://schemas.openxmlformats.org/officeDocument/2006/relationships/image" Target="../media/image9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12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Higher Diploma in Science in Computer Science"/>
          <p:cNvSpPr txBox="1">
            <a:spLocks noGrp="1"/>
          </p:cNvSpPr>
          <p:nvPr>
            <p:ph type="ctrTitle"/>
          </p:nvPr>
        </p:nvSpPr>
        <p:spPr>
          <a:xfrm>
            <a:off x="3851671" y="2487067"/>
            <a:ext cx="10727699" cy="4464845"/>
          </a:xfrm>
          <a:prstGeom prst="rect">
            <a:avLst/>
          </a:prstGeom>
        </p:spPr>
        <p:txBody>
          <a:bodyPr/>
          <a:lstStyle/>
          <a:p>
            <a:r>
              <a:t>Higher Diploma in Science in Computer Science </a:t>
            </a:r>
          </a:p>
        </p:txBody>
      </p:sp>
      <p:sp>
        <p:nvSpPr>
          <p:cNvPr id="230" name="2024-2026"/>
          <p:cNvSpPr txBox="1"/>
          <p:nvPr/>
        </p:nvSpPr>
        <p:spPr>
          <a:xfrm>
            <a:off x="16221696" y="4528879"/>
            <a:ext cx="3701333" cy="103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b">
            <a:spAutoFit/>
          </a:bodyPr>
          <a:lstStyle>
            <a:lvl1pPr defTabSz="821531">
              <a:defRPr sz="580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rPr dirty="0"/>
              <a:t>202</a:t>
            </a:r>
            <a:r>
              <a:rPr lang="en-IE" dirty="0"/>
              <a:t>5</a:t>
            </a:r>
            <a:r>
              <a:rPr dirty="0"/>
              <a:t>-202</a:t>
            </a:r>
            <a:r>
              <a:rPr lang="en-IE" dirty="0"/>
              <a:t>7</a:t>
            </a:r>
            <a:endParaRPr dirty="0"/>
          </a:p>
        </p:txBody>
      </p:sp>
      <p:pic>
        <p:nvPicPr>
          <p:cNvPr id="232" name="Screenshot 2023-12-10 at 09.14.59.png" descr="Screenshot 2023-12-10 at 09.14.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055" y="8567971"/>
            <a:ext cx="6261101" cy="3111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 Higher Diploma in Computer Science 2025">
            <a:extLst>
              <a:ext uri="{FF2B5EF4-FFF2-40B4-BE49-F238E27FC236}">
                <a16:creationId xmlns:a16="http://schemas.microsoft.com/office/drawing/2014/main" id="{6F0ACF6A-0C23-C91C-2E7A-5D1581995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2729" y="6479059"/>
            <a:ext cx="5296929" cy="529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01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237" name="Group"/>
          <p:cNvGrpSpPr/>
          <p:nvPr/>
        </p:nvGrpSpPr>
        <p:grpSpPr>
          <a:xfrm>
            <a:off x="541252" y="7066947"/>
            <a:ext cx="6200827" cy="2429881"/>
            <a:chOff x="0" y="0"/>
            <a:chExt cx="6200826" cy="2429880"/>
          </a:xfrm>
        </p:grpSpPr>
        <p:pic>
          <p:nvPicPr>
            <p:cNvPr id="235" name="E04GUSCPJA0-U01GLEEASPP-607063f98cef-512.png" descr="E04GUSCPJA0-U01GLEEASPP-607063f98cef-51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429881" cy="24298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6" name="Eamonn de Leastar…"/>
            <p:cNvSpPr txBox="1"/>
            <p:nvPr/>
          </p:nvSpPr>
          <p:spPr>
            <a:xfrm>
              <a:off x="2647647" y="772435"/>
              <a:ext cx="3553180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Eamonn de Leastar</a:t>
              </a:r>
            </a:p>
            <a:p>
              <a:pPr>
                <a:defRPr sz="2900" i="1"/>
              </a:pPr>
              <a:r>
                <a:t>Full Stack 2</a:t>
              </a:r>
            </a:p>
          </p:txBody>
        </p:sp>
      </p:grpSp>
      <p:grpSp>
        <p:nvGrpSpPr>
          <p:cNvPr id="240" name="Group"/>
          <p:cNvGrpSpPr/>
          <p:nvPr/>
        </p:nvGrpSpPr>
        <p:grpSpPr>
          <a:xfrm>
            <a:off x="560457" y="10395214"/>
            <a:ext cx="5136011" cy="2383000"/>
            <a:chOff x="0" y="0"/>
            <a:chExt cx="5136010" cy="2382998"/>
          </a:xfrm>
        </p:grpSpPr>
        <p:pic>
          <p:nvPicPr>
            <p:cNvPr id="238" name="E04GUSCPJA0-U01H264GBJM-e99e66683aa1-512.jpg" descr="E04GUSCPJA0-U01H264GBJM-e99e66683aa1-5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382999" cy="23829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9" name="Colm Dunphy…"/>
            <p:cNvSpPr txBox="1"/>
            <p:nvPr/>
          </p:nvSpPr>
          <p:spPr>
            <a:xfrm>
              <a:off x="2586664" y="601153"/>
              <a:ext cx="2549347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Colm Dunphy</a:t>
              </a:r>
            </a:p>
            <a:p>
              <a:pPr>
                <a:defRPr sz="2900" i="1"/>
              </a:pPr>
              <a:r>
                <a:t>Project </a:t>
              </a:r>
            </a:p>
          </p:txBody>
        </p:sp>
      </p:grpSp>
      <p:grpSp>
        <p:nvGrpSpPr>
          <p:cNvPr id="243" name="Group"/>
          <p:cNvGrpSpPr/>
          <p:nvPr/>
        </p:nvGrpSpPr>
        <p:grpSpPr>
          <a:xfrm>
            <a:off x="12742986" y="632632"/>
            <a:ext cx="5822617" cy="2299601"/>
            <a:chOff x="0" y="0"/>
            <a:chExt cx="5822616" cy="2299599"/>
          </a:xfrm>
        </p:grpSpPr>
        <p:pic>
          <p:nvPicPr>
            <p:cNvPr id="241" name="E04GUSCPJA0-U02TAHPR2BA-3e09f60ab689-512.jpg" descr="E04GUSCPJA0-U02TAHPR2BA-3e09f60ab689-5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2299600" cy="2299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2" name="Jimmy McGibney…"/>
            <p:cNvSpPr txBox="1"/>
            <p:nvPr/>
          </p:nvSpPr>
          <p:spPr>
            <a:xfrm>
              <a:off x="2637737" y="411612"/>
              <a:ext cx="3184880" cy="1476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Jimmy McGibney</a:t>
              </a:r>
            </a:p>
            <a:p>
              <a:pPr>
                <a:defRPr sz="2900" i="1"/>
              </a:pPr>
              <a:r>
                <a:t>Devops</a:t>
              </a:r>
            </a:p>
            <a:p>
              <a:pPr>
                <a:defRPr sz="2900" i="1"/>
              </a:pPr>
              <a:r>
                <a:t>Security</a:t>
              </a:r>
            </a:p>
          </p:txBody>
        </p:sp>
      </p:grpSp>
      <p:grpSp>
        <p:nvGrpSpPr>
          <p:cNvPr id="246" name="Group"/>
          <p:cNvGrpSpPr/>
          <p:nvPr/>
        </p:nvGrpSpPr>
        <p:grpSpPr>
          <a:xfrm>
            <a:off x="18822683" y="3748970"/>
            <a:ext cx="5873690" cy="2299601"/>
            <a:chOff x="0" y="0"/>
            <a:chExt cx="5873689" cy="2299599"/>
          </a:xfrm>
        </p:grpSpPr>
        <p:pic>
          <p:nvPicPr>
            <p:cNvPr id="244" name="E04GUSCPJA0-U023Y36J7BR-0d71053c194c-512.png" descr="E04GUSCPJA0-U023Y36J7BR-0d71053c194c-51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299600" cy="2299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5" name="Frank Walsh…"/>
            <p:cNvSpPr txBox="1"/>
            <p:nvPr/>
          </p:nvSpPr>
          <p:spPr>
            <a:xfrm>
              <a:off x="2586664" y="252803"/>
              <a:ext cx="3287026" cy="1476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rPr dirty="0"/>
                <a:t>Frank Walsh</a:t>
              </a:r>
            </a:p>
            <a:p>
              <a:pPr>
                <a:defRPr sz="2900" i="1"/>
              </a:pPr>
              <a:r>
                <a:rPr dirty="0"/>
                <a:t>Computer Systems</a:t>
              </a:r>
            </a:p>
            <a:p>
              <a:pPr>
                <a:defRPr sz="2900" i="1"/>
              </a:pPr>
              <a:r>
                <a:rPr dirty="0"/>
                <a:t>Full Stack 2</a:t>
              </a:r>
            </a:p>
          </p:txBody>
        </p:sp>
      </p:grpSp>
      <p:grpSp>
        <p:nvGrpSpPr>
          <p:cNvPr id="249" name="Group"/>
          <p:cNvGrpSpPr/>
          <p:nvPr/>
        </p:nvGrpSpPr>
        <p:grpSpPr>
          <a:xfrm>
            <a:off x="12874783" y="7049025"/>
            <a:ext cx="5559024" cy="2299840"/>
            <a:chOff x="0" y="0"/>
            <a:chExt cx="5559023" cy="2299838"/>
          </a:xfrm>
        </p:grpSpPr>
        <p:pic>
          <p:nvPicPr>
            <p:cNvPr id="247" name="E04GUSCPJA0-U0311SFHQJ3-8a4906e40f71-512.png" descr="E04GUSCPJA0-U0311SFHQJ3-8a4906e40f71-51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2299839" cy="2299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8" name="Mairead Meagher…"/>
            <p:cNvSpPr txBox="1"/>
            <p:nvPr/>
          </p:nvSpPr>
          <p:spPr>
            <a:xfrm>
              <a:off x="2394646" y="633982"/>
              <a:ext cx="3164378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Mairead Meagher</a:t>
              </a:r>
            </a:p>
            <a:p>
              <a:pPr>
                <a:defRPr sz="2900" i="1"/>
              </a:pPr>
              <a:r>
                <a:t>Programming</a:t>
              </a:r>
            </a:p>
          </p:txBody>
        </p:sp>
      </p:grpSp>
      <p:grpSp>
        <p:nvGrpSpPr>
          <p:cNvPr id="252" name="Group"/>
          <p:cNvGrpSpPr/>
          <p:nvPr/>
        </p:nvGrpSpPr>
        <p:grpSpPr>
          <a:xfrm>
            <a:off x="18922082" y="6999237"/>
            <a:ext cx="4777646" cy="2399416"/>
            <a:chOff x="0" y="0"/>
            <a:chExt cx="4777644" cy="2399415"/>
          </a:xfrm>
        </p:grpSpPr>
        <p:pic>
          <p:nvPicPr>
            <p:cNvPr id="250" name="E04GUSCPJA0-U04GUSCPJVA-490832d367a7-512.jpg" descr="E04GUSCPJA0-U04GUSCPJVA-490832d367a7-512.jpg"/>
            <p:cNvPicPr>
              <a:picLocks noChangeAspect="1"/>
            </p:cNvPicPr>
            <p:nvPr/>
          </p:nvPicPr>
          <p:blipFill>
            <a:blip r:embed="rId7"/>
            <a:srcRect b="8708"/>
            <a:stretch>
              <a:fillRect/>
            </a:stretch>
          </p:blipFill>
          <p:spPr>
            <a:xfrm>
              <a:off x="0" y="0"/>
              <a:ext cx="2299765" cy="23994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1" name="Peter Windle…"/>
            <p:cNvSpPr txBox="1"/>
            <p:nvPr/>
          </p:nvSpPr>
          <p:spPr>
            <a:xfrm>
              <a:off x="2394646" y="710476"/>
              <a:ext cx="2382999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Peter Windle</a:t>
              </a:r>
            </a:p>
            <a:p>
              <a:pPr>
                <a:defRPr sz="2900" i="1"/>
              </a:pPr>
              <a:r>
                <a:t>Programming</a:t>
              </a:r>
            </a:p>
          </p:txBody>
        </p:sp>
      </p:grpSp>
      <p:grpSp>
        <p:nvGrpSpPr>
          <p:cNvPr id="255" name="Group"/>
          <p:cNvGrpSpPr/>
          <p:nvPr/>
        </p:nvGrpSpPr>
        <p:grpSpPr>
          <a:xfrm>
            <a:off x="19144115" y="590933"/>
            <a:ext cx="5230827" cy="2383000"/>
            <a:chOff x="0" y="0"/>
            <a:chExt cx="5230826" cy="2382998"/>
          </a:xfrm>
        </p:grpSpPr>
        <p:pic>
          <p:nvPicPr>
            <p:cNvPr id="253" name="E04GUSCPJA0-U05R4FDGNPL-353ad75a100e-512.jpg" descr="E04GUSCPJA0-U05R4FDGNPL-353ad75a100e-5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2382999" cy="23829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4" name="Siobhan Roche…"/>
            <p:cNvSpPr txBox="1"/>
            <p:nvPr/>
          </p:nvSpPr>
          <p:spPr>
            <a:xfrm>
              <a:off x="2394646" y="728884"/>
              <a:ext cx="2836181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Siobhan Roche</a:t>
              </a:r>
            </a:p>
            <a:p>
              <a:pPr>
                <a:defRPr sz="2900" i="1"/>
              </a:pPr>
              <a:r>
                <a:t>Programming</a:t>
              </a:r>
            </a:p>
          </p:txBody>
        </p:sp>
      </p:grpSp>
      <p:grpSp>
        <p:nvGrpSpPr>
          <p:cNvPr id="258" name="Group"/>
          <p:cNvGrpSpPr/>
          <p:nvPr/>
        </p:nvGrpSpPr>
        <p:grpSpPr>
          <a:xfrm>
            <a:off x="451366" y="590933"/>
            <a:ext cx="3664647" cy="2541484"/>
            <a:chOff x="0" y="0"/>
            <a:chExt cx="3664646" cy="2541483"/>
          </a:xfrm>
        </p:grpSpPr>
        <p:pic>
          <p:nvPicPr>
            <p:cNvPr id="256" name="E04GUSCPJA0-U023PSCQ18W-984304168332-512.jpg" descr="E04GUSCPJA0-U023PSCQ18W-984304168332-5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2382999" cy="23829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7" name="Rosanne Birney…"/>
            <p:cNvSpPr/>
            <p:nvPr/>
          </p:nvSpPr>
          <p:spPr>
            <a:xfrm>
              <a:off x="2394646" y="12714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Rosanne Birney</a:t>
              </a:r>
            </a:p>
            <a:p>
              <a:pPr>
                <a:defRPr sz="2900" i="1"/>
              </a:pPr>
              <a:r>
                <a:t>Database</a:t>
              </a:r>
            </a:p>
          </p:txBody>
        </p:sp>
      </p:grpSp>
      <p:grpSp>
        <p:nvGrpSpPr>
          <p:cNvPr id="261" name="Group"/>
          <p:cNvGrpSpPr/>
          <p:nvPr/>
        </p:nvGrpSpPr>
        <p:grpSpPr>
          <a:xfrm>
            <a:off x="6632891" y="7075590"/>
            <a:ext cx="4702840" cy="2533281"/>
            <a:chOff x="0" y="0"/>
            <a:chExt cx="4702839" cy="2533279"/>
          </a:xfrm>
        </p:grpSpPr>
        <p:pic>
          <p:nvPicPr>
            <p:cNvPr id="259" name="Screenshot 2023-12-12 at 08.42.21.png" descr="Screenshot 2023-12-12 at 08.42.21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2429881" cy="25332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0" name="Mary Lyng…"/>
            <p:cNvSpPr txBox="1"/>
            <p:nvPr/>
          </p:nvSpPr>
          <p:spPr>
            <a:xfrm>
              <a:off x="2718892" y="750702"/>
              <a:ext cx="1983948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Mary Lyng</a:t>
              </a:r>
            </a:p>
            <a:p>
              <a:pPr>
                <a:defRPr sz="2900" i="1"/>
              </a:pPr>
              <a:r>
                <a:t>Database </a:t>
              </a:r>
            </a:p>
          </p:txBody>
        </p:sp>
      </p:grpSp>
      <p:grpSp>
        <p:nvGrpSpPr>
          <p:cNvPr id="264" name="Group"/>
          <p:cNvGrpSpPr/>
          <p:nvPr/>
        </p:nvGrpSpPr>
        <p:grpSpPr>
          <a:xfrm>
            <a:off x="6708936" y="3854489"/>
            <a:ext cx="5453287" cy="2290202"/>
            <a:chOff x="0" y="0"/>
            <a:chExt cx="5453286" cy="2290201"/>
          </a:xfrm>
        </p:grpSpPr>
        <p:pic>
          <p:nvPicPr>
            <p:cNvPr id="262" name="E04GUSCPJA0-U02TAHPKNU8-9cbf6d06b33d-512.jpg" descr="E04GUSCPJA0-U02TAHPKNU8-9cbf6d06b33d-5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2290202" cy="22902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3" name="Richard Frisby…"/>
            <p:cNvSpPr txBox="1"/>
            <p:nvPr/>
          </p:nvSpPr>
          <p:spPr>
            <a:xfrm>
              <a:off x="2718892" y="682099"/>
              <a:ext cx="2734395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rPr dirty="0"/>
                <a:t>Richard Frisby</a:t>
              </a:r>
            </a:p>
            <a:p>
              <a:pPr>
                <a:defRPr sz="2900" i="1"/>
              </a:pPr>
              <a:r>
                <a:rPr dirty="0" err="1"/>
                <a:t>Devops</a:t>
              </a:r>
              <a:endParaRPr dirty="0"/>
            </a:p>
          </p:txBody>
        </p:sp>
      </p:grpSp>
      <p:grpSp>
        <p:nvGrpSpPr>
          <p:cNvPr id="267" name="Group"/>
          <p:cNvGrpSpPr/>
          <p:nvPr/>
        </p:nvGrpSpPr>
        <p:grpSpPr>
          <a:xfrm>
            <a:off x="12987129" y="10436913"/>
            <a:ext cx="4839155" cy="2299600"/>
            <a:chOff x="0" y="0"/>
            <a:chExt cx="4839153" cy="2299599"/>
          </a:xfrm>
        </p:grpSpPr>
        <p:pic>
          <p:nvPicPr>
            <p:cNvPr id="265" name="E04GUSCPJA0-U05RH6MTRLH-524b4cdad507-512.jpg" descr="E04GUSCPJA0-U05RH6MTRLH-524b4cdad507-5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2299600" cy="2299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6" name="John Rellis…"/>
            <p:cNvSpPr txBox="1"/>
            <p:nvPr/>
          </p:nvSpPr>
          <p:spPr>
            <a:xfrm>
              <a:off x="2718892" y="517484"/>
              <a:ext cx="2120262" cy="1476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John Rellis</a:t>
              </a:r>
            </a:p>
            <a:p>
              <a:pPr>
                <a:defRPr sz="2900" i="1"/>
              </a:pPr>
              <a:r>
                <a:t>Web Dev 1</a:t>
              </a:r>
            </a:p>
            <a:p>
              <a:pPr>
                <a:defRPr sz="2900" i="1"/>
              </a:pPr>
              <a:r>
                <a:t>Web Dev 2</a:t>
              </a:r>
            </a:p>
          </p:txBody>
        </p:sp>
      </p:grpSp>
      <p:grpSp>
        <p:nvGrpSpPr>
          <p:cNvPr id="270" name="Group"/>
          <p:cNvGrpSpPr/>
          <p:nvPr/>
        </p:nvGrpSpPr>
        <p:grpSpPr>
          <a:xfrm>
            <a:off x="638707" y="3854489"/>
            <a:ext cx="6005917" cy="2314073"/>
            <a:chOff x="0" y="0"/>
            <a:chExt cx="6005916" cy="2314072"/>
          </a:xfrm>
        </p:grpSpPr>
        <p:pic>
          <p:nvPicPr>
            <p:cNvPr id="268" name="E04GUSCPJA0-U023TJ6QZLM-5c69d370925b-512.png" descr="E04GUSCPJA0-U023TJ6QZLM-5c69d370925b-512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2286955" cy="23140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9" name="Caroline Cahill…"/>
            <p:cNvSpPr txBox="1"/>
            <p:nvPr/>
          </p:nvSpPr>
          <p:spPr>
            <a:xfrm>
              <a:off x="2718892" y="799906"/>
              <a:ext cx="3287025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rPr dirty="0"/>
                <a:t>Caroline Cahill</a:t>
              </a:r>
            </a:p>
            <a:p>
              <a:pPr>
                <a:defRPr sz="2900" i="1"/>
              </a:pPr>
              <a:r>
                <a:rPr dirty="0"/>
                <a:t>Computer Systems</a:t>
              </a:r>
            </a:p>
          </p:txBody>
        </p:sp>
      </p:grpSp>
      <p:grpSp>
        <p:nvGrpSpPr>
          <p:cNvPr id="273" name="Group"/>
          <p:cNvGrpSpPr/>
          <p:nvPr/>
        </p:nvGrpSpPr>
        <p:grpSpPr>
          <a:xfrm>
            <a:off x="6623784" y="632632"/>
            <a:ext cx="5143287" cy="2299601"/>
            <a:chOff x="0" y="0"/>
            <a:chExt cx="5143286" cy="2299599"/>
          </a:xfrm>
        </p:grpSpPr>
        <p:pic>
          <p:nvPicPr>
            <p:cNvPr id="271" name="E04GUSCPJA0-U03VC54F4Q6-1d96f6d9f526-512.png" descr="E04GUSCPJA0-U03VC54F4Q6-1d96f6d9f526-51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2299600" cy="2299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2" name="David Drohan…"/>
            <p:cNvSpPr txBox="1"/>
            <p:nvPr/>
          </p:nvSpPr>
          <p:spPr>
            <a:xfrm>
              <a:off x="2593401" y="671815"/>
              <a:ext cx="2549886" cy="1031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David Drohan</a:t>
              </a:r>
            </a:p>
            <a:p>
              <a:pPr>
                <a:defRPr sz="2900" i="1"/>
              </a:pPr>
              <a:r>
                <a:t>Mobile App</a:t>
              </a:r>
            </a:p>
          </p:txBody>
        </p:sp>
      </p:grpSp>
      <p:grpSp>
        <p:nvGrpSpPr>
          <p:cNvPr id="276" name="Group"/>
          <p:cNvGrpSpPr/>
          <p:nvPr/>
        </p:nvGrpSpPr>
        <p:grpSpPr>
          <a:xfrm>
            <a:off x="6669632" y="10473152"/>
            <a:ext cx="5133216" cy="2124412"/>
            <a:chOff x="0" y="0"/>
            <a:chExt cx="5133215" cy="2124410"/>
          </a:xfrm>
        </p:grpSpPr>
        <p:pic>
          <p:nvPicPr>
            <p:cNvPr id="274" name="E04GUSCPJA0-U01Q2C7V2F9-b5c584d62223-512.jpg" descr="E04GUSCPJA0-U01Q2C7V2F9-b5c584d62223-5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0" y="0"/>
              <a:ext cx="2120262" cy="21244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" name="Joan Mangan…"/>
            <p:cNvSpPr txBox="1"/>
            <p:nvPr/>
          </p:nvSpPr>
          <p:spPr>
            <a:xfrm>
              <a:off x="2603472" y="221"/>
              <a:ext cx="2529744" cy="1920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Joan Mangan</a:t>
              </a:r>
            </a:p>
            <a:p>
              <a:pPr>
                <a:defRPr sz="2900" i="1"/>
              </a:pPr>
              <a:r>
                <a:t>Programme &amp; </a:t>
              </a:r>
            </a:p>
            <a:p>
              <a:pPr>
                <a:defRPr sz="2900" i="1"/>
              </a:pPr>
              <a:r>
                <a:t>Placement</a:t>
              </a:r>
            </a:p>
            <a:p>
              <a:pPr>
                <a:defRPr sz="2900" i="1"/>
              </a:pPr>
              <a:r>
                <a:t>Coordinator</a:t>
              </a:r>
            </a:p>
          </p:txBody>
        </p:sp>
      </p:grpSp>
      <p:grpSp>
        <p:nvGrpSpPr>
          <p:cNvPr id="279" name="Group"/>
          <p:cNvGrpSpPr/>
          <p:nvPr/>
        </p:nvGrpSpPr>
        <p:grpSpPr>
          <a:xfrm>
            <a:off x="12912665" y="3836565"/>
            <a:ext cx="5483260" cy="2124411"/>
            <a:chOff x="0" y="0"/>
            <a:chExt cx="5483259" cy="2124410"/>
          </a:xfrm>
        </p:grpSpPr>
        <p:pic>
          <p:nvPicPr>
            <p:cNvPr id="277" name="E04GUSCPJA0-U01GLGD6677-6be9572b2525-512.jpg" descr="E04GUSCPJA0-U01GLGD6677-6be9572b2525-5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0" y="0"/>
              <a:ext cx="2124411" cy="21244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8" name="Laura McGibney…"/>
            <p:cNvSpPr txBox="1"/>
            <p:nvPr/>
          </p:nvSpPr>
          <p:spPr>
            <a:xfrm>
              <a:off x="2462389" y="319937"/>
              <a:ext cx="3020871" cy="1476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900" b="1"/>
              </a:pPr>
              <a:r>
                <a:t>Laura McGibney</a:t>
              </a:r>
            </a:p>
            <a:p>
              <a:pPr>
                <a:defRPr sz="2900" i="1"/>
              </a:pPr>
              <a:r>
                <a:t>Student </a:t>
              </a:r>
            </a:p>
            <a:p>
              <a:pPr>
                <a:defRPr sz="2900" i="1"/>
              </a:pPr>
              <a:r>
                <a:t>Engagement </a:t>
              </a:r>
            </a:p>
          </p:txBody>
        </p:sp>
      </p:grpSp>
      <p:sp>
        <p:nvSpPr>
          <p:cNvPr id="4" name="John Rellis…">
            <a:extLst>
              <a:ext uri="{FF2B5EF4-FFF2-40B4-BE49-F238E27FC236}">
                <a16:creationId xmlns:a16="http://schemas.microsoft.com/office/drawing/2014/main" id="{E013417E-346F-7BFB-749C-715C5072E9F7}"/>
              </a:ext>
            </a:extLst>
          </p:cNvPr>
          <p:cNvSpPr txBox="1"/>
          <p:nvPr/>
        </p:nvSpPr>
        <p:spPr>
          <a:xfrm>
            <a:off x="21362493" y="11104540"/>
            <a:ext cx="3380733" cy="10368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numCol="1" anchor="ctr">
            <a:spAutoFit/>
          </a:bodyPr>
          <a:lstStyle/>
          <a:p>
            <a:pPr>
              <a:defRPr sz="2900" b="1"/>
            </a:pPr>
            <a:r>
              <a:rPr lang="en-IE" b="1" i="0" dirty="0">
                <a:solidFill>
                  <a:srgbClr val="1D1C1D"/>
                </a:solidFill>
                <a:effectLst/>
                <a:latin typeface="Slack-Lato"/>
              </a:rPr>
              <a:t>Mujahid Tabassum</a:t>
            </a:r>
            <a:endParaRPr lang="en-IE" dirty="0"/>
          </a:p>
          <a:p>
            <a:pPr>
              <a:defRPr sz="2900" i="1"/>
            </a:pPr>
            <a:r>
              <a:rPr lang="en-IE" dirty="0"/>
              <a:t>Computer Systems</a:t>
            </a:r>
          </a:p>
        </p:txBody>
      </p:sp>
      <p:pic>
        <p:nvPicPr>
          <p:cNvPr id="2052" name="Picture 4" descr="Profile photo for Mujahid Tabassum">
            <a:extLst>
              <a:ext uri="{FF2B5EF4-FFF2-40B4-BE49-F238E27FC236}">
                <a16:creationId xmlns:a16="http://schemas.microsoft.com/office/drawing/2014/main" id="{F78A5196-F74C-DF51-4EB2-8CB5A8CD8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2082" y="10473152"/>
            <a:ext cx="2299599" cy="229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Agend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Agenda</a:t>
            </a:r>
          </a:p>
        </p:txBody>
      </p:sp>
      <p:sp>
        <p:nvSpPr>
          <p:cNvPr id="283" name="Context &amp; Objectives…"/>
          <p:cNvSpPr txBox="1">
            <a:spLocks noGrp="1"/>
          </p:cNvSpPr>
          <p:nvPr>
            <p:ph type="body" idx="1"/>
          </p:nvPr>
        </p:nvSpPr>
        <p:spPr>
          <a:xfrm>
            <a:off x="4048125" y="3277195"/>
            <a:ext cx="17282618" cy="9177816"/>
          </a:xfrm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  <a:defRPr sz="5000"/>
            </a:pPr>
            <a:r>
              <a:t>Context &amp; Objectives</a:t>
            </a:r>
          </a:p>
          <a:p>
            <a:pPr marL="228600" indent="-228600">
              <a:buAutoNum type="arabicPeriod"/>
              <a:defRPr sz="5000"/>
            </a:pPr>
            <a:r>
              <a:t>Programme Structure</a:t>
            </a:r>
          </a:p>
          <a:p>
            <a:pPr marL="228600" indent="-228600">
              <a:buAutoNum type="arabicPeriod"/>
              <a:defRPr sz="5000"/>
            </a:pPr>
            <a:r>
              <a:t>Semesters &amp; Modules</a:t>
            </a:r>
          </a:p>
          <a:p>
            <a:pPr marL="228600" indent="-228600">
              <a:buAutoNum type="arabicPeriod"/>
              <a:defRPr sz="5000"/>
            </a:pPr>
            <a:r>
              <a:t>Calendar, Timetable &amp; Assessment Sequencing</a:t>
            </a:r>
          </a:p>
          <a:p>
            <a:pPr marL="228600" indent="-228600">
              <a:buAutoNum type="arabicPeriod"/>
              <a:defRPr sz="5000"/>
            </a:pPr>
            <a:r>
              <a:t>Module Summaries</a:t>
            </a:r>
          </a:p>
        </p:txBody>
      </p:sp>
      <p:sp>
        <p:nvSpPr>
          <p:cNvPr id="284" name="01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1. Context &amp; Objectiv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000"/>
            </a:lvl1pPr>
          </a:lstStyle>
          <a:p>
            <a:r>
              <a:t>1. Context &amp; Objectives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030" y="2915176"/>
            <a:ext cx="17499388" cy="8719471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National Framework of Qualifications / Levels"/>
          <p:cNvSpPr txBox="1">
            <a:spLocks noGrp="1"/>
          </p:cNvSpPr>
          <p:nvPr>
            <p:ph type="title"/>
          </p:nvPr>
        </p:nvSpPr>
        <p:spPr>
          <a:xfrm>
            <a:off x="987851" y="-892541"/>
            <a:ext cx="15139365" cy="3196829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National Framework of Qualifications / Levels</a:t>
            </a:r>
          </a:p>
        </p:txBody>
      </p:sp>
      <p:sp>
        <p:nvSpPr>
          <p:cNvPr id="290" name="01"/>
          <p:cNvSpPr txBox="1">
            <a:spLocks noGrp="1"/>
          </p:cNvSpPr>
          <p:nvPr>
            <p:ph type="sldNum" sz="quarter" idx="2"/>
          </p:nvPr>
        </p:nvSpPr>
        <p:spPr>
          <a:xfrm>
            <a:off x="20422162" y="11849552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291" name="Level 8: Honours Degree…"/>
          <p:cNvSpPr txBox="1"/>
          <p:nvPr/>
        </p:nvSpPr>
        <p:spPr>
          <a:xfrm>
            <a:off x="14725022" y="4848677"/>
            <a:ext cx="5300119" cy="126690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/>
          <a:lstStyle/>
          <a:p>
            <a:pPr marL="355600" indent="-355600" defTabSz="821531">
              <a:buSzPct val="100000"/>
              <a:buChar char="•"/>
              <a:defRPr sz="3200">
                <a:latin typeface="+mj-lt"/>
                <a:ea typeface="+mj-ea"/>
                <a:cs typeface="+mj-cs"/>
                <a:sym typeface="Helvetica Neue"/>
              </a:defRPr>
            </a:pPr>
            <a:r>
              <a:t>Level 8: Honours Degree </a:t>
            </a:r>
          </a:p>
          <a:p>
            <a:pPr marL="355600" indent="-355600" defTabSz="821531">
              <a:buSzPct val="100000"/>
              <a:buChar char="•"/>
              <a:defRPr sz="3200" b="1">
                <a:latin typeface="+mj-lt"/>
                <a:ea typeface="+mj-ea"/>
                <a:cs typeface="+mj-cs"/>
                <a:sym typeface="Helvetica Neue"/>
              </a:defRPr>
            </a:pPr>
            <a:r>
              <a:t>Level 8: Higher Diploma</a:t>
            </a:r>
          </a:p>
        </p:txBody>
      </p:sp>
      <p:sp>
        <p:nvSpPr>
          <p:cNvPr id="292" name="Level 7: Diploma…"/>
          <p:cNvSpPr txBox="1"/>
          <p:nvPr/>
        </p:nvSpPr>
        <p:spPr>
          <a:xfrm>
            <a:off x="12599757" y="3049390"/>
            <a:ext cx="5589985" cy="141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/>
          <a:lstStyle/>
          <a:p>
            <a:pPr marL="355600" indent="-355600" defTabSz="821531">
              <a:buSzPct val="100000"/>
              <a:buChar char="•"/>
              <a:defRPr sz="3200">
                <a:latin typeface="+mj-lt"/>
                <a:ea typeface="+mj-ea"/>
                <a:cs typeface="+mj-cs"/>
                <a:sym typeface="Helvetica Neue"/>
              </a:defRPr>
            </a:pPr>
            <a:r>
              <a:t>Level 7: Diploma</a:t>
            </a:r>
          </a:p>
          <a:p>
            <a:pPr marL="355600" indent="-355600" defTabSz="821531">
              <a:buSzPct val="100000"/>
              <a:buChar char="•"/>
              <a:defRPr sz="3200">
                <a:latin typeface="+mj-lt"/>
                <a:ea typeface="+mj-ea"/>
                <a:cs typeface="+mj-cs"/>
                <a:sym typeface="Helvetica Neue"/>
              </a:defRPr>
            </a:pPr>
            <a:r>
              <a:t>Level 7: Ordinary Degree</a:t>
            </a:r>
          </a:p>
        </p:txBody>
      </p:sp>
      <p:sp>
        <p:nvSpPr>
          <p:cNvPr id="293" name="Level 6: Certificate…"/>
          <p:cNvSpPr txBox="1">
            <a:spLocks noGrp="1"/>
          </p:cNvSpPr>
          <p:nvPr>
            <p:ph type="body" sz="quarter" idx="1"/>
          </p:nvPr>
        </p:nvSpPr>
        <p:spPr>
          <a:xfrm>
            <a:off x="9831554" y="1571571"/>
            <a:ext cx="5732860" cy="1410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328246" indent="-328246">
              <a:spcBef>
                <a:spcPts val="0"/>
              </a:spcBef>
              <a:defRPr sz="3200"/>
            </a:pPr>
            <a:r>
              <a:t>Level 6: Certificate</a:t>
            </a:r>
          </a:p>
          <a:p>
            <a:pPr marL="328246" indent="-328246">
              <a:spcBef>
                <a:spcPts val="0"/>
              </a:spcBef>
              <a:defRPr sz="3200"/>
            </a:pPr>
            <a:r>
              <a:t>Level 6: Higher Certificate</a:t>
            </a:r>
          </a:p>
        </p:txBody>
      </p:sp>
      <p:sp>
        <p:nvSpPr>
          <p:cNvPr id="294" name="Arrow"/>
          <p:cNvSpPr/>
          <p:nvPr/>
        </p:nvSpPr>
        <p:spPr>
          <a:xfrm>
            <a:off x="19975396" y="5077783"/>
            <a:ext cx="1715756" cy="1122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08" y="14256"/>
                </a:moveTo>
                <a:lnTo>
                  <a:pt x="13808" y="21600"/>
                </a:lnTo>
                <a:lnTo>
                  <a:pt x="0" y="10800"/>
                </a:lnTo>
                <a:lnTo>
                  <a:pt x="13808" y="0"/>
                </a:lnTo>
                <a:lnTo>
                  <a:pt x="13808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295" name="https://nfq.qqi.ie/"/>
          <p:cNvSpPr txBox="1"/>
          <p:nvPr/>
        </p:nvSpPr>
        <p:spPr>
          <a:xfrm>
            <a:off x="6490423" y="11676515"/>
            <a:ext cx="59580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4200"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https://nfq.qqi.ie/</a:t>
            </a:r>
          </a:p>
        </p:txBody>
      </p:sp>
      <p:pic>
        <p:nvPicPr>
          <p:cNvPr id="296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4033" y="12420186"/>
            <a:ext cx="7442201" cy="1282701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Rectangle"/>
          <p:cNvSpPr/>
          <p:nvPr/>
        </p:nvSpPr>
        <p:spPr>
          <a:xfrm>
            <a:off x="12889410" y="13083761"/>
            <a:ext cx="1351446" cy="612776"/>
          </a:xfrm>
          <a:prstGeom prst="rect">
            <a:avLst/>
          </a:prstGeom>
          <a:ln w="165100">
            <a:solidFill>
              <a:srgbClr val="FFFB00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Key Programme Fea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Key Programme </a:t>
            </a:r>
            <a:r>
              <a:rPr b="1">
                <a:latin typeface="+mj-lt"/>
                <a:ea typeface="+mj-ea"/>
                <a:cs typeface="+mj-cs"/>
                <a:sym typeface="Helvetica Neue"/>
              </a:rPr>
              <a:t>Features</a:t>
            </a:r>
          </a:p>
        </p:txBody>
      </p:sp>
      <p:sp>
        <p:nvSpPr>
          <p:cNvPr id="300" name="Immersion…"/>
          <p:cNvSpPr txBox="1">
            <a:spLocks noGrp="1"/>
          </p:cNvSpPr>
          <p:nvPr>
            <p:ph type="body" sz="half" idx="1"/>
          </p:nvPr>
        </p:nvSpPr>
        <p:spPr>
          <a:xfrm>
            <a:off x="4994671" y="5366742"/>
            <a:ext cx="11483579" cy="7375923"/>
          </a:xfrm>
          <a:prstGeom prst="rect">
            <a:avLst/>
          </a:prstGeom>
        </p:spPr>
        <p:txBody>
          <a:bodyPr/>
          <a:lstStyle/>
          <a:p>
            <a:pPr marL="512884" indent="-512884">
              <a:defRPr sz="5000"/>
            </a:pPr>
            <a:r>
              <a:t>Immersion</a:t>
            </a:r>
          </a:p>
          <a:p>
            <a:pPr marL="512884" indent="-512884">
              <a:defRPr sz="5000"/>
            </a:pPr>
            <a:r>
              <a:t>Specialisation</a:t>
            </a:r>
          </a:p>
          <a:p>
            <a:pPr marL="512884" indent="-512884">
              <a:defRPr sz="5000"/>
            </a:pPr>
            <a:r>
              <a:t>Industry Partnership</a:t>
            </a:r>
          </a:p>
        </p:txBody>
      </p:sp>
      <p:sp>
        <p:nvSpPr>
          <p:cNvPr id="301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Immersion in Computing Knowledge"/>
          <p:cNvSpPr txBox="1">
            <a:spLocks noGrp="1"/>
          </p:cNvSpPr>
          <p:nvPr>
            <p:ph type="title"/>
          </p:nvPr>
        </p:nvSpPr>
        <p:spPr>
          <a:xfrm>
            <a:off x="993491" y="50453"/>
            <a:ext cx="4877633" cy="2387786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Immersion in Computing Knowledge </a:t>
            </a:r>
          </a:p>
        </p:txBody>
      </p:sp>
      <p:sp>
        <p:nvSpPr>
          <p:cNvPr id="304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305" name="*‘ICT and Software Development Skills Programme’ HEA Call for Proposals / Terms &amp; Conditions, November 2012"/>
          <p:cNvSpPr txBox="1"/>
          <p:nvPr/>
        </p:nvSpPr>
        <p:spPr>
          <a:xfrm>
            <a:off x="1296143" y="12899034"/>
            <a:ext cx="16513877" cy="870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>
              <a:tabLst>
                <a:tab pos="495300" algn="l"/>
                <a:tab pos="990600" algn="l"/>
                <a:tab pos="1498600" algn="l"/>
                <a:tab pos="1993900" algn="l"/>
                <a:tab pos="2489200" algn="l"/>
                <a:tab pos="2997200" algn="l"/>
                <a:tab pos="3492500" algn="l"/>
                <a:tab pos="4000500" algn="l"/>
                <a:tab pos="4495800" algn="l"/>
                <a:tab pos="4991100" algn="l"/>
                <a:tab pos="5499100" algn="l"/>
                <a:tab pos="5994400" algn="l"/>
              </a:tabLst>
              <a:defRPr sz="2400" i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*‘ICT and Software Development Skills Programme’ HEA Call for Proposals / Terms &amp; Conditions, November 2012</a:t>
            </a:r>
          </a:p>
        </p:txBody>
      </p:sp>
      <p:pic>
        <p:nvPicPr>
          <p:cNvPr id="306" name="pasted-image.jpeg" descr="pasted-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374" y="101714"/>
            <a:ext cx="12948048" cy="5715001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“The participants will be graduates who have already obtained significant transferable skills by comparison with other undergraduate students...”…"/>
          <p:cNvSpPr txBox="1">
            <a:spLocks noGrp="1"/>
          </p:cNvSpPr>
          <p:nvPr>
            <p:ph type="body" idx="1"/>
          </p:nvPr>
        </p:nvSpPr>
        <p:spPr>
          <a:xfrm>
            <a:off x="928502" y="6087884"/>
            <a:ext cx="21933678" cy="632110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3800" i="1"/>
            </a:pPr>
            <a:r>
              <a:t>“The participants will be </a:t>
            </a:r>
            <a:r>
              <a:rPr b="1"/>
              <a:t>graduates</a:t>
            </a:r>
            <a:r>
              <a:t> who have already obtained significant </a:t>
            </a:r>
            <a:r>
              <a:rPr b="1"/>
              <a:t>transferable skills</a:t>
            </a:r>
            <a:r>
              <a:t> by comparison with other undergraduate students...” </a:t>
            </a:r>
          </a:p>
          <a:p>
            <a:pPr marL="0" indent="0">
              <a:spcBef>
                <a:spcPts val="900"/>
              </a:spcBef>
              <a:buSzTx/>
              <a:buNone/>
              <a:defRPr sz="3800" i="1"/>
            </a:pPr>
            <a:endParaRPr/>
          </a:p>
          <a:p>
            <a:pPr marL="0" indent="0">
              <a:spcBef>
                <a:spcPts val="900"/>
              </a:spcBef>
              <a:buSzTx/>
              <a:buNone/>
              <a:defRPr sz="3800" i="1"/>
            </a:pPr>
            <a:r>
              <a:t>“</a:t>
            </a:r>
            <a:r>
              <a:rPr b="1"/>
              <a:t>Semester 1</a:t>
            </a:r>
            <a:r>
              <a:t> participants will undertake a broad immersive set of modules in the </a:t>
            </a:r>
            <a:r>
              <a:rPr b="1"/>
              <a:t>fundamentals</a:t>
            </a:r>
            <a:r>
              <a:t> of computing...”</a:t>
            </a:r>
          </a:p>
          <a:p>
            <a:pPr marL="0" indent="0">
              <a:spcBef>
                <a:spcPts val="900"/>
              </a:spcBef>
              <a:buSzTx/>
              <a:buNone/>
              <a:defRPr sz="3800" i="1"/>
            </a:pPr>
            <a:endParaRPr/>
          </a:p>
          <a:p>
            <a:pPr marL="0" indent="0">
              <a:spcBef>
                <a:spcPts val="900"/>
              </a:spcBef>
              <a:buSzTx/>
              <a:buNone/>
              <a:defRPr sz="3800" i="1"/>
            </a:pPr>
            <a:r>
              <a:t>“The </a:t>
            </a:r>
            <a:r>
              <a:rPr b="1"/>
              <a:t>pace</a:t>
            </a:r>
            <a:r>
              <a:t> of delivery will have to be </a:t>
            </a:r>
            <a:r>
              <a:rPr b="1"/>
              <a:t>significantly higher</a:t>
            </a:r>
            <a:r>
              <a:t> than for normal undergraduate programmes...”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oup"/>
          <p:cNvGrpSpPr/>
          <p:nvPr/>
        </p:nvGrpSpPr>
        <p:grpSpPr>
          <a:xfrm>
            <a:off x="19723755" y="6155189"/>
            <a:ext cx="4636277" cy="4221971"/>
            <a:chOff x="0" y="0"/>
            <a:chExt cx="4636275" cy="4221970"/>
          </a:xfrm>
        </p:grpSpPr>
        <p:pic>
          <p:nvPicPr>
            <p:cNvPr id="309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430" y="0"/>
              <a:ext cx="4375631" cy="42219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0" name="Rectangle"/>
            <p:cNvSpPr/>
            <p:nvPr/>
          </p:nvSpPr>
          <p:spPr>
            <a:xfrm>
              <a:off x="4005195" y="3012533"/>
              <a:ext cx="631081" cy="73171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11" name="Rectangle"/>
            <p:cNvSpPr/>
            <p:nvPr/>
          </p:nvSpPr>
          <p:spPr>
            <a:xfrm>
              <a:off x="0" y="3012533"/>
              <a:ext cx="631081" cy="73171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13" name="Deepening and Specialis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Deepening and Specialisation</a:t>
            </a:r>
          </a:p>
        </p:txBody>
      </p:sp>
      <p:sp>
        <p:nvSpPr>
          <p:cNvPr id="314" name="“In semester 2 ... a specialisation which reflects their own strengths as demonstrated on the programme to date...” *…"/>
          <p:cNvSpPr txBox="1">
            <a:spLocks noGrp="1"/>
          </p:cNvSpPr>
          <p:nvPr>
            <p:ph type="body" sz="half" idx="1"/>
          </p:nvPr>
        </p:nvSpPr>
        <p:spPr>
          <a:xfrm>
            <a:off x="1007867" y="5987494"/>
            <a:ext cx="19524462" cy="601400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800" i="1"/>
            </a:pPr>
            <a:r>
              <a:t>“In </a:t>
            </a:r>
            <a:r>
              <a:rPr b="1"/>
              <a:t>semester 2 ... a specialisation</a:t>
            </a:r>
            <a:r>
              <a:t> which reflects their own strengths as demonstrated on the programme to date...”</a:t>
            </a:r>
            <a:r>
              <a:rPr i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rPr>
              <a:t> *</a:t>
            </a:r>
          </a:p>
          <a:p>
            <a:pPr marL="0" indent="0">
              <a:buSzTx/>
              <a:buNone/>
              <a:defRPr sz="3800" i="1"/>
            </a:pPr>
            <a:r>
              <a:t>“.. a focused set of modules and project-work designed to bring candidates quickly to the industry entry standard ...” </a:t>
            </a:r>
            <a:r>
              <a:rPr b="1"/>
              <a:t>Junior Software Developer (Full Stack Oriented)</a:t>
            </a:r>
          </a:p>
          <a:p>
            <a:pPr marL="0" indent="0">
              <a:buSzTx/>
              <a:buNone/>
              <a:defRPr sz="3800" i="1"/>
            </a:pPr>
            <a:r>
              <a:t>“Participants will be expected to select their specialisation based on their achievement in semester 1 and their own ambitions...” </a:t>
            </a:r>
          </a:p>
        </p:txBody>
      </p:sp>
      <p:sp>
        <p:nvSpPr>
          <p:cNvPr id="315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316" name="*‘ICT and Software Development Skills Programme’ HEA Call for Proposals / Terms &amp; Conditions, November 2012"/>
          <p:cNvSpPr txBox="1"/>
          <p:nvPr/>
        </p:nvSpPr>
        <p:spPr>
          <a:xfrm>
            <a:off x="1824550" y="12648007"/>
            <a:ext cx="17891095" cy="870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>
              <a:tabLst>
                <a:tab pos="495300" algn="l"/>
                <a:tab pos="990600" algn="l"/>
                <a:tab pos="1498600" algn="l"/>
                <a:tab pos="1993900" algn="l"/>
                <a:tab pos="2489200" algn="l"/>
                <a:tab pos="2997200" algn="l"/>
                <a:tab pos="3492500" algn="l"/>
                <a:tab pos="4000500" algn="l"/>
                <a:tab pos="4495800" algn="l"/>
                <a:tab pos="4991100" algn="l"/>
                <a:tab pos="5499100" algn="l"/>
                <a:tab pos="5994400" algn="l"/>
              </a:tabLst>
              <a:defRPr sz="2400" i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*‘ICT and Software Development Skills Programme’ HEA Call for Proposals / Terms &amp; Conditions, November 2012</a:t>
            </a:r>
          </a:p>
        </p:txBody>
      </p:sp>
      <p:pic>
        <p:nvPicPr>
          <p:cNvPr id="317" name="pasted-image.jpeg" descr="pasted-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986" y="26091"/>
            <a:ext cx="8454363" cy="5855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Deepening and Specialis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Deepening and Specialisation</a:t>
            </a:r>
          </a:p>
        </p:txBody>
      </p:sp>
      <p:sp>
        <p:nvSpPr>
          <p:cNvPr id="320" name="“In semester 2 ... a specialisation which reflects their own strengths as demonstrated on the programme to date...” *…"/>
          <p:cNvSpPr txBox="1">
            <a:spLocks noGrp="1"/>
          </p:cNvSpPr>
          <p:nvPr>
            <p:ph type="body" sz="half" idx="1"/>
          </p:nvPr>
        </p:nvSpPr>
        <p:spPr>
          <a:xfrm>
            <a:off x="1007867" y="5987494"/>
            <a:ext cx="19524462" cy="601400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800" i="1"/>
            </a:pPr>
            <a:r>
              <a:t>“In </a:t>
            </a:r>
            <a:r>
              <a:rPr b="1"/>
              <a:t>semester 2 ... a specialisation</a:t>
            </a:r>
            <a:r>
              <a:t> which reflects their own strengths as demonstrated on the programme to date...”</a:t>
            </a:r>
            <a:r>
              <a:rPr i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rPr>
              <a:t> *</a:t>
            </a:r>
          </a:p>
          <a:p>
            <a:pPr marL="0" indent="0">
              <a:buSzTx/>
              <a:buNone/>
              <a:defRPr sz="3800" i="1"/>
            </a:pPr>
            <a:r>
              <a:t>“.. a focused set of modules and project-work designed to bring candidates quickly to the industry entry standard ...” </a:t>
            </a:r>
          </a:p>
          <a:p>
            <a:pPr marL="0" indent="0">
              <a:buSzTx/>
              <a:buNone/>
              <a:defRPr sz="3800" i="1"/>
            </a:pPr>
            <a:r>
              <a:t>“Participants will be expected to select their specialisation based on their achievement in semester 1 and their own ambitions...” </a:t>
            </a:r>
          </a:p>
        </p:txBody>
      </p:sp>
      <p:sp>
        <p:nvSpPr>
          <p:cNvPr id="321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322" name="*‘ICT and Software Development Skills Programme’ HEA Call for Proposals / Terms &amp; Conditions, November 2012"/>
          <p:cNvSpPr txBox="1"/>
          <p:nvPr/>
        </p:nvSpPr>
        <p:spPr>
          <a:xfrm>
            <a:off x="1824550" y="12648007"/>
            <a:ext cx="17891095" cy="870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>
              <a:tabLst>
                <a:tab pos="495300" algn="l"/>
                <a:tab pos="990600" algn="l"/>
                <a:tab pos="1498600" algn="l"/>
                <a:tab pos="1993900" algn="l"/>
                <a:tab pos="2489200" algn="l"/>
                <a:tab pos="2997200" algn="l"/>
                <a:tab pos="3492500" algn="l"/>
                <a:tab pos="4000500" algn="l"/>
                <a:tab pos="4495800" algn="l"/>
                <a:tab pos="4991100" algn="l"/>
                <a:tab pos="5499100" algn="l"/>
                <a:tab pos="5994400" algn="l"/>
              </a:tabLst>
              <a:defRPr sz="2400" i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*‘ICT and Software Development Skills Programme’ HEA Call for Proposals / Terms &amp; Conditions, November 2012</a:t>
            </a:r>
          </a:p>
        </p:txBody>
      </p:sp>
      <p:pic>
        <p:nvPicPr>
          <p:cNvPr id="323" name="pasted-image.jpeg" descr="pasted-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986" y="26091"/>
            <a:ext cx="8454363" cy="5855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Industry experience and professional development"/>
          <p:cNvSpPr txBox="1">
            <a:spLocks noGrp="1"/>
          </p:cNvSpPr>
          <p:nvPr>
            <p:ph type="title"/>
          </p:nvPr>
        </p:nvSpPr>
        <p:spPr>
          <a:xfrm>
            <a:off x="896200" y="-500091"/>
            <a:ext cx="8300668" cy="3057582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Industry experience and professional development</a:t>
            </a:r>
          </a:p>
        </p:txBody>
      </p:sp>
      <p:sp>
        <p:nvSpPr>
          <p:cNvPr id="326" name="“Internships or work placements are seen as crucial to providing graduates with the context and confidence in their new knowledge...”…"/>
          <p:cNvSpPr txBox="1">
            <a:spLocks noGrp="1"/>
          </p:cNvSpPr>
          <p:nvPr>
            <p:ph type="body" idx="1"/>
          </p:nvPr>
        </p:nvSpPr>
        <p:spPr>
          <a:xfrm>
            <a:off x="1010676" y="5653678"/>
            <a:ext cx="19889723" cy="684788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800" i="1"/>
            </a:pPr>
            <a:r>
              <a:t>“</a:t>
            </a:r>
            <a:r>
              <a:rPr b="1"/>
              <a:t>Internships</a:t>
            </a:r>
            <a:r>
              <a:t> or </a:t>
            </a:r>
            <a:r>
              <a:rPr b="1"/>
              <a:t>work placements</a:t>
            </a:r>
            <a:r>
              <a:t> are seen as crucial to providing graduates with the context and confidence in their new knowledge...”</a:t>
            </a:r>
          </a:p>
          <a:p>
            <a:pPr marL="0" indent="0">
              <a:buSzTx/>
              <a:buNone/>
              <a:defRPr sz="3800" i="1"/>
            </a:pPr>
            <a:r>
              <a:t>“Outputs expected from the work placement would include a work placement report, a project ideally conducted in the work placement organisation...” </a:t>
            </a:r>
          </a:p>
          <a:p>
            <a:pPr marL="0" indent="0">
              <a:buSzTx/>
              <a:buNone/>
              <a:defRPr sz="3800" i="1"/>
            </a:pPr>
            <a:r>
              <a:t>“...academic and </a:t>
            </a:r>
            <a:r>
              <a:rPr b="1"/>
              <a:t>industry partners </a:t>
            </a:r>
            <a:r>
              <a:t>will cooperate in the provision of appropriate academic supervision resources for the duration of this work placement activity...”</a:t>
            </a:r>
          </a:p>
        </p:txBody>
      </p:sp>
      <p:sp>
        <p:nvSpPr>
          <p:cNvPr id="327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328" name="*‘ICT and Software Development Skills Programme’ HEA Call for Proposals / Terms &amp; Conditions, November 2012"/>
          <p:cNvSpPr txBox="1"/>
          <p:nvPr/>
        </p:nvSpPr>
        <p:spPr>
          <a:xfrm>
            <a:off x="4509887" y="12369603"/>
            <a:ext cx="15341204" cy="123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>
              <a:tabLst>
                <a:tab pos="495300" algn="l"/>
                <a:tab pos="990600" algn="l"/>
                <a:tab pos="1498600" algn="l"/>
                <a:tab pos="1993900" algn="l"/>
                <a:tab pos="2489200" algn="l"/>
                <a:tab pos="2997200" algn="l"/>
                <a:tab pos="3492500" algn="l"/>
                <a:tab pos="4000500" algn="l"/>
                <a:tab pos="4495800" algn="l"/>
                <a:tab pos="4991100" algn="l"/>
                <a:tab pos="5499100" algn="l"/>
                <a:tab pos="5994400" algn="l"/>
              </a:tabLst>
              <a:defRPr sz="2400" i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*‘ICT and Software Development Skills Programme’ HEA Call for Proposals / Terms &amp; Conditions, November 2012</a:t>
            </a:r>
          </a:p>
        </p:txBody>
      </p:sp>
      <p:pic>
        <p:nvPicPr>
          <p:cNvPr id="329" name="pasted-image.jpeg" descr="pasted-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462" y="184105"/>
            <a:ext cx="11847305" cy="47993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2. Programme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000"/>
            </a:lvl1pPr>
          </a:lstStyle>
          <a:p>
            <a:r>
              <a:t>2. Programme Structure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33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4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35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37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39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0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41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43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344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46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7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48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50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351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54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5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56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58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359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63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4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65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67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pic>
        <p:nvPicPr>
          <p:cNvPr id="368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9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73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4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75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77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378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" name="Screenshot 2023-12-12 at 12.47.50.png" descr="Screenshot 2023-12-12 at 12.47.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84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5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86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388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389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Screenshot 2023-12-12 at 12.47.50.png" descr="Screenshot 2023-12-12 at 12.47.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" name="Screenshot 2023-12-12 at 12.48.17.png" descr="Screenshot 2023-12-12 at 12.48.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396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7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398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400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401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3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" name="Screenshot 2023-12-12 at 12.47.50.png" descr="Screenshot 2023-12-12 at 12.47.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" name="Screenshot 2023-12-12 at 12.48.17.png" descr="Screenshot 2023-12-12 at 12.48.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Screenshot 2023-12-12 at 12.39.53.png" descr="Screenshot 2023-12-12 at 12.39.5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2896" y="433923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409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0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411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413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414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Screenshot 2023-12-12 at 12.41.37.png" descr="Screenshot 2023-12-12 at 12.41.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8787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Screenshot 2023-12-12 at 12.47.50.png" descr="Screenshot 2023-12-12 at 12.47.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0" name="Screenshot 2023-12-12 at 12.48.17.png" descr="Screenshot 2023-12-12 at 12.48.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Screenshot 2023-12-12 at 12.39.53.png" descr="Screenshot 2023-12-12 at 12.39.5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2896" y="433923"/>
            <a:ext cx="36195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423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4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425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427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pic>
        <p:nvPicPr>
          <p:cNvPr id="428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0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Screenshot 2023-12-12 at 12.41.37.png" descr="Screenshot 2023-12-12 at 12.41.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8787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Screenshot 2023-12-12 at 12.47.50.png" descr="Screenshot 2023-12-12 at 12.47.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Screenshot 2023-12-12 at 12.48.17.png" descr="Screenshot 2023-12-12 at 12.48.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5" name="Screenshot 2023-12-12 at 12.49.27.png" descr="Screenshot 2023-12-12 at 12.49.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4273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Screenshot 2023-12-12 at 12.49.51.png" descr="Screenshot 2023-12-12 at 12.49.5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24818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Screenshot 2023-12-12 at 12.39.53.png" descr="Screenshot 2023-12-12 at 12.39.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82896" y="433923"/>
            <a:ext cx="3619501" cy="5664201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Connection Line"/>
          <p:cNvSpPr/>
          <p:nvPr/>
        </p:nvSpPr>
        <p:spPr>
          <a:xfrm>
            <a:off x="18445843" y="5282106"/>
            <a:ext cx="2078976" cy="1390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187" y="18675"/>
                  <a:pt x="14387" y="11475"/>
                  <a:pt x="21600" y="0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1" name="Connection Line"/>
          <p:cNvSpPr/>
          <p:nvPr/>
        </p:nvSpPr>
        <p:spPr>
          <a:xfrm>
            <a:off x="18541640" y="7051734"/>
            <a:ext cx="2352634" cy="1190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65" extrusionOk="0">
                <a:moveTo>
                  <a:pt x="0" y="127"/>
                </a:moveTo>
                <a:cubicBezTo>
                  <a:pt x="7185" y="-1035"/>
                  <a:pt x="14385" y="5778"/>
                  <a:pt x="21600" y="20565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443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4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445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447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pic>
        <p:nvPicPr>
          <p:cNvPr id="448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Screenshot 2023-12-12 at 12.41.37.png" descr="Screenshot 2023-12-12 at 12.41.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8787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" name="Screenshot 2023-12-12 at 12.47.50.png" descr="Screenshot 2023-12-12 at 12.47.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Screenshot 2023-12-12 at 12.48.17.png" descr="Screenshot 2023-12-12 at 12.48.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" name="Screenshot 2023-12-12 at 12.49.06.png" descr="Screenshot 2023-12-12 at 12.49.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7755" y="542138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" name="Screenshot 2023-12-12 at 12.49.27.png" descr="Screenshot 2023-12-12 at 12.49.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94273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" name="Screenshot 2023-12-12 at 12.49.51.png" descr="Screenshot 2023-12-12 at 12.49.5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24818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Screenshot 2023-12-12 at 12.39.53.png" descr="Screenshot 2023-12-12 at 12.39.5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82896" y="433923"/>
            <a:ext cx="3619501" cy="5664201"/>
          </a:xfrm>
          <a:prstGeom prst="rect">
            <a:avLst/>
          </a:prstGeom>
          <a:ln w="12700">
            <a:miter lim="400000"/>
          </a:ln>
        </p:spPr>
      </p:pic>
      <p:sp>
        <p:nvSpPr>
          <p:cNvPr id="461" name="Connection Line"/>
          <p:cNvSpPr/>
          <p:nvPr/>
        </p:nvSpPr>
        <p:spPr>
          <a:xfrm>
            <a:off x="18445843" y="5282106"/>
            <a:ext cx="2078976" cy="1390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187" y="18675"/>
                  <a:pt x="14387" y="11475"/>
                  <a:pt x="21600" y="0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2" name="Connection Line"/>
          <p:cNvSpPr/>
          <p:nvPr/>
        </p:nvSpPr>
        <p:spPr>
          <a:xfrm>
            <a:off x="18541640" y="7051734"/>
            <a:ext cx="2352634" cy="1190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65" extrusionOk="0">
                <a:moveTo>
                  <a:pt x="0" y="127"/>
                </a:moveTo>
                <a:cubicBezTo>
                  <a:pt x="7185" y="-1035"/>
                  <a:pt x="14385" y="5778"/>
                  <a:pt x="21600" y="20565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464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65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466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468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pic>
        <p:nvPicPr>
          <p:cNvPr id="469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" name="Screenshot 2023-12-12 at 12.41.37.png" descr="Screenshot 2023-12-12 at 12.41.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8787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Screenshot 2023-12-12 at 12.47.50.png" descr="Screenshot 2023-12-12 at 12.47.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Screenshot 2023-12-12 at 12.48.17.png" descr="Screenshot 2023-12-12 at 12.48.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" name="Screenshot 2023-12-12 at 12.49.06.png" descr="Screenshot 2023-12-12 at 12.49.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7755" y="542138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" name="Screenshot 2023-12-12 at 12.49.27.png" descr="Screenshot 2023-12-12 at 12.49.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94273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" name="Screenshot 2023-12-12 at 12.49.51.png" descr="Screenshot 2023-12-12 at 12.49.5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24818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" name="Screenshot 2023-12-12 at 12.39.53.png" descr="Screenshot 2023-12-12 at 12.39.5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82896" y="433923"/>
            <a:ext cx="3619501" cy="5664201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Connection Line"/>
          <p:cNvSpPr/>
          <p:nvPr/>
        </p:nvSpPr>
        <p:spPr>
          <a:xfrm>
            <a:off x="18445843" y="5282106"/>
            <a:ext cx="2078976" cy="1390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187" y="18675"/>
                  <a:pt x="14387" y="11475"/>
                  <a:pt x="21600" y="0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5" name="Connection Line"/>
          <p:cNvSpPr/>
          <p:nvPr/>
        </p:nvSpPr>
        <p:spPr>
          <a:xfrm>
            <a:off x="18541640" y="7051734"/>
            <a:ext cx="2352634" cy="1190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65" extrusionOk="0">
                <a:moveTo>
                  <a:pt x="0" y="127"/>
                </a:moveTo>
                <a:cubicBezTo>
                  <a:pt x="7185" y="-1035"/>
                  <a:pt x="14385" y="5778"/>
                  <a:pt x="21600" y="20565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2" name="10"/>
          <p:cNvSpPr/>
          <p:nvPr/>
        </p:nvSpPr>
        <p:spPr>
          <a:xfrm>
            <a:off x="565022" y="8317507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10</a:t>
            </a:r>
          </a:p>
        </p:txBody>
      </p:sp>
      <p:sp>
        <p:nvSpPr>
          <p:cNvPr id="483" name="10"/>
          <p:cNvSpPr/>
          <p:nvPr/>
        </p:nvSpPr>
        <p:spPr>
          <a:xfrm>
            <a:off x="7490363" y="3562635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10</a:t>
            </a:r>
          </a:p>
        </p:txBody>
      </p:sp>
      <p:sp>
        <p:nvSpPr>
          <p:cNvPr id="484" name="2.5"/>
          <p:cNvSpPr/>
          <p:nvPr/>
        </p:nvSpPr>
        <p:spPr>
          <a:xfrm>
            <a:off x="4995066" y="4154126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2.5</a:t>
            </a:r>
          </a:p>
        </p:txBody>
      </p:sp>
      <p:sp>
        <p:nvSpPr>
          <p:cNvPr id="485" name="5"/>
          <p:cNvSpPr/>
          <p:nvPr/>
        </p:nvSpPr>
        <p:spPr>
          <a:xfrm>
            <a:off x="4173564" y="11869411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5</a:t>
            </a:r>
          </a:p>
        </p:txBody>
      </p:sp>
      <p:sp>
        <p:nvSpPr>
          <p:cNvPr id="486" name="2.5"/>
          <p:cNvSpPr/>
          <p:nvPr/>
        </p:nvSpPr>
        <p:spPr>
          <a:xfrm>
            <a:off x="13333990" y="3562635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2.5</a:t>
            </a:r>
          </a:p>
        </p:txBody>
      </p:sp>
      <p:sp>
        <p:nvSpPr>
          <p:cNvPr id="487" name="10"/>
          <p:cNvSpPr/>
          <p:nvPr/>
        </p:nvSpPr>
        <p:spPr>
          <a:xfrm>
            <a:off x="16048490" y="4154126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10</a:t>
            </a:r>
          </a:p>
        </p:txBody>
      </p:sp>
      <p:sp>
        <p:nvSpPr>
          <p:cNvPr id="488" name="5"/>
          <p:cNvSpPr/>
          <p:nvPr/>
        </p:nvSpPr>
        <p:spPr>
          <a:xfrm>
            <a:off x="16264380" y="11869411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5</a:t>
            </a:r>
          </a:p>
        </p:txBody>
      </p:sp>
      <p:sp>
        <p:nvSpPr>
          <p:cNvPr id="489" name="10"/>
          <p:cNvSpPr/>
          <p:nvPr/>
        </p:nvSpPr>
        <p:spPr>
          <a:xfrm>
            <a:off x="21659867" y="12106840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10</a:t>
            </a:r>
          </a:p>
        </p:txBody>
      </p:sp>
      <p:sp>
        <p:nvSpPr>
          <p:cNvPr id="490" name="10"/>
          <p:cNvSpPr/>
          <p:nvPr/>
        </p:nvSpPr>
        <p:spPr>
          <a:xfrm>
            <a:off x="21483135" y="3825126"/>
            <a:ext cx="2088313" cy="1205318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10</a:t>
            </a:r>
          </a:p>
        </p:txBody>
      </p:sp>
      <p:sp>
        <p:nvSpPr>
          <p:cNvPr id="491" name="5"/>
          <p:cNvSpPr/>
          <p:nvPr/>
        </p:nvSpPr>
        <p:spPr>
          <a:xfrm>
            <a:off x="2672829" y="5445390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5</a:t>
            </a:r>
          </a:p>
        </p:txBody>
      </p:sp>
      <p:sp>
        <p:nvSpPr>
          <p:cNvPr id="492" name="30"/>
          <p:cNvSpPr/>
          <p:nvPr/>
        </p:nvSpPr>
        <p:spPr>
          <a:xfrm>
            <a:off x="10483349" y="9053088"/>
            <a:ext cx="2088313" cy="1205317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 algn="ctr" defTabSz="821531">
              <a:defRPr sz="5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30</a:t>
            </a:r>
          </a:p>
        </p:txBody>
      </p:sp>
      <p:sp>
        <p:nvSpPr>
          <p:cNvPr id="493" name="Module…"/>
          <p:cNvSpPr/>
          <p:nvPr/>
        </p:nvSpPr>
        <p:spPr>
          <a:xfrm>
            <a:off x="190467" y="10654599"/>
            <a:ext cx="3739023" cy="2737696"/>
          </a:xfrm>
          <a:prstGeom prst="roundRect">
            <a:avLst>
              <a:gd name="adj" fmla="val 11824"/>
            </a:avLst>
          </a:prstGeom>
          <a:solidFill>
            <a:srgbClr val="0096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/>
          <a:p>
            <a:pPr algn="ctr" defTabSz="821531">
              <a:defRPr sz="65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pPr>
            <a:r>
              <a:t>Module</a:t>
            </a:r>
          </a:p>
          <a:p>
            <a:pPr algn="ctr" defTabSz="821531">
              <a:defRPr sz="65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pPr>
            <a:r>
              <a:t>Credits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roup"/>
          <p:cNvGrpSpPr/>
          <p:nvPr/>
        </p:nvGrpSpPr>
        <p:grpSpPr>
          <a:xfrm>
            <a:off x="4856833" y="-76930"/>
            <a:ext cx="13831065" cy="12595098"/>
            <a:chOff x="0" y="0"/>
            <a:chExt cx="13831064" cy="12595097"/>
          </a:xfrm>
        </p:grpSpPr>
        <p:pic>
          <p:nvPicPr>
            <p:cNvPr id="497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8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499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pic>
        <p:nvPicPr>
          <p:cNvPr id="501" name="Screenshot 2023-12-12 at 13.04.04.png" descr="Screenshot 2023-12-12 at 13.04.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23" y="365049"/>
            <a:ext cx="4472622" cy="6999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Screenshot 2023-12-12 at 13.04.17.png" descr="Screenshot 2023-12-12 at 13.04.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296" y="6096154"/>
            <a:ext cx="4375944" cy="6847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Screenshot 2023-12-12 at 13.04.32.png" descr="Screenshot 2023-12-12 at 13.04.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4641" y="397752"/>
            <a:ext cx="4170046" cy="652575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" name="Screenshot 2023-12-12 at 13.04.49.png" descr="Screenshot 2023-12-12 at 13.04.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923" y="6787791"/>
            <a:ext cx="4170045" cy="6525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" name="Screenshot 2023-12-12 at 13.05.44.png" descr="Screenshot 2023-12-12 at 13.05.4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7110" y="4082217"/>
            <a:ext cx="4375943" cy="68479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" name="Screenshot 2023-12-12 at 13.10.56.png" descr="Screenshot 2023-12-12 at 13.10.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3904" y="6734835"/>
            <a:ext cx="4222855" cy="66316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3. Semesters &amp; Modules"/>
          <p:cNvSpPr txBox="1">
            <a:spLocks noGrp="1"/>
          </p:cNvSpPr>
          <p:nvPr>
            <p:ph type="title"/>
          </p:nvPr>
        </p:nvSpPr>
        <p:spPr>
          <a:xfrm>
            <a:off x="4080727" y="5214937"/>
            <a:ext cx="16680657" cy="3286126"/>
          </a:xfrm>
          <a:prstGeom prst="rect">
            <a:avLst/>
          </a:prstGeom>
        </p:spPr>
        <p:txBody>
          <a:bodyPr/>
          <a:lstStyle>
            <a:lvl1pPr>
              <a:defRPr sz="8000"/>
            </a:lvl1pPr>
          </a:lstStyle>
          <a:p>
            <a:r>
              <a:t>3. Semesters &amp; Modules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Rectangle"/>
          <p:cNvSpPr/>
          <p:nvPr/>
        </p:nvSpPr>
        <p:spPr>
          <a:xfrm>
            <a:off x="15596764" y="8994378"/>
            <a:ext cx="8568057" cy="412615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04800" dist="123027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11" name="Arrow"/>
          <p:cNvSpPr/>
          <p:nvPr/>
        </p:nvSpPr>
        <p:spPr>
          <a:xfrm>
            <a:off x="13947106" y="10174245"/>
            <a:ext cx="1270001" cy="2083006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pic>
        <p:nvPicPr>
          <p:cNvPr id="512" name="Screenshot 2020-01-08 at 07.27.41.png" descr="Screenshot 2020-01-08 at 07.27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11" y="849720"/>
            <a:ext cx="18781051" cy="7661760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June 2025 - May 2026"/>
          <p:cNvSpPr txBox="1"/>
          <p:nvPr/>
        </p:nvSpPr>
        <p:spPr>
          <a:xfrm>
            <a:off x="17795168" y="9392393"/>
            <a:ext cx="4620030" cy="600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000"/>
            </a:lvl1pPr>
          </a:lstStyle>
          <a:p>
            <a:r>
              <a:rPr dirty="0"/>
              <a:t>June 202</a:t>
            </a:r>
            <a:r>
              <a:rPr lang="en-IE" dirty="0"/>
              <a:t>6</a:t>
            </a:r>
            <a:r>
              <a:rPr dirty="0"/>
              <a:t> - May 202</a:t>
            </a:r>
            <a:r>
              <a:rPr lang="en-IE" dirty="0"/>
              <a:t>7</a:t>
            </a:r>
            <a:endParaRPr dirty="0"/>
          </a:p>
        </p:txBody>
      </p:sp>
      <p:sp>
        <p:nvSpPr>
          <p:cNvPr id="514" name="Rectangle"/>
          <p:cNvSpPr/>
          <p:nvPr/>
        </p:nvSpPr>
        <p:spPr>
          <a:xfrm>
            <a:off x="1094849" y="6574592"/>
            <a:ext cx="3162317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15" name="Rectangle"/>
          <p:cNvSpPr/>
          <p:nvPr/>
        </p:nvSpPr>
        <p:spPr>
          <a:xfrm>
            <a:off x="5851694" y="6388455"/>
            <a:ext cx="3162317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16" name="Rectangle"/>
          <p:cNvSpPr/>
          <p:nvPr/>
        </p:nvSpPr>
        <p:spPr>
          <a:xfrm>
            <a:off x="10608539" y="6388455"/>
            <a:ext cx="3162317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17" name="Rectangle"/>
          <p:cNvSpPr/>
          <p:nvPr/>
        </p:nvSpPr>
        <p:spPr>
          <a:xfrm>
            <a:off x="15220610" y="6574592"/>
            <a:ext cx="3162317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pic>
        <p:nvPicPr>
          <p:cNvPr id="518" name="Screenshot 2020-01-08 at 07.30.45.png" descr="Screenshot 2020-01-08 at 07.30.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9967" y="9309843"/>
            <a:ext cx="824211" cy="676276"/>
          </a:xfrm>
          <a:prstGeom prst="rect">
            <a:avLst/>
          </a:prstGeom>
          <a:ln w="12700">
            <a:miter lim="400000"/>
          </a:ln>
        </p:spPr>
      </p:pic>
      <p:sp>
        <p:nvSpPr>
          <p:cNvPr id="519" name="Project/Work Placement"/>
          <p:cNvSpPr txBox="1"/>
          <p:nvPr/>
        </p:nvSpPr>
        <p:spPr>
          <a:xfrm>
            <a:off x="16539202" y="10776010"/>
            <a:ext cx="6683178" cy="879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800"/>
            </a:lvl1pPr>
          </a:lstStyle>
          <a:p>
            <a:r>
              <a:t>Project/Work Placement</a:t>
            </a:r>
          </a:p>
        </p:txBody>
      </p:sp>
      <p:sp>
        <p:nvSpPr>
          <p:cNvPr id="520" name="Line"/>
          <p:cNvSpPr/>
          <p:nvPr/>
        </p:nvSpPr>
        <p:spPr>
          <a:xfrm>
            <a:off x="15662360" y="12105071"/>
            <a:ext cx="8436863" cy="1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21" name="Line"/>
          <p:cNvSpPr/>
          <p:nvPr/>
        </p:nvSpPr>
        <p:spPr>
          <a:xfrm>
            <a:off x="15613040" y="10143195"/>
            <a:ext cx="8535504" cy="1"/>
          </a:xfrm>
          <a:prstGeom prst="line">
            <a:avLst/>
          </a:prstGeom>
          <a:ln w="12700">
            <a:solidFill>
              <a:srgbClr val="ABABAB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22" name="(Work Placement 4-6 months)"/>
          <p:cNvSpPr txBox="1"/>
          <p:nvPr/>
        </p:nvSpPr>
        <p:spPr>
          <a:xfrm>
            <a:off x="17950000" y="12441798"/>
            <a:ext cx="3861582" cy="47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200"/>
            </a:lvl1pPr>
          </a:lstStyle>
          <a:p>
            <a:r>
              <a:t>(Work Placement 4-6 months)</a:t>
            </a:r>
          </a:p>
        </p:txBody>
      </p:sp>
      <p:sp>
        <p:nvSpPr>
          <p:cNvPr id="523" name="2024"/>
          <p:cNvSpPr txBox="1"/>
          <p:nvPr/>
        </p:nvSpPr>
        <p:spPr>
          <a:xfrm>
            <a:off x="2558963" y="1706936"/>
            <a:ext cx="945771" cy="57515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800"/>
            </a:lvl1pPr>
          </a:lstStyle>
          <a:p>
            <a:r>
              <a:rPr dirty="0"/>
              <a:t>202</a:t>
            </a:r>
            <a:r>
              <a:rPr lang="en-IE" dirty="0"/>
              <a:t>5</a:t>
            </a:r>
            <a:endParaRPr dirty="0"/>
          </a:p>
        </p:txBody>
      </p:sp>
      <p:sp>
        <p:nvSpPr>
          <p:cNvPr id="524" name="2022"/>
          <p:cNvSpPr txBox="1"/>
          <p:nvPr/>
        </p:nvSpPr>
        <p:spPr>
          <a:xfrm>
            <a:off x="7401444" y="1707176"/>
            <a:ext cx="946647" cy="5746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800"/>
            </a:lvl1pPr>
          </a:lstStyle>
          <a:p>
            <a:r>
              <a:t>2022</a:t>
            </a:r>
          </a:p>
        </p:txBody>
      </p:sp>
      <p:sp>
        <p:nvSpPr>
          <p:cNvPr id="525" name="Jan-June 2025"/>
          <p:cNvSpPr txBox="1"/>
          <p:nvPr/>
        </p:nvSpPr>
        <p:spPr>
          <a:xfrm>
            <a:off x="10610841" y="1707176"/>
            <a:ext cx="3162317" cy="5746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2800"/>
            </a:lvl1pPr>
          </a:lstStyle>
          <a:p>
            <a:r>
              <a:rPr dirty="0"/>
              <a:t>Jan-June 202</a:t>
            </a:r>
            <a:r>
              <a:rPr lang="en-IE" dirty="0"/>
              <a:t>6</a:t>
            </a:r>
            <a:endParaRPr dirty="0"/>
          </a:p>
        </p:txBody>
      </p:sp>
      <p:sp>
        <p:nvSpPr>
          <p:cNvPr id="526" name="2023"/>
          <p:cNvSpPr txBox="1"/>
          <p:nvPr/>
        </p:nvSpPr>
        <p:spPr>
          <a:xfrm>
            <a:off x="16708315" y="1706936"/>
            <a:ext cx="945771" cy="57515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800"/>
            </a:lvl1pPr>
          </a:lstStyle>
          <a:p>
            <a:r>
              <a:rPr dirty="0"/>
              <a:t>202</a:t>
            </a:r>
            <a:r>
              <a:rPr lang="en-IE" dirty="0"/>
              <a:t>6</a:t>
            </a:r>
            <a:endParaRPr dirty="0"/>
          </a:p>
        </p:txBody>
      </p:sp>
      <p:sp>
        <p:nvSpPr>
          <p:cNvPr id="527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0364870" y="13150212"/>
            <a:ext cx="409779" cy="4158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l"/>
          </a:lstStyle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528" name="June-Dec 2024"/>
          <p:cNvSpPr txBox="1"/>
          <p:nvPr/>
        </p:nvSpPr>
        <p:spPr>
          <a:xfrm>
            <a:off x="5741968" y="1707176"/>
            <a:ext cx="3162318" cy="5746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2800"/>
            </a:lvl1pPr>
          </a:lstStyle>
          <a:p>
            <a:r>
              <a:rPr dirty="0"/>
              <a:t>June-Dec 202</a:t>
            </a:r>
            <a:r>
              <a:rPr lang="en-IE" dirty="0"/>
              <a:t>5</a:t>
            </a:r>
            <a:endParaRPr dirty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532" name="“..a broad immersive set of modules in the fundamentals of computing covering software development, systems analysis &amp; testing, databases, architecture, OS &amp; networking, web design / user-experience..”"/>
          <p:cNvSpPr txBox="1">
            <a:spLocks noGrp="1"/>
          </p:cNvSpPr>
          <p:nvPr>
            <p:ph type="body" sz="quarter" idx="1"/>
          </p:nvPr>
        </p:nvSpPr>
        <p:spPr>
          <a:xfrm>
            <a:off x="3055873" y="11379771"/>
            <a:ext cx="18272254" cy="196453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i="1"/>
            </a:pPr>
            <a:r>
              <a:t>“..a broad immersive set of modules in the fundamentals of computing covering </a:t>
            </a:r>
            <a:r>
              <a:rPr b="1"/>
              <a:t>software development, systems analysis &amp; testing</a:t>
            </a:r>
            <a:r>
              <a:t>, databases, architecture, OS &amp; networking, </a:t>
            </a:r>
            <a:r>
              <a:rPr b="1"/>
              <a:t>web design / user-experience..</a:t>
            </a:r>
            <a:r>
              <a:t>”</a:t>
            </a:r>
          </a:p>
        </p:txBody>
      </p:sp>
      <p:sp>
        <p:nvSpPr>
          <p:cNvPr id="533" name="Semester 1: January - June 2024"/>
          <p:cNvSpPr txBox="1"/>
          <p:nvPr/>
        </p:nvSpPr>
        <p:spPr>
          <a:xfrm>
            <a:off x="3538809" y="1360191"/>
            <a:ext cx="5822106" cy="62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1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/>
              <a:t>Semester 1: January - June 202</a:t>
            </a:r>
            <a:r>
              <a:rPr lang="en-IE" dirty="0"/>
              <a:t>5</a:t>
            </a:r>
            <a:endParaRPr dirty="0"/>
          </a:p>
        </p:txBody>
      </p:sp>
      <p:sp>
        <p:nvSpPr>
          <p:cNvPr id="534" name="Rounded Rectangle"/>
          <p:cNvSpPr/>
          <p:nvPr/>
        </p:nvSpPr>
        <p:spPr>
          <a:xfrm>
            <a:off x="2434552" y="972811"/>
            <a:ext cx="18875638" cy="9875633"/>
          </a:xfrm>
          <a:prstGeom prst="roundRect">
            <a:avLst>
              <a:gd name="adj" fmla="val 15929"/>
            </a:avLst>
          </a:prstGeom>
          <a:ln w="12700">
            <a:solidFill>
              <a:srgbClr val="868686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pic>
        <p:nvPicPr>
          <p:cNvPr id="535" name="Screenshot 2023-12-12 at 13.08.17.png" descr="Screenshot 2023-12-12 at 13.08.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105" y="2781300"/>
            <a:ext cx="7213601" cy="5664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" name="Screenshot 2023-12-12 at 13.08.40.png" descr="Screenshot 2023-12-12 at 13.08.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01" y="2781300"/>
            <a:ext cx="3683001" cy="5664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539" name="Semester 1: June - December 2024"/>
          <p:cNvSpPr txBox="1"/>
          <p:nvPr/>
        </p:nvSpPr>
        <p:spPr>
          <a:xfrm>
            <a:off x="3538809" y="1360191"/>
            <a:ext cx="6256520" cy="62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1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/>
              <a:t>Semester 1: June - December 202</a:t>
            </a:r>
            <a:r>
              <a:rPr lang="en-IE" dirty="0"/>
              <a:t>5</a:t>
            </a:r>
            <a:endParaRPr dirty="0"/>
          </a:p>
        </p:txBody>
      </p:sp>
      <p:sp>
        <p:nvSpPr>
          <p:cNvPr id="540" name="Rounded Rectangle"/>
          <p:cNvSpPr/>
          <p:nvPr/>
        </p:nvSpPr>
        <p:spPr>
          <a:xfrm>
            <a:off x="2434552" y="972811"/>
            <a:ext cx="18875638" cy="9875633"/>
          </a:xfrm>
          <a:prstGeom prst="roundRect">
            <a:avLst>
              <a:gd name="adj" fmla="val 15929"/>
            </a:avLst>
          </a:prstGeom>
          <a:ln w="12700">
            <a:solidFill>
              <a:srgbClr val="868686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41" name="“..a broad immersive set of modules in the fundamentals of computing covering software development, systems analysis &amp; testing, databases, architecture, OS &amp; networking, web design / user-experience..”"/>
          <p:cNvSpPr txBox="1">
            <a:spLocks noGrp="1"/>
          </p:cNvSpPr>
          <p:nvPr>
            <p:ph type="body" sz="quarter" idx="1"/>
          </p:nvPr>
        </p:nvSpPr>
        <p:spPr>
          <a:xfrm>
            <a:off x="3055873" y="11379771"/>
            <a:ext cx="18272254" cy="196453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i="1"/>
            </a:pPr>
            <a:r>
              <a:rPr sz="3800"/>
              <a:t>“..a broad immersive set of modules in the </a:t>
            </a:r>
            <a:r>
              <a:rPr sz="3800" b="1"/>
              <a:t>fundamentals of computing </a:t>
            </a:r>
            <a:r>
              <a:rPr sz="3800"/>
              <a:t>covering software development, systems analysis &amp; testing, </a:t>
            </a:r>
            <a:r>
              <a:rPr sz="3800" b="1"/>
              <a:t>databases, architecture, OS &amp; networking</a:t>
            </a:r>
            <a:r>
              <a:rPr sz="3800"/>
              <a:t>, web design / user-experience..”</a:t>
            </a:r>
          </a:p>
        </p:txBody>
      </p:sp>
      <p:pic>
        <p:nvPicPr>
          <p:cNvPr id="542" name="Screenshot 2023-12-12 at 13.09.07.png" descr="Screenshot 2023-12-12 at 13.09.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521" y="3078527"/>
            <a:ext cx="143637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545" name="Semester 3: January - June 2025"/>
          <p:cNvSpPr txBox="1"/>
          <p:nvPr/>
        </p:nvSpPr>
        <p:spPr>
          <a:xfrm>
            <a:off x="3538809" y="1360191"/>
            <a:ext cx="5822106" cy="62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1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/>
              <a:t>Semester 3: January - June 202</a:t>
            </a:r>
            <a:r>
              <a:rPr lang="en-IE" dirty="0"/>
              <a:t>6</a:t>
            </a:r>
            <a:endParaRPr dirty="0"/>
          </a:p>
        </p:txBody>
      </p:sp>
      <p:sp>
        <p:nvSpPr>
          <p:cNvPr id="546" name="Rounded Rectangle"/>
          <p:cNvSpPr/>
          <p:nvPr/>
        </p:nvSpPr>
        <p:spPr>
          <a:xfrm>
            <a:off x="2434552" y="972811"/>
            <a:ext cx="19355502" cy="9875633"/>
          </a:xfrm>
          <a:prstGeom prst="roundRect">
            <a:avLst>
              <a:gd name="adj" fmla="val 15929"/>
            </a:avLst>
          </a:prstGeom>
          <a:ln w="12700">
            <a:solidFill>
              <a:srgbClr val="868686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47" name="“… students are expected to take a specialisation which reflects their own strengths as demonstrated on the programme to date...”"/>
          <p:cNvSpPr txBox="1">
            <a:spLocks noGrp="1"/>
          </p:cNvSpPr>
          <p:nvPr>
            <p:ph type="body" sz="quarter" idx="1"/>
          </p:nvPr>
        </p:nvSpPr>
        <p:spPr>
          <a:xfrm>
            <a:off x="1529075" y="11836107"/>
            <a:ext cx="21325850" cy="156989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3800" i="1"/>
            </a:lvl1pPr>
          </a:lstStyle>
          <a:p>
            <a:pPr>
              <a:defRPr sz="3600"/>
            </a:pPr>
            <a:r>
              <a:rPr sz="3800"/>
              <a:t>“… students are expected to take a specialisation which reflects their own strengths as demonstrated on the programme to date...”</a:t>
            </a:r>
          </a:p>
        </p:txBody>
      </p:sp>
      <p:pic>
        <p:nvPicPr>
          <p:cNvPr id="548" name="Screenshot 2023-12-12 at 13.09.54.png" descr="Screenshot 2023-12-12 at 13.09.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871" y="3078527"/>
            <a:ext cx="72263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" name="Screenshot 2023-12-12 at 13.10.14.png" descr="Screenshot 2023-12-12 at 13.10.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633" y="3078527"/>
            <a:ext cx="36068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552" name="Semester 4: June - December 2025"/>
          <p:cNvSpPr txBox="1"/>
          <p:nvPr/>
        </p:nvSpPr>
        <p:spPr>
          <a:xfrm>
            <a:off x="3538809" y="1360191"/>
            <a:ext cx="6256520" cy="62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1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/>
              <a:t>Semester 4: June - December 202</a:t>
            </a:r>
            <a:r>
              <a:rPr lang="en-IE" dirty="0"/>
              <a:t>6</a:t>
            </a:r>
            <a:endParaRPr dirty="0"/>
          </a:p>
        </p:txBody>
      </p:sp>
      <p:sp>
        <p:nvSpPr>
          <p:cNvPr id="553" name="“… students are expected to take a specialisation which reflects their own strengths as demonstrated on the programme to date...”"/>
          <p:cNvSpPr txBox="1">
            <a:spLocks noGrp="1"/>
          </p:cNvSpPr>
          <p:nvPr>
            <p:ph type="body" sz="quarter" idx="1"/>
          </p:nvPr>
        </p:nvSpPr>
        <p:spPr>
          <a:xfrm>
            <a:off x="1529075" y="11836107"/>
            <a:ext cx="21325850" cy="156989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3800" i="1"/>
            </a:lvl1pPr>
          </a:lstStyle>
          <a:p>
            <a:pPr>
              <a:defRPr sz="3600"/>
            </a:pPr>
            <a:r>
              <a:rPr sz="3800"/>
              <a:t>“… students are expected to take a specialisation which reflects their own strengths as demonstrated on the programme to date...”</a:t>
            </a:r>
          </a:p>
        </p:txBody>
      </p:sp>
      <p:pic>
        <p:nvPicPr>
          <p:cNvPr id="554" name="Screenshot 2023-12-12 at 13.12.12.png" descr="Screenshot 2023-12-12 at 13.12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147" y="3078527"/>
            <a:ext cx="36068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Screenshot 2023-12-12 at 13.12.25.png" descr="Screenshot 2023-12-12 at 13.12.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45" y="3078527"/>
            <a:ext cx="36068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" name="Screenshot 2023-12-12 at 13.12.40.png" descr="Screenshot 2023-12-12 at 13.12.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649" y="3078527"/>
            <a:ext cx="36068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" name="Screenshot 2023-12-12 at 13.12.53.png" descr="Screenshot 2023-12-12 at 13.12.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6150" y="3078527"/>
            <a:ext cx="3606801" cy="5664201"/>
          </a:xfrm>
          <a:prstGeom prst="rect">
            <a:avLst/>
          </a:prstGeom>
          <a:ln w="12700">
            <a:miter lim="400000"/>
          </a:ln>
        </p:spPr>
      </p:pic>
      <p:sp>
        <p:nvSpPr>
          <p:cNvPr id="558" name="Rounded Rectangle"/>
          <p:cNvSpPr/>
          <p:nvPr/>
        </p:nvSpPr>
        <p:spPr>
          <a:xfrm>
            <a:off x="2434552" y="972811"/>
            <a:ext cx="19355502" cy="9875633"/>
          </a:xfrm>
          <a:prstGeom prst="roundRect">
            <a:avLst>
              <a:gd name="adj" fmla="val 15929"/>
            </a:avLst>
          </a:prstGeom>
          <a:ln w="12700">
            <a:solidFill>
              <a:srgbClr val="868686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561" name="Semester 4: September 2025 - May 2026"/>
          <p:cNvSpPr txBox="1"/>
          <p:nvPr/>
        </p:nvSpPr>
        <p:spPr>
          <a:xfrm>
            <a:off x="4844162" y="1395001"/>
            <a:ext cx="7235954" cy="62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1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/>
              <a:t>Semester 4: September 202</a:t>
            </a:r>
            <a:r>
              <a:rPr lang="en-IE" dirty="0"/>
              <a:t>6</a:t>
            </a:r>
            <a:r>
              <a:rPr dirty="0"/>
              <a:t> - May 202</a:t>
            </a:r>
            <a:r>
              <a:rPr lang="en-IE" dirty="0"/>
              <a:t>7</a:t>
            </a:r>
            <a:endParaRPr dirty="0"/>
          </a:p>
        </p:txBody>
      </p:sp>
      <p:sp>
        <p:nvSpPr>
          <p:cNvPr id="562" name="Rounded Rectangle"/>
          <p:cNvSpPr/>
          <p:nvPr/>
        </p:nvSpPr>
        <p:spPr>
          <a:xfrm>
            <a:off x="4099990" y="972811"/>
            <a:ext cx="15716488" cy="9875633"/>
          </a:xfrm>
          <a:prstGeom prst="roundRect">
            <a:avLst>
              <a:gd name="adj" fmla="val 15929"/>
            </a:avLst>
          </a:prstGeom>
          <a:ln w="12700">
            <a:solidFill>
              <a:srgbClr val="868686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sp>
        <p:nvSpPr>
          <p:cNvPr id="563" name="“Internships or work placements are seen as crucial to providing graduates with the context and confidence in their new knowledge...”"/>
          <p:cNvSpPr txBox="1"/>
          <p:nvPr/>
        </p:nvSpPr>
        <p:spPr>
          <a:xfrm>
            <a:off x="317010" y="12074806"/>
            <a:ext cx="24204982" cy="1272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spcBef>
                <a:spcPts val="6700"/>
              </a:spcBef>
              <a:defRPr sz="3800" i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“Internships or work placements are seen as crucial to providing graduates with the context and confidence in their new knowledge...”</a:t>
            </a:r>
          </a:p>
        </p:txBody>
      </p:sp>
      <p:pic>
        <p:nvPicPr>
          <p:cNvPr id="564" name="Screenshot 2023-12-12 at 13.13.39.png" descr="Screenshot 2023-12-12 at 13.13.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938" y="3231698"/>
            <a:ext cx="36068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" name="Screenshot 2023-12-12 at 13.14.13.png" descr="Screenshot 2023-12-12 at 13.14.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475" y="3231698"/>
            <a:ext cx="36068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4. Calendar, Timetable &amp;…"/>
          <p:cNvSpPr txBox="1">
            <a:spLocks noGrp="1"/>
          </p:cNvSpPr>
          <p:nvPr>
            <p:ph type="title"/>
          </p:nvPr>
        </p:nvSpPr>
        <p:spPr>
          <a:xfrm>
            <a:off x="2261155" y="3444962"/>
            <a:ext cx="17616991" cy="5368449"/>
          </a:xfrm>
          <a:prstGeom prst="rect">
            <a:avLst/>
          </a:prstGeom>
        </p:spPr>
        <p:txBody>
          <a:bodyPr/>
          <a:lstStyle/>
          <a:p>
            <a:pPr algn="ctr">
              <a:defRPr sz="8000"/>
            </a:pPr>
            <a:r>
              <a:t>4. Calendar, Timetable &amp; </a:t>
            </a:r>
          </a:p>
          <a:p>
            <a:pPr algn="ctr">
              <a:defRPr sz="8000"/>
            </a:pPr>
            <a:r>
              <a:t>Assessment Sequencing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CF335-43D7-067E-9F0C-BCE478B486B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B71C6-8176-072E-3C4B-0109153D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56" y="372443"/>
            <a:ext cx="23261528" cy="129711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Weekly Webinar Schedule"/>
          <p:cNvSpPr txBox="1">
            <a:spLocks noGrp="1"/>
          </p:cNvSpPr>
          <p:nvPr>
            <p:ph type="title"/>
          </p:nvPr>
        </p:nvSpPr>
        <p:spPr>
          <a:xfrm>
            <a:off x="2480774" y="-636870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t>Weekly Webinar Schedule</a:t>
            </a:r>
          </a:p>
        </p:txBody>
      </p:sp>
      <p:sp>
        <p:nvSpPr>
          <p:cNvPr id="58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  <p:sp>
        <p:nvSpPr>
          <p:cNvPr id="582" name="Rectangle"/>
          <p:cNvSpPr/>
          <p:nvPr/>
        </p:nvSpPr>
        <p:spPr>
          <a:xfrm>
            <a:off x="21060334" y="6695419"/>
            <a:ext cx="1816070" cy="19645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pic>
        <p:nvPicPr>
          <p:cNvPr id="583" name="Screenshot 2023-01-08 at 17.56.30.png" descr="Screenshot 2023-01-08 at 17.56.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99" y="1440724"/>
            <a:ext cx="22685345" cy="119215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01"/>
          <p:cNvSpPr txBox="1">
            <a:spLocks noGrp="1"/>
          </p:cNvSpPr>
          <p:nvPr>
            <p:ph type="sldNum" sz="quarter" idx="2"/>
          </p:nvPr>
        </p:nvSpPr>
        <p:spPr>
          <a:xfrm>
            <a:off x="23228258" y="12862766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267D47-E6FF-FCAD-DF06-80AB60D4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D2CE1-4D7F-0031-7079-36E223EF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9" y="1534975"/>
            <a:ext cx="23565170" cy="1035222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4. Module Summar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000"/>
            </a:lvl1pPr>
          </a:lstStyle>
          <a:p>
            <a:r>
              <a:t>4. Module Summaries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878" y="10356135"/>
            <a:ext cx="2659966" cy="2659966"/>
          </a:xfrm>
          <a:prstGeom prst="rect">
            <a:avLst/>
          </a:prstGeom>
          <a:ln w="12700">
            <a:miter lim="400000"/>
          </a:ln>
        </p:spPr>
      </p:pic>
      <p:sp>
        <p:nvSpPr>
          <p:cNvPr id="59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  <p:pic>
        <p:nvPicPr>
          <p:cNvPr id="593" name="pasted-image.jpeg" descr="pasted-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474" y="11070301"/>
            <a:ext cx="1673862" cy="1673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" name="Screen Shot 2018-01-10 at 08.15.59.png" descr="Screen Shot 2018-01-10 at 08.15.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8308" y="10849188"/>
            <a:ext cx="1636387" cy="1673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" name="pasted-image.jpeg" descr="pasted-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14870" y="10730577"/>
            <a:ext cx="2871844" cy="1911082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Apply core problem solving approaches suitable to the programming discipline to build algorithms.…"/>
          <p:cNvSpPr txBox="1">
            <a:spLocks noGrp="1"/>
          </p:cNvSpPr>
          <p:nvPr>
            <p:ph type="body" idx="1"/>
          </p:nvPr>
        </p:nvSpPr>
        <p:spPr>
          <a:xfrm>
            <a:off x="8237866" y="432082"/>
            <a:ext cx="15705860" cy="966256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spcBef>
                <a:spcPts val="2600"/>
              </a:spcBef>
            </a:pPr>
            <a:r>
              <a:t>Apply core problem solving approaches suitable to the programming discipline to build algorithms.</a:t>
            </a:r>
          </a:p>
          <a:p>
            <a:pPr>
              <a:spcBef>
                <a:spcPts val="2600"/>
              </a:spcBef>
            </a:pPr>
            <a:r>
              <a:t>Construct small applications using standard sequence, conditional and iterative control structures. Change and expand small applications.</a:t>
            </a:r>
          </a:p>
          <a:p>
            <a:pPr>
              <a:spcBef>
                <a:spcPts val="2600"/>
              </a:spcBef>
            </a:pPr>
            <a:r>
              <a:t>Construct small applications that use simple UI, computation and data structures.</a:t>
            </a:r>
          </a:p>
          <a:p>
            <a:pPr>
              <a:spcBef>
                <a:spcPts val="2600"/>
              </a:spcBef>
            </a:pPr>
            <a:r>
              <a:t>Apply techniques to effectively test, debug and document small applications.</a:t>
            </a:r>
          </a:p>
          <a:p>
            <a:pPr>
              <a:spcBef>
                <a:spcPts val="2600"/>
              </a:spcBef>
            </a:pPr>
            <a:r>
              <a:t>Defend and explain how the above applications work.</a:t>
            </a:r>
          </a:p>
          <a:p>
            <a:pPr>
              <a:spcBef>
                <a:spcPts val="2600"/>
              </a:spcBef>
            </a:pPr>
            <a:r>
              <a:t>Apply problem-solving strategies to various computing problems of increasing complexity.</a:t>
            </a:r>
          </a:p>
          <a:p>
            <a:pPr>
              <a:spcBef>
                <a:spcPts val="2600"/>
              </a:spcBef>
            </a:pPr>
            <a:r>
              <a:t>Plan, code, test and document applications using advanced programming constructs and data structures</a:t>
            </a:r>
          </a:p>
        </p:txBody>
      </p:sp>
      <p:pic>
        <p:nvPicPr>
          <p:cNvPr id="597" name="Screenshot 2022-01-03 at 18.01.18.png" descr="Screenshot 2022-01-03 at 18.01.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231" y="1153428"/>
            <a:ext cx="7246182" cy="110231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Understand the fundamentals of the HTML markup language.…"/>
          <p:cNvSpPr txBox="1">
            <a:spLocks noGrp="1"/>
          </p:cNvSpPr>
          <p:nvPr>
            <p:ph type="body" idx="1"/>
          </p:nvPr>
        </p:nvSpPr>
        <p:spPr>
          <a:xfrm>
            <a:off x="8798514" y="798328"/>
            <a:ext cx="15054127" cy="994157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spcBef>
                <a:spcPts val="2600"/>
              </a:spcBef>
            </a:pPr>
            <a:r>
              <a:t>Understand the fundamentals of the HTML markup language.</a:t>
            </a:r>
          </a:p>
          <a:p>
            <a:pPr>
              <a:spcBef>
                <a:spcPts val="2600"/>
              </a:spcBef>
            </a:pPr>
            <a:r>
              <a:t>Understand the role of Human Computer Interaction and manipulate CSS to present HTML content.</a:t>
            </a:r>
          </a:p>
          <a:p>
            <a:pPr>
              <a:spcBef>
                <a:spcPts val="2600"/>
              </a:spcBef>
            </a:pPr>
            <a:r>
              <a:t>Be able to integrate HTML, CSS and Java script to structure simple web sites.</a:t>
            </a:r>
          </a:p>
          <a:p>
            <a:pPr>
              <a:spcBef>
                <a:spcPts val="2600"/>
              </a:spcBef>
            </a:pPr>
            <a:r>
              <a:t>Understand how a dynamic web page is generated and be familiar with the role of html templating techniques</a:t>
            </a:r>
          </a:p>
          <a:p>
            <a:pPr>
              <a:spcBef>
                <a:spcPts val="2600"/>
              </a:spcBef>
            </a:pPr>
            <a:r>
              <a:t>Understand the difference between a web site and a web app. Be able to design and implement a simple web app.</a:t>
            </a:r>
          </a:p>
          <a:p>
            <a:pPr>
              <a:spcBef>
                <a:spcPts val="2600"/>
              </a:spcBef>
            </a:pPr>
            <a:r>
              <a:t>Implement a simple Model View Controller application pattern for a web app.</a:t>
            </a:r>
          </a:p>
        </p:txBody>
      </p:sp>
      <p:sp>
        <p:nvSpPr>
          <p:cNvPr id="600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pic>
        <p:nvPicPr>
          <p:cNvPr id="601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246" y="10436553"/>
            <a:ext cx="2179481" cy="2179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2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096" y="10297376"/>
            <a:ext cx="1739816" cy="24578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03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1344" y="10240815"/>
            <a:ext cx="2179481" cy="21794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4" name="Screen Shot 2018-01-10 at 08.15.59.png" descr="Screen Shot 2018-01-10 at 08.15.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8281" y="10689363"/>
            <a:ext cx="1636386" cy="1673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5" name="pasted-image.png" descr="pasted-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5237" y="10594393"/>
            <a:ext cx="3994757" cy="1472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6" name="Screenshot 2022-01-03 at 18.02.00.png" descr="Screenshot 2022-01-03 at 18.02.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440" y="728781"/>
            <a:ext cx="7798749" cy="118637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Continue the journey into web application development…"/>
          <p:cNvSpPr txBox="1">
            <a:spLocks noGrp="1"/>
          </p:cNvSpPr>
          <p:nvPr>
            <p:ph type="body" sz="half" idx="1"/>
          </p:nvPr>
        </p:nvSpPr>
        <p:spPr>
          <a:xfrm>
            <a:off x="8634545" y="1084895"/>
            <a:ext cx="14935393" cy="606464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600"/>
              </a:spcBef>
            </a:pPr>
            <a:r>
              <a:t>Continue the journey into web application development</a:t>
            </a:r>
          </a:p>
          <a:p>
            <a:pPr>
              <a:spcBef>
                <a:spcPts val="2600"/>
              </a:spcBef>
            </a:pPr>
            <a:r>
              <a:t>Establish a competence in Javascript programming language</a:t>
            </a:r>
          </a:p>
          <a:p>
            <a:pPr>
              <a:spcBef>
                <a:spcPts val="2600"/>
              </a:spcBef>
            </a:pPr>
            <a:r>
              <a:t>Explore the basics of the Node.js framework</a:t>
            </a:r>
          </a:p>
          <a:p>
            <a:pPr>
              <a:spcBef>
                <a:spcPts val="2600"/>
              </a:spcBef>
            </a:pPr>
            <a:r>
              <a:t>Use a simple JSON persistent storage database</a:t>
            </a:r>
          </a:p>
          <a:p>
            <a:pPr>
              <a:spcBef>
                <a:spcPts val="2600"/>
              </a:spcBef>
            </a:pPr>
            <a:r>
              <a:t>Design, build and deploy a complete web application using these tools</a:t>
            </a:r>
          </a:p>
          <a:p>
            <a:pPr>
              <a:spcBef>
                <a:spcPts val="2600"/>
              </a:spcBef>
            </a:pPr>
            <a:r>
              <a:t>Understand the role of Agile methods in this context</a:t>
            </a:r>
          </a:p>
        </p:txBody>
      </p:sp>
      <p:sp>
        <p:nvSpPr>
          <p:cNvPr id="609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pic>
        <p:nvPicPr>
          <p:cNvPr id="610" name="Screen Shot 2018-01-10 at 08.11.33.png" descr="Screen Shot 2018-01-10 at 08.11.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969" y="10385142"/>
            <a:ext cx="2813800" cy="2248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1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1237" y="10472688"/>
            <a:ext cx="2813800" cy="1715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" name="download.jpg" descr="downlo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1102" y="10394326"/>
            <a:ext cx="2813800" cy="1872457"/>
          </a:xfrm>
          <a:prstGeom prst="rect">
            <a:avLst/>
          </a:prstGeom>
          <a:ln w="12700">
            <a:miter lim="400000"/>
          </a:ln>
        </p:spPr>
      </p:pic>
      <p:pic>
        <p:nvPicPr>
          <p:cNvPr id="613" name="pasted-image.png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9973" y="10594393"/>
            <a:ext cx="3994758" cy="1472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14" name="Screenshot 2022-01-03 at 18.02.49.png" descr="Screenshot 2022-01-03 at 18.02.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90" y="679850"/>
            <a:ext cx="7208920" cy="118571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Identify and explain the role various hardware components play in a computer system.…"/>
          <p:cNvSpPr txBox="1">
            <a:spLocks noGrp="1"/>
          </p:cNvSpPr>
          <p:nvPr>
            <p:ph type="body" idx="1"/>
          </p:nvPr>
        </p:nvSpPr>
        <p:spPr>
          <a:xfrm>
            <a:off x="8390351" y="393763"/>
            <a:ext cx="15574528" cy="917000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spcBef>
                <a:spcPts val="2600"/>
              </a:spcBef>
            </a:pPr>
            <a:r>
              <a:t>Identify and explain the role various hardware components play in a computer system. </a:t>
            </a:r>
          </a:p>
          <a:p>
            <a:pPr>
              <a:spcBef>
                <a:spcPts val="2600"/>
              </a:spcBef>
            </a:pPr>
            <a:r>
              <a:t>Use an operating system on a chosen computer architecture.</a:t>
            </a:r>
          </a:p>
          <a:p>
            <a:pPr>
              <a:spcBef>
                <a:spcPts val="2600"/>
              </a:spcBef>
            </a:pPr>
            <a:r>
              <a:t>Demonstrate an ability to configure systems using the command line.</a:t>
            </a:r>
          </a:p>
          <a:p>
            <a:pPr>
              <a:spcBef>
                <a:spcPts val="2600"/>
              </a:spcBef>
            </a:pPr>
            <a:r>
              <a:t>Describe the memory management, process management and file management components of a modern operating system. </a:t>
            </a:r>
          </a:p>
          <a:p>
            <a:pPr>
              <a:spcBef>
                <a:spcPts val="2600"/>
              </a:spcBef>
            </a:pPr>
            <a:r>
              <a:t>Explain basic concepts and theory of networked operating systems and virtualisation. </a:t>
            </a:r>
          </a:p>
          <a:p>
            <a:pPr>
              <a:spcBef>
                <a:spcPts val="2600"/>
              </a:spcBef>
            </a:pPr>
            <a:r>
              <a:t>Configure a contemporary operating system (within a virtual machine environment)</a:t>
            </a:r>
          </a:p>
          <a:p>
            <a:pPr>
              <a:spcBef>
                <a:spcPts val="2600"/>
              </a:spcBef>
            </a:pPr>
            <a:r>
              <a:t>Demonstrate competency in a limited set of utilities provided by a contemporary operating system. </a:t>
            </a:r>
          </a:p>
          <a:p>
            <a:pPr>
              <a:spcBef>
                <a:spcPts val="2600"/>
              </a:spcBef>
            </a:pPr>
            <a:r>
              <a:t>Complete basic automation tasks using scripting. </a:t>
            </a:r>
            <a:br/>
            <a:endParaRPr/>
          </a:p>
        </p:txBody>
      </p:sp>
      <p:sp>
        <p:nvSpPr>
          <p:cNvPr id="617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  <p:pic>
        <p:nvPicPr>
          <p:cNvPr id="618" name="pasted-image.jpeg" descr="pasted-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566" y="10701717"/>
            <a:ext cx="2118443" cy="165138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9" name="pasted-image.jpeg" descr="pasted-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705" y="10522135"/>
            <a:ext cx="2929348" cy="2010549"/>
          </a:xfrm>
          <a:prstGeom prst="rect">
            <a:avLst/>
          </a:prstGeom>
          <a:ln w="12700">
            <a:miter lim="400000"/>
          </a:ln>
        </p:spPr>
      </p:pic>
      <p:pic>
        <p:nvPicPr>
          <p:cNvPr id="620" name="pasted-image.jpeg" descr="pasted-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6199" y="10794395"/>
            <a:ext cx="2744331" cy="1466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621" name="pasted-image.png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0649" y="10590927"/>
            <a:ext cx="3430007" cy="187296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2" name="Screenshot 2022-01-03 at 18.03.19.png" descr="Screenshot 2022-01-03 at 18.03.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19" y="604565"/>
            <a:ext cx="7348863" cy="12087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Discuss the role of a database and its management system.…"/>
          <p:cNvSpPr txBox="1">
            <a:spLocks noGrp="1"/>
          </p:cNvSpPr>
          <p:nvPr>
            <p:ph type="body" sz="half" idx="1"/>
          </p:nvPr>
        </p:nvSpPr>
        <p:spPr>
          <a:xfrm>
            <a:off x="8223005" y="685422"/>
            <a:ext cx="15923046" cy="712239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spcBef>
                <a:spcPts val="3500"/>
              </a:spcBef>
            </a:pPr>
            <a:r>
              <a:t>Discuss the role of a database and its management system.</a:t>
            </a:r>
          </a:p>
          <a:p>
            <a:pPr>
              <a:spcBef>
                <a:spcPts val="3500"/>
              </a:spcBef>
            </a:pPr>
            <a:r>
              <a:t>Draw Entity Relationship (ER) diagram from an application problem and reproduce this diagram into a set of normalised relations, which are ready for database implementation.</a:t>
            </a:r>
          </a:p>
          <a:p>
            <a:pPr>
              <a:spcBef>
                <a:spcPts val="3500"/>
              </a:spcBef>
            </a:pPr>
            <a:r>
              <a:t>Design a NoSQL database suitable for a distributed environment with consideration of the CAP theorem.</a:t>
            </a:r>
          </a:p>
          <a:p>
            <a:pPr>
              <a:spcBef>
                <a:spcPts val="3500"/>
              </a:spcBef>
            </a:pPr>
            <a:r>
              <a:t>Gain an understanding of the physical database design process, its objectives and deliverables.</a:t>
            </a:r>
          </a:p>
          <a:p>
            <a:pPr>
              <a:spcBef>
                <a:spcPts val="3500"/>
              </a:spcBef>
            </a:pPr>
            <a:r>
              <a:t>Design and implement a database system</a:t>
            </a:r>
          </a:p>
        </p:txBody>
      </p:sp>
      <p:sp>
        <p:nvSpPr>
          <p:cNvPr id="625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pic>
        <p:nvPicPr>
          <p:cNvPr id="626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612" y="9438135"/>
            <a:ext cx="3649020" cy="2744143"/>
          </a:xfrm>
          <a:prstGeom prst="rect">
            <a:avLst/>
          </a:prstGeom>
          <a:ln w="12700">
            <a:miter lim="400000"/>
          </a:ln>
        </p:spPr>
      </p:pic>
      <p:pic>
        <p:nvPicPr>
          <p:cNvPr id="627" name="get.png" descr="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50" y="10253345"/>
            <a:ext cx="3796779" cy="1113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28" name="download.png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8069" y="10786416"/>
            <a:ext cx="5154568" cy="1399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29" name="download.png" descr="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0916" y="8738331"/>
            <a:ext cx="4038601" cy="2019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0" name="Screenshot 2022-01-03 at 18.03.44.png" descr="Screenshot 2022-01-03 at 18.03.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90" y="553827"/>
            <a:ext cx="7182116" cy="118130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  <p:sp>
        <p:nvSpPr>
          <p:cNvPr id="633" name="Examine the key components of a server rendered web application and incorporate them into a running application.…"/>
          <p:cNvSpPr txBox="1">
            <a:spLocks noGrp="1"/>
          </p:cNvSpPr>
          <p:nvPr>
            <p:ph type="body" idx="1"/>
          </p:nvPr>
        </p:nvSpPr>
        <p:spPr>
          <a:xfrm>
            <a:off x="8252206" y="1326667"/>
            <a:ext cx="15418089" cy="110626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328246" indent="-328246">
              <a:spcBef>
                <a:spcPts val="2500"/>
              </a:spcBef>
              <a:defRPr sz="3200"/>
            </a:pPr>
            <a:r>
              <a:t>Examine the key components of a server rendered web application and incorporate them into a running application.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Use Model View Controller &amp; related patterns in the implementation of a web project.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Relate the request/response lifecycle, routing &amp; session management in the context of a modern application framework.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Model the user requirements and realize the model in a simple database.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Apply best practice principles and patterns to the design and documentation of a web API.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Apply best practice principles and patterns to the design of a medium-sized Single Page Web App.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Develop an end-to-end web app that supports session management and persistence for a constrained functional requirement set.</a:t>
            </a:r>
          </a:p>
        </p:txBody>
      </p:sp>
      <p:pic>
        <p:nvPicPr>
          <p:cNvPr id="634" name="download.png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984" y="11887628"/>
            <a:ext cx="3968384" cy="107726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5" name="download.png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6396" y="10840194"/>
            <a:ext cx="2857501" cy="285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6" name="download.png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0960" y="11017994"/>
            <a:ext cx="3251201" cy="250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7" name="Screenshot 2022-01-03 at 18.04.18.png" descr="Screenshot 2022-01-03 at 18.04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33" y="800498"/>
            <a:ext cx="7365696" cy="12115004"/>
          </a:xfrm>
          <a:prstGeom prst="rect">
            <a:avLst/>
          </a:prstGeom>
          <a:ln w="12700">
            <a:miter lim="400000"/>
          </a:ln>
        </p:spPr>
      </p:pic>
      <p:pic>
        <p:nvPicPr>
          <p:cNvPr id="638" name="topic.png" descr="top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7975" y="11017994"/>
            <a:ext cx="2501901" cy="2501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641" name="Introduce React + Storybook…"/>
          <p:cNvSpPr txBox="1">
            <a:spLocks noGrp="1"/>
          </p:cNvSpPr>
          <p:nvPr>
            <p:ph type="body" idx="1"/>
          </p:nvPr>
        </p:nvSpPr>
        <p:spPr>
          <a:xfrm>
            <a:off x="8022944" y="2225850"/>
            <a:ext cx="15418089" cy="1106266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328246" indent="-328246">
              <a:spcBef>
                <a:spcPts val="2500"/>
              </a:spcBef>
              <a:defRPr sz="3200"/>
            </a:pPr>
            <a:endParaRPr/>
          </a:p>
          <a:p>
            <a:pPr marL="328246" indent="-328246">
              <a:spcBef>
                <a:spcPts val="2500"/>
              </a:spcBef>
              <a:defRPr sz="3200"/>
            </a:pPr>
            <a:r>
              <a:t>Introduce React + Storybook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Explore the React component model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Understand component navigation, lifecycle &amp; routing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Review the react methodology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Select appropriate state management strategies &amp; components</a:t>
            </a:r>
          </a:p>
        </p:txBody>
      </p:sp>
      <p:pic>
        <p:nvPicPr>
          <p:cNvPr id="642" name="Screenshot 2022-01-02 at 14.38.42.png" descr="Screenshot 2022-01-02 at 14.38.42.png"/>
          <p:cNvPicPr>
            <a:picLocks noChangeAspect="1"/>
          </p:cNvPicPr>
          <p:nvPr/>
        </p:nvPicPr>
        <p:blipFill>
          <a:blip r:embed="rId2"/>
          <a:srcRect l="33659" r="33659"/>
          <a:stretch>
            <a:fillRect/>
          </a:stretch>
        </p:blipFill>
        <p:spPr>
          <a:xfrm>
            <a:off x="965415" y="1716431"/>
            <a:ext cx="5863851" cy="99066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3" name="topic.png.jpeg" descr="topic.p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829" y="8961961"/>
            <a:ext cx="2963154" cy="22404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4" name="Component.jpeg" descr="Component.jpeg"/>
          <p:cNvPicPr>
            <a:picLocks noChangeAspect="1"/>
          </p:cNvPicPr>
          <p:nvPr/>
        </p:nvPicPr>
        <p:blipFill>
          <a:blip r:embed="rId4"/>
          <a:srcRect l="12954" t="20970" r="12954" b="26825"/>
          <a:stretch>
            <a:fillRect/>
          </a:stretch>
        </p:blipFill>
        <p:spPr>
          <a:xfrm>
            <a:off x="10766522" y="9388043"/>
            <a:ext cx="3940237" cy="1388149"/>
          </a:xfrm>
          <a:prstGeom prst="rect">
            <a:avLst/>
          </a:prstGeom>
          <a:ln w="12700">
            <a:miter lim="400000"/>
          </a:ln>
        </p:spPr>
      </p:pic>
      <p:pic>
        <p:nvPicPr>
          <p:cNvPr id="645" name="topic.png" descr="top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1626" y="8456577"/>
            <a:ext cx="3251201" cy="325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" name="Unknown.png" descr="Unkn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3976" y="8296790"/>
            <a:ext cx="5606583" cy="31396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816" y="10404699"/>
            <a:ext cx="4260751" cy="2240331"/>
          </a:xfrm>
          <a:prstGeom prst="rect">
            <a:avLst/>
          </a:prstGeom>
          <a:ln w="12700">
            <a:miter lim="400000"/>
          </a:ln>
        </p:spPr>
      </p:pic>
      <p:sp>
        <p:nvSpPr>
          <p:cNvPr id="649" name="Build, configure and manage essential network infrastructure services.…"/>
          <p:cNvSpPr txBox="1">
            <a:spLocks noGrp="1"/>
          </p:cNvSpPr>
          <p:nvPr>
            <p:ph type="body" idx="1"/>
          </p:nvPr>
        </p:nvSpPr>
        <p:spPr>
          <a:xfrm>
            <a:off x="7767911" y="641830"/>
            <a:ext cx="15938531" cy="861845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t>Build, configure and manage essential network infrastructure services.</a:t>
            </a:r>
          </a:p>
          <a:p>
            <a:r>
              <a:t>Build, configure and manage essential application services.</a:t>
            </a:r>
          </a:p>
          <a:p>
            <a:r>
              <a:t>Deploy a network monitoring solution.</a:t>
            </a:r>
          </a:p>
          <a:p>
            <a:r>
              <a:t>Develop scripts to assist in the management and automation of modern network services.</a:t>
            </a:r>
          </a:p>
          <a:p>
            <a:r>
              <a:t>Configure appropriate security mechanisms, including firewall rules, encrypted services, and authentication.</a:t>
            </a:r>
          </a:p>
        </p:txBody>
      </p:sp>
      <p:sp>
        <p:nvSpPr>
          <p:cNvPr id="650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pic>
        <p:nvPicPr>
          <p:cNvPr id="651" name="pasted-image.jpeg" descr="pasted-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034" y="9809194"/>
            <a:ext cx="2510221" cy="30230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pasted-image.jpeg" descr="pasted-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777" y="10259145"/>
            <a:ext cx="3150063" cy="2123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53" name="download.jpg" descr="downlo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80122" y="9526784"/>
            <a:ext cx="2590801" cy="3136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4" name="Screenshot 2022-01-03 at 18.05.54.png" descr="Screenshot 2022-01-03 at 18.05.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23" y="541500"/>
            <a:ext cx="7037988" cy="115759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download.png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913" y="10725068"/>
            <a:ext cx="5170715" cy="2651227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p:sp>
        <p:nvSpPr>
          <p:cNvPr id="658" name="Decompose an application into its constituent parts, including but not limited to: core application components, user experience resources, packaging.…"/>
          <p:cNvSpPr txBox="1">
            <a:spLocks noGrp="1"/>
          </p:cNvSpPr>
          <p:nvPr>
            <p:ph type="body" idx="1"/>
          </p:nvPr>
        </p:nvSpPr>
        <p:spPr>
          <a:xfrm>
            <a:off x="8568551" y="134917"/>
            <a:ext cx="15833589" cy="105771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328246" indent="-328246">
              <a:spcBef>
                <a:spcPts val="2500"/>
              </a:spcBef>
              <a:defRPr sz="3200"/>
            </a:pPr>
            <a:r>
              <a:t>Decompose an application into its constituent parts, including but not limited to: core application components, user experience resources, packaging.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Design a coherent User Experience - using appropriate tools, practices and guidelines - for a moderately sized application.  Produce a medium sized application, based on a limited set of design patterns.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Manage the application lifecycle. Structure persistent storage on a device and reliably save and restore application state.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Select the appropriate design patterns and tools in the development of complex mobile apps.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Comment on the chosen mobile app framework and the underlying hardware components.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Design and develop complex multi-screen mobile apps from concept through to completion using best practices and guidelines.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Set up the interaction of an application with internal sensors and physical subsystems. 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Integrate a remote service API within an application, perhaps based on REST principles, to deliver aspects of its core features set.</a:t>
            </a:r>
          </a:p>
        </p:txBody>
      </p:sp>
      <p:pic>
        <p:nvPicPr>
          <p:cNvPr id="659" name="download.png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64" y="10983384"/>
            <a:ext cx="1818359" cy="21345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download.jpg" descr="downlo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8404" y="10840194"/>
            <a:ext cx="2420975" cy="242097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download.jpg" descr="downlo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0156" y="10621931"/>
            <a:ext cx="2857501" cy="285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Screenshot 2022-01-03 at 18.08.19.png" descr="Screenshot 2022-01-03 at 18.08.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6" y="733423"/>
            <a:ext cx="7145934" cy="117535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sp>
        <p:nvSpPr>
          <p:cNvPr id="665" name="Demonstrate specific security problems that can arise with web applications and how to address them.…"/>
          <p:cNvSpPr txBox="1">
            <a:spLocks noGrp="1"/>
          </p:cNvSpPr>
          <p:nvPr>
            <p:ph type="body" idx="1"/>
          </p:nvPr>
        </p:nvSpPr>
        <p:spPr>
          <a:xfrm>
            <a:off x="8078743" y="2207251"/>
            <a:ext cx="15418089" cy="110626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328246" indent="-328246">
              <a:spcBef>
                <a:spcPts val="2500"/>
              </a:spcBef>
              <a:defRPr sz="3200"/>
            </a:pPr>
            <a:endParaRPr/>
          </a:p>
          <a:p>
            <a:pPr marL="328246" indent="-328246">
              <a:spcBef>
                <a:spcPts val="2500"/>
              </a:spcBef>
              <a:defRPr sz="3200"/>
            </a:pPr>
            <a:r>
              <a:t>Demonstrate specific security problems that can arise with web applications and how to address them.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Compare and contrast alternative approaches to authentication in both enterprise and consumer-oriented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web applications.</a:t>
            </a:r>
          </a:p>
          <a:p>
            <a:pPr marL="328246" indent="-328246">
              <a:spcBef>
                <a:spcPts val="2500"/>
              </a:spcBef>
              <a:defRPr sz="3200"/>
            </a:pPr>
            <a:r>
              <a:t>Use a selection of best security practices in a web application.</a:t>
            </a:r>
          </a:p>
        </p:txBody>
      </p:sp>
      <p:pic>
        <p:nvPicPr>
          <p:cNvPr id="666" name="Screenshot 2022-01-03 at 18.06.43.png" descr="Screenshot 2022-01-03 at 18.06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4" y="595499"/>
            <a:ext cx="7067271" cy="11624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7" name="main.jpg" descr="m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4757" y="9089217"/>
            <a:ext cx="6486809" cy="2878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8" name="main.png" descr="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204" y="9540563"/>
            <a:ext cx="4818008" cy="1975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69" name="owasp-top10.png" descr="owasp-top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8554" y="9911218"/>
            <a:ext cx="3485839" cy="123407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0" name="oauth.png" descr="oau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3355" y="9378905"/>
            <a:ext cx="2286001" cy="2298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Opportunities for Further Stud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Opportunities for Further Study</a:t>
            </a:r>
          </a:p>
        </p:txBody>
      </p:sp>
      <p:sp>
        <p:nvSpPr>
          <p:cNvPr id="673" name="The development team are closely involved in the delivery of two potential follow-on graduate programmes:…"/>
          <p:cNvSpPr txBox="1">
            <a:spLocks noGrp="1"/>
          </p:cNvSpPr>
          <p:nvPr>
            <p:ph type="body" idx="1"/>
          </p:nvPr>
        </p:nvSpPr>
        <p:spPr>
          <a:xfrm>
            <a:off x="743466" y="3268265"/>
            <a:ext cx="19592409" cy="923329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0"/>
              </a:spcBef>
            </a:pPr>
            <a:r>
              <a:rPr dirty="0"/>
              <a:t>The development team are closely involved in the delivery of two potential follow-on graduate </a:t>
            </a:r>
            <a:r>
              <a:rPr dirty="0" err="1"/>
              <a:t>programmes</a:t>
            </a:r>
            <a:r>
              <a:rPr dirty="0"/>
              <a:t>:</a:t>
            </a:r>
          </a:p>
          <a:p>
            <a:pPr lvl="1">
              <a:spcBef>
                <a:spcPts val="4000"/>
              </a:spcBef>
            </a:pPr>
            <a:r>
              <a:rPr dirty="0"/>
              <a:t>MSc in Enterprise Software Systems</a:t>
            </a:r>
          </a:p>
          <a:p>
            <a:pPr>
              <a:spcBef>
                <a:spcPts val="4000"/>
              </a:spcBef>
            </a:pPr>
            <a:r>
              <a:rPr dirty="0"/>
              <a:t>These are mature courses, closely aligned with research at </a:t>
            </a:r>
            <a:r>
              <a:rPr lang="en-IE" dirty="0"/>
              <a:t>the Walton Institute</a:t>
            </a:r>
            <a:r>
              <a:rPr dirty="0"/>
              <a:t>, with substantial enrolments in part-time mode from industry practitioners in the region.</a:t>
            </a:r>
          </a:p>
          <a:p>
            <a:pPr>
              <a:spcBef>
                <a:spcPts val="4000"/>
              </a:spcBef>
            </a:pPr>
            <a:r>
              <a:rPr dirty="0"/>
              <a:t>Successful candidates could continue their academic development in part-time or full-time capacity.</a:t>
            </a:r>
          </a:p>
        </p:txBody>
      </p:sp>
      <p:sp>
        <p:nvSpPr>
          <p:cNvPr id="674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47</a:t>
            </a:fld>
            <a:endParaRPr/>
          </a:p>
        </p:txBody>
      </p:sp>
      <p:pic>
        <p:nvPicPr>
          <p:cNvPr id="675" name="Screen Shot 2013-02-15 at 06.54.30.png" descr="Screen Shot 2013-02-15 at 06.54.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264" y="10608468"/>
            <a:ext cx="5322095" cy="1696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Screen Shot 2013-02-15 at 06.57.19.png" descr="Screen Shot 2013-02-15 at 06.57.19.png"/>
          <p:cNvPicPr>
            <a:picLocks noChangeAspect="1"/>
          </p:cNvPicPr>
          <p:nvPr/>
        </p:nvPicPr>
        <p:blipFill>
          <a:blip r:embed="rId3"/>
          <a:srcRect l="3947" t="19440" b="19448"/>
          <a:stretch>
            <a:fillRect/>
          </a:stretch>
        </p:blipFill>
        <p:spPr>
          <a:xfrm rot="19797191">
            <a:off x="18146246" y="11986556"/>
            <a:ext cx="2149401" cy="323883"/>
          </a:xfrm>
          <a:prstGeom prst="rect">
            <a:avLst/>
          </a:prstGeom>
          <a:ln w="12700">
            <a:miter lim="400000"/>
          </a:ln>
        </p:spPr>
      </p:pic>
      <p:sp>
        <p:nvSpPr>
          <p:cNvPr id="677" name="Rectangle"/>
          <p:cNvSpPr/>
          <p:nvPr/>
        </p:nvSpPr>
        <p:spPr>
          <a:xfrm>
            <a:off x="14210109" y="10751343"/>
            <a:ext cx="6090048" cy="225028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5000">
                <a:latin typeface="+mn-lt"/>
                <a:ea typeface="+mn-ea"/>
                <a:cs typeface="+mn-cs"/>
                <a:sym typeface="Helvetica Neue Light"/>
              </a:defRPr>
            </a:pPr>
            <a:endParaRPr/>
          </a:p>
        </p:txBody>
      </p:sp>
      <p:pic>
        <p:nvPicPr>
          <p:cNvPr id="678" name="Screen Shot 2013-02-15 at 07.00.24.png" descr="Screen Shot 2013-02-15 at 07.00.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040" y="11090671"/>
            <a:ext cx="3091475" cy="158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679" name="Screen Shot 2013-02-15 at 07.01.16.png" descr="Screen Shot 2013-02-15 at 07.01.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5218" y="12126515"/>
            <a:ext cx="3000376" cy="6250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roup"/>
          <p:cNvGrpSpPr/>
          <p:nvPr/>
        </p:nvGrpSpPr>
        <p:grpSpPr>
          <a:xfrm>
            <a:off x="4611973" y="1269801"/>
            <a:ext cx="13831065" cy="12595099"/>
            <a:chOff x="0" y="0"/>
            <a:chExt cx="13831064" cy="12595097"/>
          </a:xfrm>
        </p:grpSpPr>
        <p:pic>
          <p:nvPicPr>
            <p:cNvPr id="681" name="Screenshot 2022-01-04 at 14.25.22.png" descr="Screenshot 2022-01-04 at 14.25.2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06" y="0"/>
              <a:ext cx="13053499" cy="125950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2" name="Rectangle"/>
            <p:cNvSpPr/>
            <p:nvPr/>
          </p:nvSpPr>
          <p:spPr>
            <a:xfrm>
              <a:off x="11948407" y="8987074"/>
              <a:ext cx="1882658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  <p:sp>
          <p:nvSpPr>
            <p:cNvPr id="683" name="Rectangle"/>
            <p:cNvSpPr/>
            <p:nvPr/>
          </p:nvSpPr>
          <p:spPr>
            <a:xfrm>
              <a:off x="0" y="8987074"/>
              <a:ext cx="1882657" cy="21828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5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Light"/>
                </a:defRPr>
              </a:pPr>
              <a:endParaRPr/>
            </a:p>
          </p:txBody>
        </p:sp>
      </p:grpSp>
      <p:sp>
        <p:nvSpPr>
          <p:cNvPr id="685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581630" y="12968678"/>
            <a:ext cx="409779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48</a:t>
            </a:fld>
            <a:endParaRPr/>
          </a:p>
        </p:txBody>
      </p:sp>
      <p:pic>
        <p:nvPicPr>
          <p:cNvPr id="686" name="Screenshot 2023-12-12 at 12.36.35.png" descr="Screenshot 2023-12-12 at 12.36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" y="4237016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Screenshot 2023-12-12 at 12.37.27.png" descr="Screenshot 2023-12-12 at 12.37.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269" y="1595684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8" name="Screenshot 2023-12-12 at 12.37.51.png" descr="Screenshot 2023-12-12 at 12.37.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973" y="64504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9" name="Screenshot 2023-12-12 at 12.38.57.png" descr="Screenshot 2023-12-12 at 12.38.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970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Screenshot 2023-12-12 at 12.41.37.png" descr="Screenshot 2023-12-12 at 12.41.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8787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Screenshot 2023-12-12 at 12.47.50.png" descr="Screenshot 2023-12-12 at 12.47.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770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" name="Screenshot 2023-12-12 at 12.48.17.png" descr="Screenshot 2023-12-12 at 12.48.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9466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" name="Screenshot 2023-12-12 at 12.49.06.png" descr="Screenshot 2023-12-12 at 12.49.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7755" y="5421380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4" name="Screenshot 2023-12-12 at 12.49.27.png" descr="Screenshot 2023-12-12 at 12.49.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94273" y="8191335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" name="Screenshot 2023-12-12 at 12.49.51.png" descr="Screenshot 2023-12-12 at 12.49.5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24818" y="-93869"/>
            <a:ext cx="3619501" cy="566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" name="Screenshot 2023-12-12 at 12.39.53.png" descr="Screenshot 2023-12-12 at 12.39.5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82896" y="433923"/>
            <a:ext cx="3619501" cy="5664201"/>
          </a:xfrm>
          <a:prstGeom prst="rect">
            <a:avLst/>
          </a:prstGeom>
          <a:ln w="12700">
            <a:miter lim="400000"/>
          </a:ln>
        </p:spPr>
      </p:pic>
      <p:sp>
        <p:nvSpPr>
          <p:cNvPr id="699" name="Connection Line"/>
          <p:cNvSpPr/>
          <p:nvPr/>
        </p:nvSpPr>
        <p:spPr>
          <a:xfrm>
            <a:off x="18445843" y="5282106"/>
            <a:ext cx="2078976" cy="1390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187" y="18675"/>
                  <a:pt x="14387" y="11475"/>
                  <a:pt x="21600" y="0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00" name="Connection Line"/>
          <p:cNvSpPr/>
          <p:nvPr/>
        </p:nvSpPr>
        <p:spPr>
          <a:xfrm>
            <a:off x="18541640" y="7051734"/>
            <a:ext cx="2352634" cy="1190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65" extrusionOk="0">
                <a:moveTo>
                  <a:pt x="0" y="127"/>
                </a:moveTo>
                <a:cubicBezTo>
                  <a:pt x="7185" y="-1035"/>
                  <a:pt x="14385" y="5778"/>
                  <a:pt x="21600" y="20565"/>
                </a:cubicBezTo>
              </a:path>
            </a:pathLst>
          </a:cu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l" defTabSz="6429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l" defTabSz="6429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1657</Words>
  <Application>Microsoft Office PowerPoint</Application>
  <PresentationFormat>Custom</PresentationFormat>
  <Paragraphs>226</Paragraphs>
  <Slides>48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Helvetica</vt:lpstr>
      <vt:lpstr>Helvetica Neue</vt:lpstr>
      <vt:lpstr>Helvetica Neue Light</vt:lpstr>
      <vt:lpstr>Lucida Grande</vt:lpstr>
      <vt:lpstr>Monaco</vt:lpstr>
      <vt:lpstr>Slack-Lato</vt:lpstr>
      <vt:lpstr>ModernPortfolio</vt:lpstr>
      <vt:lpstr>Higher Diploma in Science in Computer Science </vt:lpstr>
      <vt:lpstr>PowerPoint Presentation</vt:lpstr>
      <vt:lpstr>Agenda</vt:lpstr>
      <vt:lpstr>1. Context &amp; Objectives</vt:lpstr>
      <vt:lpstr>National Framework of Qualifications / Levels</vt:lpstr>
      <vt:lpstr>Key Programme Features</vt:lpstr>
      <vt:lpstr>Immersion in Computing Knowledge </vt:lpstr>
      <vt:lpstr>Deepening and Specialisation</vt:lpstr>
      <vt:lpstr>Deepening and Specialisation</vt:lpstr>
      <vt:lpstr>Industry experience and professional development</vt:lpstr>
      <vt:lpstr>2. Programme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Semesters &amp;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Calendar, Timetable &amp;  Assessment Sequencing</vt:lpstr>
      <vt:lpstr>PowerPoint Presentation</vt:lpstr>
      <vt:lpstr>Weekly Webinar Schedule</vt:lpstr>
      <vt:lpstr>PowerPoint Presentation</vt:lpstr>
      <vt:lpstr>4. Module Summaries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Opportunities for Further Study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Walsh</cp:lastModifiedBy>
  <cp:revision>2</cp:revision>
  <dcterms:modified xsi:type="dcterms:W3CDTF">2025-01-06T17:11:40Z</dcterms:modified>
</cp:coreProperties>
</file>